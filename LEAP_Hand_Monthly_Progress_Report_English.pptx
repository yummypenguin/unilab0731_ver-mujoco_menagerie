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a4a90a87c54d3c" /><Relationship Type="http://schemas.openxmlformats.org/officeDocument/2006/relationships/extended-properties" Target="/docProps/app.xml" Id="R22485047b11446bb" /><Relationship Type="http://schemas.openxmlformats.org/officeDocument/2006/relationships/officeDocument" Target="/ppt/presentation.xml" Id="Re58bef2d8e6543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fc653b7c534c55"/>
  </p:sldMasterIdLst>
  <p:notesMasterIdLst>
    <p:notesMasterId xmlns:r="http://schemas.openxmlformats.org/officeDocument/2006/relationships" r:id="R1050cea6fee84bb5"/>
  </p:notesMasterIdLst>
  <p:sldIdLst>
    <p:sldId xmlns:r="http://schemas.openxmlformats.org/officeDocument/2006/relationships" id="256" r:id="R24c13140ec254665"/>
    <p:sldId xmlns:r="http://schemas.openxmlformats.org/officeDocument/2006/relationships" id="257" r:id="R9d1ba6e81d0e4f6a"/>
    <p:sldId xmlns:r="http://schemas.openxmlformats.org/officeDocument/2006/relationships" id="258" r:id="R5626ec8665d046bf"/>
    <p:sldId xmlns:r="http://schemas.openxmlformats.org/officeDocument/2006/relationships" id="259" r:id="R89e8f5a3c8984ba9"/>
    <p:sldId xmlns:r="http://schemas.openxmlformats.org/officeDocument/2006/relationships" id="260" r:id="R7bbe106a8f86483b"/>
    <p:sldId xmlns:r="http://schemas.openxmlformats.org/officeDocument/2006/relationships" id="261" r:id="R1dcadd95d15143a0"/>
    <p:sldId xmlns:r="http://schemas.openxmlformats.org/officeDocument/2006/relationships" id="262" r:id="Rfa756923a3a34ee9"/>
    <p:sldId xmlns:r="http://schemas.openxmlformats.org/officeDocument/2006/relationships" id="263" r:id="R2fe8d35cbb4a475c"/>
    <p:sldId xmlns:r="http://schemas.openxmlformats.org/officeDocument/2006/relationships" id="264" r:id="R447466f5341d43a0"/>
    <p:sldId xmlns:r="http://schemas.openxmlformats.org/officeDocument/2006/relationships" id="265" r:id="R06c281cc40e0401a"/>
    <p:sldId xmlns:r="http://schemas.openxmlformats.org/officeDocument/2006/relationships" id="266" r:id="Rf5e0cd24e4a442af"/>
    <p:sldId xmlns:r="http://schemas.openxmlformats.org/officeDocument/2006/relationships" id="267" r:id="Rc05641bbd34842ce"/>
    <p:sldId xmlns:r="http://schemas.openxmlformats.org/officeDocument/2006/relationships" id="268" r:id="Rf1870de77cd04dcc"/>
    <p:sldId xmlns:r="http://schemas.openxmlformats.org/officeDocument/2006/relationships" id="269" r:id="Rbb1b94b5cf204342"/>
    <p:sldId xmlns:r="http://schemas.openxmlformats.org/officeDocument/2006/relationships" id="270" r:id="R22a730ff78514730"/>
    <p:sldId xmlns:r="http://schemas.openxmlformats.org/officeDocument/2006/relationships" id="271" r:id="Re7e584dc3ad64f2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c4a10b982f407f" /><Relationship Type="http://schemas.openxmlformats.org/officeDocument/2006/relationships/slideMaster" Target="/ppt/slideMasters/slideMaster1.xml" Id="R09fc653b7c534c55" /><Relationship Type="http://schemas.openxmlformats.org/officeDocument/2006/relationships/notesMaster" Target="/ppt/notesMasters/notesMaster1.xml" Id="R1050cea6fee84bb5" /><Relationship Type="http://schemas.openxmlformats.org/officeDocument/2006/relationships/presProps" Target="/ppt/presProps.xml" Id="Ra50247926a5c4e6f" /><Relationship Type="http://schemas.openxmlformats.org/officeDocument/2006/relationships/tableStyles" Target="/ppt/tableStyles.xml" Id="R06ba8bbc404c4d53" /><Relationship Type="http://schemas.openxmlformats.org/officeDocument/2006/relationships/slide" Target="/ppt/slides/slide1.xml" Id="R24c13140ec254665" /><Relationship Type="http://schemas.openxmlformats.org/officeDocument/2006/relationships/slide" Target="/ppt/slides/slide2.xml" Id="R9d1ba6e81d0e4f6a" /><Relationship Type="http://schemas.openxmlformats.org/officeDocument/2006/relationships/slide" Target="/ppt/slides/slide3.xml" Id="R5626ec8665d046bf" /><Relationship Type="http://schemas.openxmlformats.org/officeDocument/2006/relationships/slide" Target="/ppt/slides/slide4.xml" Id="R89e8f5a3c8984ba9" /><Relationship Type="http://schemas.openxmlformats.org/officeDocument/2006/relationships/slide" Target="/ppt/slides/slide5.xml" Id="R7bbe106a8f86483b" /><Relationship Type="http://schemas.openxmlformats.org/officeDocument/2006/relationships/slide" Target="/ppt/slides/slide6.xml" Id="R1dcadd95d15143a0" /><Relationship Type="http://schemas.openxmlformats.org/officeDocument/2006/relationships/slide" Target="/ppt/slides/slide7.xml" Id="Rfa756923a3a34ee9" /><Relationship Type="http://schemas.openxmlformats.org/officeDocument/2006/relationships/slide" Target="/ppt/slides/slide8.xml" Id="R2fe8d35cbb4a475c" /><Relationship Type="http://schemas.openxmlformats.org/officeDocument/2006/relationships/slide" Target="/ppt/slides/slide9.xml" Id="R447466f5341d43a0" /><Relationship Type="http://schemas.openxmlformats.org/officeDocument/2006/relationships/slide" Target="/ppt/slides/slide10.xml" Id="R06c281cc40e0401a" /><Relationship Type="http://schemas.openxmlformats.org/officeDocument/2006/relationships/slide" Target="/ppt/slides/slide11.xml" Id="Rf5e0cd24e4a442af" /><Relationship Type="http://schemas.openxmlformats.org/officeDocument/2006/relationships/slide" Target="/ppt/slides/slide12.xml" Id="Rc05641bbd34842ce" /><Relationship Type="http://schemas.openxmlformats.org/officeDocument/2006/relationships/slide" Target="/ppt/slides/slide13.xml" Id="Rf1870de77cd04dcc" /><Relationship Type="http://schemas.openxmlformats.org/officeDocument/2006/relationships/slide" Target="/ppt/slides/slide14.xml" Id="Rbb1b94b5cf204342" /><Relationship Type="http://schemas.openxmlformats.org/officeDocument/2006/relationships/slide" Target="/ppt/slides/slide15.xml" Id="R22a730ff78514730" /><Relationship Type="http://schemas.openxmlformats.org/officeDocument/2006/relationships/slide" Target="/ppt/slides/slide16.xml" Id="Re7e584dc3ad64f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b72a4afd0749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1af99600504e8d" /><Relationship Type="http://schemas.openxmlformats.org/officeDocument/2006/relationships/notesMaster" Target="/ppt/notesMasters/notesMaster1.xml" Id="Ra3da87a12d6047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7a50e2c33b46ee" /><Relationship Type="http://schemas.openxmlformats.org/officeDocument/2006/relationships/notesMaster" Target="/ppt/notesMasters/notesMaster1.xml" Id="R2a830b77f0a342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6440cd078f4f1f" /><Relationship Type="http://schemas.openxmlformats.org/officeDocument/2006/relationships/notesMaster" Target="/ppt/notesMasters/notesMaster1.xml" Id="R08b73ef5ab2d45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7c37afeac94418" /><Relationship Type="http://schemas.openxmlformats.org/officeDocument/2006/relationships/notesMaster" Target="/ppt/notesMasters/notesMaster1.xml" Id="Rcfb80239a09d43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48272059ff417c" /><Relationship Type="http://schemas.openxmlformats.org/officeDocument/2006/relationships/notesMaster" Target="/ppt/notesMasters/notesMaster1.xml" Id="Rfcbdf5dfe66d4e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4a9e9efbdf4473" /><Relationship Type="http://schemas.openxmlformats.org/officeDocument/2006/relationships/notesMaster" Target="/ppt/notesMasters/notesMaster1.xml" Id="R2c8ac5498d8b44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420cbeccaa41d9" /><Relationship Type="http://schemas.openxmlformats.org/officeDocument/2006/relationships/notesMaster" Target="/ppt/notesMasters/notesMaster1.xml" Id="R1e8186df17004e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3e6f71bd3d4d21" /><Relationship Type="http://schemas.openxmlformats.org/officeDocument/2006/relationships/notesMaster" Target="/ppt/notesMasters/notesMaster1.xml" Id="Rd1af6b96fd064c2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77e12e46b744ff" /><Relationship Type="http://schemas.openxmlformats.org/officeDocument/2006/relationships/notesMaster" Target="/ppt/notesMasters/notesMaster1.xml" Id="R6159f19f9125490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5c575597c854857" /><Relationship Type="http://schemas.openxmlformats.org/officeDocument/2006/relationships/notesMaster" Target="/ppt/notesMasters/notesMaster1.xml" Id="Rfd31ddfb2e984cd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3b925d87e8f4653" /><Relationship Type="http://schemas.openxmlformats.org/officeDocument/2006/relationships/notesMaster" Target="/ppt/notesMasters/notesMaster1.xml" Id="R7c4f50ff359347f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36d260bed0a4408" /><Relationship Type="http://schemas.openxmlformats.org/officeDocument/2006/relationships/notesMaster" Target="/ppt/notesMasters/notesMaster1.xml" Id="R7af460d5074a4ab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d8ddc9c778e474b" /><Relationship Type="http://schemas.openxmlformats.org/officeDocument/2006/relationships/notesMaster" Target="/ppt/notesMasters/notesMaster1.xml" Id="Re94fae12718e467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bd7936c78704093" /><Relationship Type="http://schemas.openxmlformats.org/officeDocument/2006/relationships/notesMaster" Target="/ppt/notesMasters/notesMaster1.xml" Id="R7092ffe0ef964d3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229607e2a344cce" /><Relationship Type="http://schemas.openxmlformats.org/officeDocument/2006/relationships/notesMaster" Target="/ppt/notesMasters/notesMaster1.xml" Id="R7a9a112f92934ed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1caae6b7adc4a7a" /><Relationship Type="http://schemas.openxmlformats.org/officeDocument/2006/relationships/notesMaster" Target="/ppt/notesMasters/notesMaster1.xml" Id="Raec070c17b8341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report reconstructs progress from saved code, configurations, run metadata, TensorBoard diagnostics, and native-viewer inspection.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D:/UniLab/DEVELOPMENT_LOG.md</a:t>
            </a:r>
          </a:p>
          <a:p xmlns:a="http://schemas.openxmlformats.org/drawingml/2006/main">
            <a:r>
              <a:t>- D:/UniLab/logs/rsl_rl_ppo/*/run_config.json</a:t>
            </a:r>
          </a:p>
          <a:p xmlns:a="http://schemas.openxmlformats.org/drawingml/2006/main">
            <a:r>
              <a:t>- D:/UniLab/logs/rsl_rl_ppo/*/run_summary.json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emphasis is a reliable experimental foundation and traceable evidence, not the highest aggregate reward.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D:/UniLab/AGENTS.md</a:t>
            </a:r>
          </a:p>
          <a:p xmlns:a="http://schemas.openxmlformats.org/drawingml/2006/main">
            <a:r>
              <a:t>- D:/UniLab/DEVELOPMENT_LOG.md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D:/UniLab/DEVELOPMENT_LOG.md</a:t>
            </a:r>
          </a:p>
          <a:p xmlns:a="http://schemas.openxmlformats.org/drawingml/2006/main">
            <a:r>
              <a:t>- D:/UniLab/AGENTS.md#Dexterous-Manipulation-Training-Guidance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D:/UniLab/conf/ppo/task/leap_inhand_ball_*/mujoco.yaml</a:t>
            </a:r>
          </a:p>
          <a:p xmlns:a="http://schemas.openxmlformats.org/drawingml/2006/main">
            <a:r>
              <a:t>- D:/UniLab/conf/ppo/task/leap_inhand_ball_*/motrix.yaml</a:t>
            </a:r>
          </a:p>
          <a:p xmlns:a="http://schemas.openxmlformats.org/drawingml/2006/main">
            <a:r>
              <a:t>- D:/UniLab/DEVELOPMENT_LOG.md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D:/UniLab/src/unilab/envs/manipulation/leap_inhand/ball_grasp_gen.py</a:t>
            </a:r>
          </a:p>
          <a:p xmlns:a="http://schemas.openxmlformats.org/drawingml/2006/main">
            <a:r>
              <a:t>- D:/UniLab/src/unilab/envs/manipulation/allegro_inhand/grasp_gen.py</a:t>
            </a:r>
          </a:p>
          <a:p xmlns:a="http://schemas.openxmlformats.org/drawingml/2006/main">
            <a:r>
              <a:t>- D:/UniLab/conf/ppo/task/leap_inhand_ball_grasp/mujoco.yaml</a:t>
            </a:r>
          </a:p>
          <a:p xmlns:a="http://schemas.openxmlformats.org/drawingml/2006/main">
            <a:r>
              <a:t>- D:/UniLab/src/unilab/assets/robots/leap_hand/caches/ball_grasp_official_50k.npy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C:/Users/timli/Downloads/ChatGPT Image 2026年7月28日 下午05_27_48.png</a:t>
            </a:r>
          </a:p>
          <a:p xmlns:a="http://schemas.openxmlformats.org/drawingml/2006/main">
            <a:r>
              <a:t>- D:/UniLab/src/unilab/envs/manipulation/leap_inhand/sustained_cache_rotation.py</a:t>
            </a:r>
          </a:p>
          <a:p xmlns:a="http://schemas.openxmlformats.org/drawingml/2006/main">
            <a:r>
              <a:t>- D:/UniLab/src/unilab/envs/manipulation/leap_inhand/finger_gaiting_rotation.py</a:t>
            </a:r>
          </a:p>
          <a:p xmlns:a="http://schemas.openxmlformats.org/drawingml/2006/main">
            <a:r>
              <a:t>- D:/UniLab/src/unilab/envs/manipulation/leap_inhand/direct_rotation.py</a:t>
            </a:r>
          </a:p>
          <a:p xmlns:a="http://schemas.openxmlformats.org/drawingml/2006/main">
            <a:r>
              <a:t>- D:/UniLab/src/unilab/envs/manipulation/leap_inhand/sustained_cache_gaiting_rotation.py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D:/UniLab/logs/rsl_rl_ppo/LeapInhandBallSustainedCacheRotation/*/run_config.json</a:t>
            </a:r>
          </a:p>
          <a:p xmlns:a="http://schemas.openxmlformats.org/drawingml/2006/main">
            <a:r>
              <a:t>- D:/UniLab/DEVELOPMENT_LOG.md:2244</a:t>
            </a:r>
          </a:p>
          <a:p xmlns:a="http://schemas.openxmlformats.org/drawingml/2006/main">
            <a:r>
              <a:t>- D:/UniLab/DEVELOPMENT_LOG.md:2297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D:/UniLab/logs/rsl_rl_ppo/LeapInhandBallSustainedCacheRotation/*/run_config.json</a:t>
            </a:r>
          </a:p>
          <a:p xmlns:a="http://schemas.openxmlformats.org/drawingml/2006/main">
            <a:r>
              <a:t>- D:/UniLab/conf/ppo/task/leap_inhand_ball_sustained_cache/mujoco.yaml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D:/UniLab/logs/rsl_rl_ppo/LeapInhandBallSustainedCacheRotation/2026-07-21_18-22-39_mujoco/events.out.tfevents.1784683360.沅霆.15996.0</a:t>
            </a:r>
          </a:p>
          <a:p xmlns:a="http://schemas.openxmlformats.org/drawingml/2006/main">
            <a:r>
              <a:t>- D:/UniLab/logs/rsl_rl_ppo/LeapInhandBallSustainedCacheRotation/2026-07-21_22-58-39_mujoco/events.out.tfevents.1784699921.沅霆.13112.0</a:t>
            </a:r>
          </a:p>
          <a:p xmlns:a="http://schemas.openxmlformats.org/drawingml/2006/main">
            <a:r>
              <a:t>- D:/UniLab/DEVELOPMENT_LOG.md:2297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D:/UniLab/src/unilab/envs/manipulation/leap_inhand/finger_gaiting_rotation.py</a:t>
            </a:r>
          </a:p>
          <a:p xmlns:a="http://schemas.openxmlformats.org/drawingml/2006/main">
            <a:r>
              <a:t>- D:/UniLab/conf/ppo/task/leap_inhand_ball_finger_gaiting/mujoco.yaml</a:t>
            </a:r>
          </a:p>
          <a:p xmlns:a="http://schemas.openxmlformats.org/drawingml/2006/main">
            <a:r>
              <a:t>- D:/UniLab/DEVELOPMENT_LOG.md:2385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D:/UniLab/logs/rsl_rl_ppo/LeapInhandBallFingerGaitingRotation/2026-07-22_15-47-22_mujoco/run_config.json</a:t>
            </a:r>
          </a:p>
          <a:p xmlns:a="http://schemas.openxmlformats.org/drawingml/2006/main">
            <a:r>
              <a:t>- D:/UniLab/logs/rsl_rl_ppo/LeapInhandBallFingerGaitingRotation/2026-07-22_15-47-22_mujoco/run_summary.json</a:t>
            </a:r>
          </a:p>
          <a:p xmlns:a="http://schemas.openxmlformats.org/drawingml/2006/main">
            <a:r>
              <a:t>- D:/UniLab/DEVELOPMENT_LOG.md:2624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D:/UniLab/conf/ppo/task/leap_inhand_ball_direct/mujoco.yaml</a:t>
            </a:r>
          </a:p>
          <a:p xmlns:a="http://schemas.openxmlformats.org/drawingml/2006/main">
            <a:r>
              <a:t>- D:/UniLab/src/unilab/envs/manipulation/leap_inhand/direct_rotation.py</a:t>
            </a:r>
          </a:p>
          <a:p xmlns:a="http://schemas.openxmlformats.org/drawingml/2006/main">
            <a:r>
              <a:t>- D:/UniLab/DEVELOPMENT_LOG.md:2620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D:/UniLab/logs/rsl_rl_ppo/LeapInhandBallDirectRotation/2026-07-22_21-27-39_mujoco/events.out.tfevents.1784780863.沅霆.41532.0</a:t>
            </a:r>
          </a:p>
          <a:p xmlns:a="http://schemas.openxmlformats.org/drawingml/2006/main">
            <a:r>
              <a:t>- D:/UniLab/logs/rsl_rl_ppo/LeapInhandBallDirectRotation/2026-07-22_21-27-39_mujoco/run_config.json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D:/UniLab/conf/ppo/task/leap_inhand_ball_cache_gaiting/mujoco.yaml</a:t>
            </a:r>
          </a:p>
          <a:p xmlns:a="http://schemas.openxmlformats.org/drawingml/2006/main">
            <a:r>
              <a:t>- D:/UniLab/logs/rsl_rl_ppo/LeapInhandBallCacheGaitingRotation/2026-07-27_12-26-57_mujoco/events.out.tfevents.1785180421.沅霆.36252.0</a:t>
            </a:r>
          </a:p>
          <a:p xmlns:a="http://schemas.openxmlformats.org/drawingml/2006/main">
            <a:r>
              <a:t>- D:/UniLab/logs/rsl_rl_ppo/LeapInhandBallCacheGaitingRotation/2026-07-27_12-26-57_mujoco/run_config.json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D:/UniLab/logs/rsl_rl_ppo/LeapInhandBallCacheRotation/*/run_config.json</a:t>
            </a:r>
          </a:p>
          <a:p xmlns:a="http://schemas.openxmlformats.org/drawingml/2006/main">
            <a:r>
              <a:t>- D:/UniLab/logs/rsl_rl_ppo/LeapInhandBallSustainedCacheRotation/*/run_config.json</a:t>
            </a:r>
          </a:p>
          <a:p xmlns:a="http://schemas.openxmlformats.org/drawingml/2006/main">
            <a:r>
              <a:t>- D:/UniLab/logs/rsl_rl_ppo/LeapInhandBallFingerGaitingRotation/*/run_config.json</a:t>
            </a:r>
          </a:p>
          <a:p xmlns:a="http://schemas.openxmlformats.org/drawingml/2006/main">
            <a:r>
              <a:t>- D:/UniLab/logs/rsl_rl_ppo/LeapInhandBallDirectRotation/*/run_config.json</a:t>
            </a:r>
          </a:p>
          <a:p xmlns:a="http://schemas.openxmlformats.org/drawingml/2006/main">
            <a:r>
              <a:t>- D:/UniLab/logs/rsl_rl_ppo/LeapInhandBallCacheGaitingRotation/*/run_config.json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Maintain a conservative conclusion: the bottleneck is localized, but sustained Cache Gaiting is not yet solved.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D:/UniLab/AGENTS.md#Dexterous-Manipulation-Training-Guidance</a:t>
            </a:r>
          </a:p>
          <a:p xmlns:a="http://schemas.openxmlformats.org/drawingml/2006/main">
            <a:r>
              <a:t>- D:/UniLab/DEVELOPMENT_LOG.md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e619ec074a42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03834f7fdb47e2" /><Relationship Type="http://schemas.openxmlformats.org/officeDocument/2006/relationships/slideLayout" Target="/ppt/slideLayouts/slideLayout1.xml" Id="R09abdd94316447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abdd94316447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d4aea86224441" /><Relationship Type="http://schemas.openxmlformats.org/officeDocument/2006/relationships/notesSlide" Target="/ppt/notesSlides/notesSlide1.xml" Id="R315a1e336c3748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4c9d8876a4e47" /><Relationship Type="http://schemas.openxmlformats.org/officeDocument/2006/relationships/notesSlide" Target="/ppt/notesSlides/notesSlide2.xml" Id="R58dec43d56e243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6556d7938248bf" /><Relationship Type="http://schemas.openxmlformats.org/officeDocument/2006/relationships/notesSlide" Target="/ppt/notesSlides/notesSlide3.xml" Id="Rae56b25b2b2042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e69d5e3ef14d72" /><Relationship Type="http://schemas.openxmlformats.org/officeDocument/2006/relationships/notesSlide" Target="/ppt/notesSlides/notesSlide4.xml" Id="R1d30a44f782948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8cb2d78eb439a" /><Relationship Type="http://schemas.openxmlformats.org/officeDocument/2006/relationships/notesSlide" Target="/ppt/notesSlides/notesSlide5.xml" Id="R77a351bcae264b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342daff914148" /><Relationship Type="http://schemas.openxmlformats.org/officeDocument/2006/relationships/image" Target="/ppt/media/image.png" Id="R3b86fa3947ab482f" /><Relationship Type="http://schemas.openxmlformats.org/officeDocument/2006/relationships/notesSlide" Target="/ppt/notesSlides/notesSlide6.xml" Id="Rd4a63eabb19a45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eeb02f83d44c0e" /><Relationship Type="http://schemas.openxmlformats.org/officeDocument/2006/relationships/notesSlide" Target="/ppt/notesSlides/notesSlide7.xml" Id="Ref6748e8f32b4c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b670fc1ab4390" /><Relationship Type="http://schemas.openxmlformats.org/officeDocument/2006/relationships/notesSlide" Target="/ppt/notesSlides/notesSlide8.xml" Id="Rd9c8f9d73a5c46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0ead8e38e84e37" /><Relationship Type="http://schemas.openxmlformats.org/officeDocument/2006/relationships/notesSlide" Target="/ppt/notesSlides/notesSlide9.xml" Id="R64f4582cd1534a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9389052284bfd" /><Relationship Type="http://schemas.openxmlformats.org/officeDocument/2006/relationships/notesSlide" Target="/ppt/notesSlides/notesSlide10.xml" Id="R951acd840ef146b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30e33f2c1d4ce6" /><Relationship Type="http://schemas.openxmlformats.org/officeDocument/2006/relationships/notesSlide" Target="/ppt/notesSlides/notesSlide11.xml" Id="Ra253de36bb284a3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156b8dcb44c10" /><Relationship Type="http://schemas.openxmlformats.org/officeDocument/2006/relationships/notesSlide" Target="/ppt/notesSlides/notesSlide12.xml" Id="R82b6311026a7472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8b95bf80f4877" /><Relationship Type="http://schemas.openxmlformats.org/officeDocument/2006/relationships/notesSlide" Target="/ppt/notesSlides/notesSlide13.xml" Id="Rd00d8f0a5c0f416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a5291a62b419c" /><Relationship Type="http://schemas.openxmlformats.org/officeDocument/2006/relationships/notesSlide" Target="/ppt/notesSlides/notesSlide14.xml" Id="R75f48ae96ee74e6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c270ea27f4253" /><Relationship Type="http://schemas.openxmlformats.org/officeDocument/2006/relationships/notesSlide" Target="/ppt/notesSlides/notesSlide15.xml" Id="R3e062e33fe164e6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cc1a68d61c493d" /><Relationship Type="http://schemas.openxmlformats.org/officeDocument/2006/relationships/notesSlide" Target="/ppt/notesSlides/notesSlide16.xml" Id="Rd0bc2f8c4c8545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DD6AA4-BFD3-43FF-903A-72F5C590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UNILAB · DEXTEROUS MANIPULATION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F1A6FA-AB4B-48FB-AF36-BDED901F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8477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LEAP Hand Dexterous Manipulation</a:t>
            </a:r>
          </a:p>
          <a:p xmlns:a="http://schemas.openxmlformats.org/drawingml/2006/main">
            <a:pPr algn="l">
              <a:defRPr sz="4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One-Month Research Progress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75AC6C-25D0-4DD4-9545-27B3E4C5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An evidence chain from model integration and ball caches to sustained rotation and finger gaiting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0CAC7-AE75-419D-8F16-634FE7B7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19250"/>
            <a:ext cx="1714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587DB-09B1-4AFF-A1A4-A3230C87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924050"/>
            <a:ext cx="1381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55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B73734-A636-4401-8435-9968077E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009900"/>
            <a:ext cx="1381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cache tasks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13 reward versions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DFA3C0-9D27-422B-B48B-ADB57000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007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Reporting period: July 13–28, 2026</a:t>
            </a:r>
          </a:p>
        </p:txBody>
      </p:sp>
    </p:spTree>
    <p:extLst>
      <p:ext uri="{BB962C8B-B14F-4D97-AF65-F5344CB8AC3E}">
        <p14:creationId xmlns:p14="http://schemas.microsoft.com/office/powerpoint/2010/main" val="136624721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BFB7EA-7072-4244-A1AF-015493E4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CE9012-D0EA-4A86-91A7-997DC399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From Trainable Environments to Diagnosable Experiments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14BD0A-93E4-44F0-B901-8E99F9DB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246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C54C62-B5DC-4B0C-92E8-C8907A78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3143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CAD647-4F76-4652-A74E-DFA36274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2C6F52-8FEB-4753-A0BA-C3D55DB6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MuJoCo / Motrix backend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ACA21A-BE9E-41DF-AB82-6EADB8DC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0"/>
            <a:ext cx="3143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E0EE05-F4AB-4B3C-AE00-C05F46F0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50k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ABEB91-C5D3-4D02-B3E0-12F1F961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003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LEAP-specific ball grasp states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EC3FDE-6DDF-4BDE-BDCE-01CC0819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619250"/>
            <a:ext cx="3143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203D25-C0CD-404C-B277-8EE1B632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8097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1B8318-3BED-4029-B03F-514D642E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003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independently comparable cache tasks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1B0EA8-5847-46E6-97D1-3EDAC5F7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F281F0-FA26-4789-AC95-D6D418DD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956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Core Deliverables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7E0871-1F3B-4D2A-9925-3143FD0B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Model and Physics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DCC872-F36F-4FC9-BEC7-12CC98CB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Imported LEAP assets, dedicated ball/cube scenes, self-collision, and adjacent-link contact filtering.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B98906-D541-4DF3-A3E6-97BF998C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00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Reset Distribution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C8A811-BC3E-4695-93A4-836512A8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005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Identified the cube-cache mismatch, built a 50k ball-specific cache, and stored a per-reset anchor.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4F5650-C8B7-43F5-817D-65290A6D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00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Research Method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FAEA62-E1EB-4D2B-9E3D-B8C05273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0055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Used checkpoints, task diagnostics, the MuJoCo viewer, and RunIds for controlled reward and curriculum analysis.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61E5AE-3244-42AC-AC4F-1626BA7B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766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Sustained rotation is not yet claimed as solved; the ordering of acquisition, retention, and handoff is now measurable.</a:t>
            </a:r>
          </a:p>
        </p:txBody>
      </p:sp>
    </p:spTree>
    <p:extLst>
      <p:ext uri="{BB962C8B-B14F-4D97-AF65-F5344CB8AC3E}">
        <p14:creationId xmlns:p14="http://schemas.microsoft.com/office/powerpoint/2010/main" val="113445471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642FA5-DFB0-4AE1-B007-EEE08D55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74499-694B-4F1D-83A4-46C0E7FC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Platform First, Then the Sustained-Rotation Bottleneck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9B5DB3-79BD-426E-BD18-824EF212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246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781050" y="2781300"/>
            <a:ext cx="10382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1D5DB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B6B211-F809-41C1-9A10-2359751D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552CDA-052A-4572-9655-BA3D6DA0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7/13–14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13B1BD-DC2D-477B-BB91-CA55719D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Environment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C6C5C9-8848-47D2-A06B-44A26E03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67100"/>
            <a:ext cx="180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07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Windows 11 setup, MuJoCo smoke tests, Motrix training, and diagnosis of wgpu OOM recording failures.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26560A-3DD9-4AB7-AC12-EAF49B5D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24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D79461-14FD-4A01-A68E-38EFB305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3050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7/14–17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83F98C-F6E2-400E-818D-AF91A1FD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95275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LEAP Integration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8C2179-E630-430E-91F5-4D37F93C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467100"/>
            <a:ext cx="180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Imported the hand and dedicated ball/cube assets; added in-hand rotation and toss tasks.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06FF40-473E-4329-A5B7-65CD3E9A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24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680461-9102-4187-A2E6-70D3F09F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050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7/17–21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966C96-1248-4225-9EBA-3D22A088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5275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Physics and Cache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625C6A-2FB0-4AE8-BFD8-2E6255B2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67100"/>
            <a:ext cx="180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Corrected penetration and self-collision behavior; produced the ball-specific 50k reset cache.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0B3E14-FEA7-4398-8105-28C07642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724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CDB706-659C-476E-A62C-C3CDBE31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3050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7/21–23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118C5C-EF81-4A40-A4DF-2C672767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95275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Sustained Spin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A3D63A-E19C-431B-8A4B-1E3BCA64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467100"/>
            <a:ext cx="180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Created sustained, retention, gaiting, and direct-rotation diagnostic branches.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D39626-AE05-42E0-844A-70679DC1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24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29D990-DB37-4698-BD4A-B1153F93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050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7/25–28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C361EA-B5AD-4843-8596-DB8D71F7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5275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Simplification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08DE03-21F5-4479-AEC6-3F41EA65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467100"/>
            <a:ext cx="180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Removed ineffective shaping and converged on the V3-A / V3-B cache-gaiting direction.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F8BEB7-3709-44F1-9984-27985959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626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99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Experimental policy: integration smoke test → short diagnostic run → long training only after the direction is supported.</a:t>
            </a:r>
          </a:p>
        </p:txBody>
      </p:sp>
    </p:spTree>
    <p:extLst>
      <p:ext uri="{BB962C8B-B14F-4D97-AF65-F5344CB8AC3E}">
        <p14:creationId xmlns:p14="http://schemas.microsoft.com/office/powerpoint/2010/main" val="629256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416019-749A-40BB-B029-8CFFBEC9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52B2FF-688F-419D-AE67-3A0D36D0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Both Backends Train; Rendering Reliability Differs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B7F48D-2700-4FC8-A70D-032696CC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246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50ED1B-1F38-4497-B1AF-74D031D2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49530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4F3556-9859-4527-9DD8-326AD52B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MuJoCo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75B0C-7AF8-47A3-B4C0-B5CFDE88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4095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PPO smoke and formal training run successfully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Native viewer supports checkpoint inspection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Strong XML, contact, and penetration diagnostics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Primary backend for current research decisions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51940-EEF0-4A3D-8B2E-69D9E370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524000"/>
            <a:ext cx="49530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AC5AAB-F174-4EBA-8DEF-F30E2CB4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Motrix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63FC4E-5978-4D44-B1AE-530F8A3B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76500"/>
            <a:ext cx="4095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Training and interactive playback run successfully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Intel Arc recording triggered wgpu out-of-memory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Vulkan and DX12 both closed the render channel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Retained for backend-contract and performance checks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C1F8B4-76C2-44A0-9DA6-C5797394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388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Decision: use the native MuJoCo viewer for behavioral evidence; do not treat Motrix recording failures as training or physics failures.</a:t>
            </a:r>
          </a:p>
        </p:txBody>
      </p:sp>
    </p:spTree>
    <p:extLst>
      <p:ext uri="{BB962C8B-B14F-4D97-AF65-F5344CB8AC3E}">
        <p14:creationId xmlns:p14="http://schemas.microsoft.com/office/powerpoint/2010/main" val="187643862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14453E-7496-4A4B-BDD3-1A4AD0BA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A49A0-8688-4C83-A0A3-8038A765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How the Production 50k Ball Cache Is Collected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79B72B-BD58-4AD3-994B-75CEC060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246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819E61-F405-472C-ADE7-8CF8B594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590550" cy="800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000082-B4FA-4041-A920-E7AC949A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71ADB1-2947-4043-B202-C965093D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428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Validated seed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9159A3-E8D9-4CCF-B042-E7507793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716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Start from grasp_seed_qpos: a ball-owned state refined through penetration coordinate scans and full settling checks. Cube and toss caches are never read.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2076E3-3A57-4E8A-81CE-3F102674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14600"/>
            <a:ext cx="590550" cy="800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017F43-6951-4988-A1C6-A41AF3ED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D6E5A1-13A3-4F46-8008-82DC4942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33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Reset proposals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F1CBDE-1DC3-4D80-9C47-2C9C4B17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765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The current owner samples every hand joint within ±0.10 rad, clips to LEAP joint limits, keeps ball-position noise at zero, and initializes zero velocity.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824B63-141E-4D2C-9B7B-91FC45D6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0"/>
            <a:ext cx="590550" cy="800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0A3727-7CF2-43CC-A269-001194C4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455871-53E9-4B6D-8415-FD1915B0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38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Zero-action hold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74D95A-79EA-4998-8D17-8CB0E79A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814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apply_action() discards policy output. PD control holds each sampled reset target for a 2.5 s episode; strict validation begins after the 0.5 s warm-up.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055487-DF2F-4C96-8D4B-0922EEC8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24400"/>
            <a:ext cx="590550" cy="800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BD764E-B0D1-459A-BF3D-673487FA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33950"/>
            <a:ext cx="59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B0A824-0976-4B20-BE9F-B350F250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43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Save only survivors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97E229-7B9B-4F2C-BD28-48860E40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863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Only non-terminated truncations are serialized to float32, reconstructed in MuJoCo, rechecked, deduplicated, and atomically published until 50,000 rows are reached.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85FEBA-8D4C-4E13-B88F-25DE72DF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09700"/>
            <a:ext cx="3333750" cy="41910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3C9EAB-FA8B-4D26-887B-11B6E908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7640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Production acceptance contract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CDD1A5-3096-416F-94DA-5BD15249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62200"/>
            <a:ext cx="28003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During the episode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finite state and valid joint limits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object remains above reset height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anchor drift ≤ 5 mm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all tips within 0.10 m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at least two contacts, including thumb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bounded ball/joint speed and work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After float32 reconstruction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contact gate repeated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every tip surface gap ≤ 9.95 mm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self and object penetration ≤ 1 mm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D892D5-CB79-4ED7-8440-C1B8C45E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531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Row format: 16 hand qpos + 3 ball position + 4 quaternion = 23 float32 values</a:t>
            </a:r>
          </a:p>
        </p:txBody>
      </p:sp>
    </p:spTree>
    <p:extLst>
      <p:ext uri="{BB962C8B-B14F-4D97-AF65-F5344CB8AC3E}">
        <p14:creationId xmlns:p14="http://schemas.microsoft.com/office/powerpoint/2010/main" val="202880106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CDFAE4-AA0A-4FB6-9297-6FAEB27C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8D7ED0-5DD3-4984-9957-BD5A5620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Why the Cache-Rotation Task Branched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9CB41-4751-416A-BBE5-B65C468F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246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86fa3947ab482f"/>
          <a:stretch xmlns:a="http://schemas.openxmlformats.org/drawingml/2006/main"/>
        </p:blipFill>
        <p:spPr>
          <a:xfrm xmlns:a="http://schemas.openxmlformats.org/drawingml/2006/main">
            <a:off x="514350" y="1356726"/>
            <a:ext cx="7905750" cy="444934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4651BD-BCE5-47C9-BA3B-79B1C204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28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How to read the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897B41-662B-48F6-8D1A-1D06CF77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62150"/>
            <a:ext cx="285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  Sustained Cache is the common multi-grasp rotation problem.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  Finger Gaiting tests whether the first spin stalls because the hand cannot change contacts.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  V3-A removes complex shaping and returns to an Allegro-style rotation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  Direct Rotation is supporting evidence: positive rotation can be acquired without a handoff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5  Cache Gaiting V3-B recombines the simplified rotation base with constrained handoff.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145E1D-63CC-44A3-864F-AA13C535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314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3FA1DB-2B02-4938-9976-36099BA7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6769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The branches are controlled diagnostic experiments, not a linear sequence of task replacements.</a:t>
            </a:r>
          </a:p>
        </p:txBody>
      </p:sp>
    </p:spTree>
    <p:extLst>
      <p:ext uri="{BB962C8B-B14F-4D97-AF65-F5344CB8AC3E}">
        <p14:creationId xmlns:p14="http://schemas.microsoft.com/office/powerpoint/2010/main" val="91888262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3F2966-D733-44CF-9D61-E2A86774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59B4CB-2044-4AF5-BB38-48C7864C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Sustained Cache S1–S6: From Curriculum to Fixed Speed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BD07A7-8821-4BE0-BCF4-90DAEADB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246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A18A8E-398F-4E4D-9A91-A54C44BD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2C0C0E-0F33-411A-8E83-0E109AE4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E0B676-6EB5-4000-ABDB-216D51CC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29540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spin +1.5；retention +0.5；support +0.25；action -0.001；torque -0.005；work -0.05；failure -5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074002-EEC1-46AE-A032-0F7E7F57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343025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2026-07-21_17-50-30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E7906C-B8FA-4BA9-96F6-E91EABE7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87FBA7-ED59-4B37-8A53-F854FA2A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2882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341EF7-166B-4C97-9126-623964CF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94310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+ anchor_proximity 0.1 to pull the 15–30 mm grey zone back toward the cache anchor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F24A5B-18C3-479D-A920-715389F6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90725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2026-07-21_22-47-15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DF265C-2A2E-45E4-B081-4506C43B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52700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D422C2-FEF6-4AE7-B96E-EE603709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7652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FA5E58-4F3F-4003-B2AC-19516EEC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59080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Level-dependent positive-spin retention floor: L0–2=0.5, L3–7=0.25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A74DB9-8168-4562-B7B3-29ED59D3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38425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2026-07-22_02-36-35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A2F506-33B1-40F0-9AE5-B215FCB2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00400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D7A1E6-DA8E-4C78-8E5B-7F930209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2422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F0B76C-595F-41D2-ACA1-B60C03D5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23850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Disable anchor reward; restore all floors to 0.5; enable direct_spin_reward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B86296-293F-41B7-8895-EC9FEB19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86125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2026-07-22_23-04-12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DE5887-B5FF-4F97-B642-08939782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48100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A83CCC-0DB8-4497-8EB4-1910DD55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7192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05A853-C40A-4E01-952A-DAF81EBB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88620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Remove the eight-stage curriculum; fix target at 0.30 rad/s; spin=3.0; floor=1.0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90000F-15EE-46F8-9343-95A8E06D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33825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2026-07-23_00-19-50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CA10E8-61E9-42B2-9729-0B2F59EC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95800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996A8C-B371-4A6A-A36C-A98ECF4F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1962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04D1F4-D5B0-4C0F-BC70-EEF718F6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53390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+ spin_continuity -0.05 to address the policy stopping after the initial spin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49D0AC-8673-41E2-AD7F-CA6DD180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81525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2026-07-23_02-11-05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BBBA23-A16E-4064-9B1C-44247FC6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7800"/>
            <a:ext cx="49530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7DBFCA-E7C7-4AC3-9836-2C7C075B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Generation 1 · S1–S3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58AD80-930B-41D5-B263-9EF640C8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Hold → slow spin → faster spin. Retention and support could substitute for actual rotation.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4C2A0C-82E2-44AD-A263-622BF57C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57800"/>
            <a:ext cx="51054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642BF3-976B-439A-99AE-9EAA249C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91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Generation 2 · S4–S6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360AD8-26A7-4EBF-A8CF-4221F438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7150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Use one fixed target speed and continuity pressure to isolate positive-rotation acquisition.</a:t>
            </a:r>
          </a:p>
        </p:txBody>
      </p:sp>
    </p:spTree>
    <p:extLst>
      <p:ext uri="{BB962C8B-B14F-4D97-AF65-F5344CB8AC3E}">
        <p14:creationId xmlns:p14="http://schemas.microsoft.com/office/powerpoint/2010/main" val="187764742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0DBF61-B2B0-4CAC-BBA0-C73C32CC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87E427-D981-428A-BDC9-6DD5DF4C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Sustained Cache S7–S13: Converging on V3-A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6884EA-5574-4EC4-88E1-E57FAC5D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246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298AF7-EBAE-42FF-AE9A-6FE39539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2426A6-62AC-45FA-8BD2-0848C10F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397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4EEA80-7CEC-4D32-BF27-F99F4944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23825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Disable old shaping; keep Allegro rotate +1.25; failure=0; allow 10 mm drop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9352BA-4572-4441-8D85-1AF6BABC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85875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2026-07-23_03-57-44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A3DA3-A54F-4383-91FA-39EE5926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39724E-4B17-4877-AF47-0696DE66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1452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F3760F-39A3-4CDE-91A3-ECB178B5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82880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+ obj_linvel -0.3 to suppress whole-object translation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4DBD47-8AA5-4BCD-BA38-A6D1F673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76425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2026-07-23_15-34-09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E62901-A0A2-447D-8257-CACC7F23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059785-32A7-45FD-B618-63C780E4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0507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A62CDF-BE0E-4C91-9BD6-E2F1C770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41935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+ position_error -5; relax workspace termination to 50 mm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0D299E-16B7-4218-A556-C56BE6E8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66975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2026-07-23_20-18-51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7590FA-0962-4486-996E-9371327F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71800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3990A7-2E55-489C-9F69-F8203C2E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11A08D-C155-49C8-B0B7-290D0FA0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00990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Contact-weighted rotation via base / index / middle: 0.25 / 0.375 / 0.375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38D5F1-41A6-4B0C-BAD0-0621D3A0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57525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2026-07-23_21-54-51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568EFA-55A5-4B92-9D6E-2E54879C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4C274A-5068-4EC2-BFF6-E994DB20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617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S11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F69924-275D-43F0-A5B6-8C4D41B3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60045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+ support-pose 0.25、opposition-progress 0.20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05035C-8545-45B1-B1FC-A25BD1FE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48075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2026-07-25_03-50-30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F513F2-BF35-4A09-AD2F-08B172E7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52900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3B064C-0CF1-4D48-9056-D9350579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7672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S12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9BCD12-16BC-42F1-B7DD-BDC59572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V3-A: remove pose shaping; position -5→-6; failure 0→-1; square the gate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680A32-966B-4607-974D-C2953E89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38625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2026-07-26_23-27-56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1C7257-294F-47EB-8EF4-6ECE6324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43450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5BC70C-6580-432C-9E08-E676B846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6727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S13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62D7BB-294C-4D62-8CEB-E947603D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8155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Current version: V3-A + position-gated spin_continuity -0.05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8C98F9-D22A-4CEF-9737-468D8A1A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29175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2026-07-27_00-36-25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EEE49D-1F88-4DC0-B0A5-892A0879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Current formula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C5D869-9257-4674-9DD7-10362C42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29250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e=‖ball-anchor‖；p=clip(axis_speed/0.30,-1,1)；purity=exp(-(orth_speed/0.10)²)；gate=position_gate(e)²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6317F4-38C3-4720-8EF7-B000C93A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73405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rotate: forward=1.25×0.30×clip(p,0,1)×purity×gate; reverse=1.25×0.30×clip(p,-1,0)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39E218-AC67-450D-BEC3-D59A8A94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03885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reward=dt×(rotate-0.3‖v‖₁-6e-0.05×gate×(1-clip(p,0,1)))-failure; gate=1 within 15 mm; terminate beyond 50 mm</a:t>
            </a:r>
          </a:p>
        </p:txBody>
      </p:sp>
    </p:spTree>
    <p:extLst>
      <p:ext uri="{BB962C8B-B14F-4D97-AF65-F5344CB8AC3E}">
        <p14:creationId xmlns:p14="http://schemas.microsoft.com/office/powerpoint/2010/main" val="134840731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B621249-BB9A-4620-A909-EAEB8A00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54DF6F-C330-44C0-98EA-B747E71F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Anchor Proximity Improved Retention, Not Sustained Rotation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32A7A6-B144-41CC-8F80-3555BBF7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246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FCCC42-8B25-4E24-8AEA-8F7041F1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RUN  Baseline  2026-07-21_18-22-39_mujoco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5EC2B7-9689-4DDD-86F2-D81EBA4C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14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RUN  Grey-zone  2026-07-21_22-58-39_mujoco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3AF00-14E3-48F6-8816-693A8E6C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819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65FFEE-8C0D-4167-AF27-780D7D26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Diagnostic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6ABA2E-868C-4472-BDDA-C9F12031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787A11-C490-4259-83A0-BC8C27E4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05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33518A-EB76-421D-9411-C0DBD921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213817-60D7-445A-9960-F0C19C5B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05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+ anchor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62C006-4DC5-432E-BB26-BCAC73F3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A00044-AA81-4F82-8DF3-413C5CBC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050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E3C47C-8515-4B4C-B8E2-80069A7A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0"/>
            <a:ext cx="2819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058B6C-7406-4FEE-9CF0-32D7DB96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anchor position error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32C9C4-6334-4700-950C-4D42B935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8600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95B7CA-C42C-446C-A016-B97BB338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23.35 mm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F004F1-6F9A-45DF-B7BF-E4731396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8600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257281-5049-4B64-B4B7-12E1A29C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81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20.09 mm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A9259B-6065-4BED-82B3-A490F8B2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8600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228E80-84F5-44D7-BFCE-68BF0A24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14% lower; object stays closer to reset anchor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6F30CF-3E8C-4EA7-A533-86A23DD7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0"/>
            <a:ext cx="2819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6479D3-523C-4372-95A3-68BEACF2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fingertip contacts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9BB4E0-BEB9-4793-A477-EE84ABED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622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A283EF-0325-4574-AB2F-09063847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7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2.15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4B83E9-2071-480F-9C68-1D6F5CFE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622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7EDEE6-13FB-4884-BD10-3D727BD7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57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3.00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B00238-0548-47DB-80A8-47D813FC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6225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D13075-4A46-4EBC-BE10-7BC2822E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Stronger enclosure and retention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AC8F70-C293-4532-8027-9D5F1E43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0"/>
            <a:ext cx="2819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B2A09E-6DBC-47FA-ADF0-96D2D896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stage-valid fraction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7B215F-7684-4430-8F71-AAB09010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3850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40AFCA-46C2-469C-A185-F405ABDC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33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10.96%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A29070-21AF-4C4C-AE31-946ED31E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3850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EFD904-3097-455D-8249-6CF377D7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33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16.22%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F2C4BB-922A-4399-865D-CB9FBED3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3850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76AF44-DE7D-41BA-B9B0-53D76CEA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337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+5.26 percentage points of valid states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162F7A-02C2-45F4-BFB1-A53AA741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2819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CE8DD3-E77F-427D-8DCC-ED6E7B81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axis-speed EMA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12CF8A-FD29-4D73-8E0B-A5FBCDED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147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DD93F39-AD52-453A-A765-18E0EED4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10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+0.010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A5AC72-85BB-4771-B74A-AC32D101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147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E04B3BD-FDDA-48FC-9C4F-CB131EC5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10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+0.013 rad/s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3DD32D4-F3F7-45FB-83EE-58A23DDB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1475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DB786CF-A879-446C-BB96-03E0ABCE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100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Only a small gain; still far below target speed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EA71024-F92F-4F52-828F-DDE22EB4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0"/>
            <a:ext cx="2819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CC54FAA-9946-4247-8307-44DA586A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sustained ≥2 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CA50653-150D-401F-AF99-122967A9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9100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19FDEB1-ED63-436C-8423-8C0F3388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86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0.45%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A43B1EF-4E97-43B6-938E-A0D562C2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19100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0B6610C-2EA8-4247-9D25-C4A8E902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86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2.16%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8C60CEB-F270-426A-8597-39F37454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9100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2EF6C89-9F81-49C8-A916-A5161B0C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862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Short successes increased but remained rare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3710EF8-7752-4FF2-993B-24322816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0"/>
            <a:ext cx="2819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0E0FC54-B552-4BEE-B021-04684974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sustained ≥5 / 10 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D00913C-A85C-4AF7-B22A-99152A06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672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69F690B-1A65-4156-BB40-02F7889F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62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0% / 0%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A0FFBE5-43FE-49E4-BA33-B2B951CD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672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F719774-2AFC-4695-B8A0-874A1BB5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62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0% / 0%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0185890-6741-4D38-9192-C57CB65C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6725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EDC62C8-62C9-4893-8C69-323F373C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625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No sustained rotation was acquired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C9AA5F7-6ACA-4EB2-8B60-D547C64A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0"/>
            <a:ext cx="2819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C51E03C-F14B-4207-B3D4-83C0357B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survival seconds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58D5A42-616A-4367-B502-67DF46A1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4350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8667AE2-3AD3-47C0-AC2E-C972109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38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13.11 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35D270D-CCC5-43A8-8C06-759AFB7B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14350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8D92ED8-1E14-47FF-9F1E-A3B9FD2D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38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12.78 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5F45BF1-F153-4911-8AE3-C8925DAA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4350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E762F2B-8ADA-42E6-8F2B-B7020952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387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No survival improvement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77802C1-FB83-4C29-924E-53A60624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Conclusion: anchor proximity repaired the 15–30 mm grey zone and improved contact retention, but it did not create long-duration positive angular speed or finger switching.</a:t>
            </a:r>
          </a:p>
        </p:txBody>
      </p:sp>
    </p:spTree>
    <p:extLst>
      <p:ext uri="{BB962C8B-B14F-4D97-AF65-F5344CB8AC3E}">
        <p14:creationId xmlns:p14="http://schemas.microsoft.com/office/powerpoint/2010/main" val="138442287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9222CE-8343-4357-BAAB-77C940B1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4E5962-8085-42FE-89BD-B38C4C25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Finger Gaiting: Testing Contact Switching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E893B-B36D-41D4-89E3-CB40487C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246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363D75-266E-4FBC-93F8-56F6734E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Observed failure sequence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1619250" y="2333625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42318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45DDF8-AF13-4F90-93C9-15F70F27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185737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810762-8FD3-4BD3-897E-C6E55312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81225"/>
            <a:ext cx="1552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Initial push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4238625" y="2333625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42318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C569F5-0B9F-4350-88A8-B48EFF87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952625"/>
            <a:ext cx="185737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54933E-8ED7-4138-A12F-AFD526B5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81225"/>
            <a:ext cx="1552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Brief +Z spin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6858000" y="2333625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42318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0632B7-0015-4B32-84D3-9E0BC7A6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952625"/>
            <a:ext cx="185737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208FC3-2428-477C-818B-D0B4310E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81225"/>
            <a:ext cx="1552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Contacts freeze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5C2F34-B772-4D86-AB72-B635F75E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952625"/>
            <a:ext cx="185737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EE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0A8DEF-9279-497C-811C-A5AEFDD0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81225"/>
            <a:ext cx="1552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266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Speed decays to zero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520C93-57A0-49A9-81C0-947641F2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5E76AB-CFA6-4ABD-8A06-A4B12F6C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Added rewards and gates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00AF5B-EB16-41BB-8D65-AF084F99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86200"/>
            <a:ext cx="252031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3CB105-CCD7-4D60-A03F-39DAB19F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665" y="3886200"/>
            <a:ext cx="214693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B474AE-818E-4BE8-A26B-DFB076A3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71925"/>
            <a:ext cx="229171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Gaiting term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4EE694-066E-43AE-BDCE-98BEB680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8965" y="3971925"/>
            <a:ext cx="191833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Weight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C5B3D6-D163-4BE1-B956-1A025C47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43400"/>
            <a:ext cx="252031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C8A303-0A42-4FCD-88CE-087474B9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665" y="4343400"/>
            <a:ext cx="214693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C4E33D-F217-437B-855F-0835986C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29125"/>
            <a:ext cx="229171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stable_support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909DFA-8975-41A6-A607-BAACCFCC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8965" y="4429125"/>
            <a:ext cx="191833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+0.20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2BDFB7-E8C3-4116-AA61-8095DE70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00600"/>
            <a:ext cx="252031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B9F966-E9D8-4EA3-83DC-85CAE2D1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665" y="4800600"/>
            <a:ext cx="214693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50F7FD-E407-4C02-812F-4B41F9CC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86325"/>
            <a:ext cx="229171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release_progress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9A39E3-2E5C-4A9F-A5DC-0399558C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8965" y="4886325"/>
            <a:ext cx="191833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+0.05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5D7443-D779-4BF2-B443-7C605C00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7800"/>
            <a:ext cx="252031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11D896-516E-4090-92BE-D1210AF3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665" y="5257800"/>
            <a:ext cx="214693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0E71B8-4785-4BA5-B8AB-6C18A589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43525"/>
            <a:ext cx="229171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qualified_handoff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EF2BCA-02BB-450A-BE44-A360213A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8965" y="5343525"/>
            <a:ext cx="191833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+0.25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AC1640-F07B-4417-92EB-B7CDE427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862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 qualified handoff requires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EC7204-4DFB-4DBE-B08C-F45FA338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624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• one finger released for at least 2 control steps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• at least 2 other fingertips remain in contact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• object stays inside the retention gate with no palm contact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• released finger reconnects before timeout and speed recovers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78EDAD-F7C6-47FF-9420-A5365992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62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RUN  V1  12-19-14 / 12-36-43     V2  14-58-36 / 15-47-22</a:t>
            </a:r>
          </a:p>
        </p:txBody>
      </p:sp>
    </p:spTree>
    <p:extLst>
      <p:ext uri="{BB962C8B-B14F-4D97-AF65-F5344CB8AC3E}">
        <p14:creationId xmlns:p14="http://schemas.microsoft.com/office/powerpoint/2010/main" val="145467511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93F24A-80AD-421E-8470-4AD43E13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285AA-8FB3-4E04-909B-82CECB86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Finger Gaiting Exposed Positive Rotation as the Bottleneck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C6149A-4A83-4227-B418-48CE5A28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246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5CE5EC-33DF-4BA1-A0FD-8F5A9BD3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RUN  2026-07-22_15-47-22_mujoco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863D1-8173-4B4A-9E47-B1551459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288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5DDBA8-544E-42F9-96FD-A37C3BCF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22.33 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04C521-C4E4-4DAA-83A3-129080D8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mean survival 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228FD5-16F5-412B-8E4D-115B0362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288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645E9D-66D4-4A2C-87D5-F7DDA455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193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10.48 mm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802870-7F68-4E6A-A0CB-5E59DEC4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098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mean anchor error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500BDD-5852-4179-B13D-D0E859BC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8288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52487A-D20A-4AAD-A089-69467087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193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2.12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A007B4-75DE-42AA-89BE-D9F15129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098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mean fingertip contacts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DA7A69-1D1A-4093-864E-9347BA10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288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EE0BF5-2FF8-4427-8C11-04799DD2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193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0.055%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6DF6B7-CD78-491D-BC2B-E15164F3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098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termination rate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90606F-0EFA-4267-AE74-18D3A030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0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D6AF21-12E6-4B57-80EA-D61DDB87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gates that actually failed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069FED-F8C7-414A-BD61-A3722785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Positive speed gate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FB7EEB-F732-4D3E-BDFC-45805356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1.97%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889C76-AD7B-450E-AA58-CDE20588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14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Qualified handoff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69BB6D-649E-4BB1-8A24-7CA22721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720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&lt; 0.11%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8E2B15-8799-4A7E-9BDC-FE13BDE0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114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2s / 5s / 10s success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95E1CD-D4F7-4DB0-924E-CF5CEE10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720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all zero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910C2C-6162-4AF9-A733-CBDAD8A8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67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Interpretation: forcing handoff before reliable positive rotation makes an already sparse exploration problem even harder.</a:t>
            </a:r>
          </a:p>
        </p:txBody>
      </p:sp>
    </p:spTree>
    <p:extLst>
      <p:ext uri="{BB962C8B-B14F-4D97-AF65-F5344CB8AC3E}">
        <p14:creationId xmlns:p14="http://schemas.microsoft.com/office/powerpoint/2010/main" val="103706942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D1C33C6-031C-45BF-A54E-863A104E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09A9B7-639A-46C3-A959-D31F5A97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Direct Rotation Isolates Basic +Z Acquisition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0E5A2C-44EF-427D-8CC8-A2FFB57B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246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B63673-29A9-4AAC-A707-7CA40AF2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0492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Fixed target: world +Z · 0.30 rad/s · cache reset · 25-second episode · no handoff objective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7F8760-3B4B-4B87-A395-DEC600D7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5B0F35-9490-49A4-A8DB-BDF0F590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8097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7DB61E-CA99-4C3E-ACC8-7A204582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95475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Positive term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B478CB-F191-47C2-B8CB-B6B84997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89547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Weight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E0EB6C-AA7B-42C6-88A7-413232C2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8F4990-9794-4A24-90F8-3D57E709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2669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67EA06-DB0F-4DB9-9A35-2501F0AD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52675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stable_rotation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2DDCE2-5766-45B1-89FB-97BFA98D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5267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+6.0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139A79-7ADB-4E81-B3B8-D81741A3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B4C5E0-6869-4F4B-84E8-06F39BDD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241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4A97A1-CC15-4980-B3EA-3DFAD20B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rotation_streak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06264-89EF-471D-8297-B6687690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80987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+0.5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F749EE-13CF-424C-B6FF-AE31BE46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AD48FD-6ED7-4BC5-A780-70A25481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813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58AC93-2CE0-4FE8-86EA-7D661296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67075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thumb_contact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89A228-C89D-4238-BF10-02C3467C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6707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+0.1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55C102-31F9-4854-8419-8A46B4F1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0BBE2E-1B6E-4674-B04C-A4CAAF54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6385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75D405-DE8C-4327-B38B-C4352589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24275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fingertip_support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E27BBB-7FC0-4E67-ADB6-3D345C22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2427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+0.15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D9A0B3-F70B-4DE8-9B9F-D02A9DA8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EA55E2-1643-4C28-8F04-1DD914CD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0957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2CED81-5F4D-48F9-BFC4-6C993260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81475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center_recovery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BF50A8-5CF8-4687-9BEB-AF2441B0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81475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+1.0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D23332-0102-4E80-AB62-790E7383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09750"/>
            <a:ext cx="27774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9A75B0-AB7C-4417-9606-0556F233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990" y="1809750"/>
            <a:ext cx="236601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3B66D2-D8F1-4229-A9EC-1F55BEBC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95475"/>
            <a:ext cx="254889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Cost / penalty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2624F9-73F2-4333-B39D-351EE6F5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7290" y="1895475"/>
            <a:ext cx="213741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Weight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D3DD00-4A60-4879-982E-1139CB9A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66950"/>
            <a:ext cx="27774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E36956-4263-466D-BE35-3365CDD1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990" y="2266950"/>
            <a:ext cx="236601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1691F7-4324-4381-8501-8D28FCEA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52675"/>
            <a:ext cx="254889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stall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7C2684-8D3E-4BEC-9D32-2C8CD956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7290" y="2352675"/>
            <a:ext cx="213741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-1.0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024A1B-87B6-412F-955B-FA05B735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24150"/>
            <a:ext cx="27774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1A8C14-4C97-470A-A480-6FB1149F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990" y="2724150"/>
            <a:ext cx="236601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709C0D6-57B0-4335-BEEB-CB7146FD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9875"/>
            <a:ext cx="254889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reverse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018B1A-D6AF-46B7-94DA-8B919B22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7290" y="2809875"/>
            <a:ext cx="213741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-4.0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1D0426-8451-46A5-8853-2B29045B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81350"/>
            <a:ext cx="27774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9D89C0A-BFC7-4AEA-A6E3-9A733F7F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990" y="3181350"/>
            <a:ext cx="236601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0D2739-D79A-43A2-977C-ACE0B2C7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67075"/>
            <a:ext cx="254889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object_center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04FA6A5-D822-4B67-9944-612A28A8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7290" y="3267075"/>
            <a:ext cx="213741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-2.5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B3098E6-9E30-4D12-827F-744E89BF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38550"/>
            <a:ext cx="27774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11FA09B-0A0E-47A5-99F3-01A35535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990" y="3638550"/>
            <a:ext cx="236601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CAAA908-33E5-41BC-B130-90D77887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24275"/>
            <a:ext cx="254889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object_linear_velocity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C31B618-C195-4E58-BF06-83308885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7290" y="3724275"/>
            <a:ext cx="213741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-0.4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1D3A275-C973-469B-9C23-002DE4EF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95750"/>
            <a:ext cx="27774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B3915EF-F70A-43D4-BB19-D909E097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990" y="4095750"/>
            <a:ext cx="236601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47FA26A-1418-4801-B8E8-E94433AE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81475"/>
            <a:ext cx="254889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palm_contact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4D0AD89-7565-43D9-8577-BDA6C3E3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7290" y="4181475"/>
            <a:ext cx="213741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-1.0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233554C-2493-48FF-9038-771A102B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52950"/>
            <a:ext cx="27774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665BAEA-C5CD-42DD-95E0-F937D3E0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990" y="4552950"/>
            <a:ext cx="236601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4660963-E075-430E-860C-33A2F2E9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38675"/>
            <a:ext cx="254889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orthogonal_speed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76B32CB-86AA-4855-B31A-B146298D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7290" y="4638675"/>
            <a:ext cx="213741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-0.25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371F1B9-2B0A-404F-A49A-8AE9679B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10150"/>
            <a:ext cx="27774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460562B-5C65-4BEE-B171-BF49A55F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990" y="5010150"/>
            <a:ext cx="236601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9E54DC1-4A24-4639-8F1E-33B78D63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095875"/>
            <a:ext cx="254889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failure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182A81E-F084-434A-B1B7-28DEA625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7290" y="5095875"/>
            <a:ext cx="213741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-5.0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79D42B9-B121-4D57-A990-206D5FDA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Direct uses a different reward scale; aggregate return is comparable only among checkpoints from this task.</a:t>
            </a:r>
          </a:p>
        </p:txBody>
      </p:sp>
    </p:spTree>
    <p:extLst>
      <p:ext uri="{BB962C8B-B14F-4D97-AF65-F5344CB8AC3E}">
        <p14:creationId xmlns:p14="http://schemas.microsoft.com/office/powerpoint/2010/main" val="141158975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99F139F-EA72-4388-ABA3-6913AA64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BD30BD-6032-4AC0-85FD-E40A1DC8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Direct Acquired Forward Spin, Not Sustained Motion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97D332-55EF-4DCF-A809-E57AF048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246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307448-79D2-49A2-A4FB-85850585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RUN  2026-07-22_21-27-39_mujoco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D96098-A092-468A-94A8-E7E104AE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Rotation acquisition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710573-733F-4567-9C2E-1F8D32F9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43150"/>
            <a:ext cx="277749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E1AB07-91DB-48AE-A641-DD11B5BD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343150"/>
            <a:ext cx="236601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A276B5-0298-43FC-808F-43EC3DC1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28875"/>
            <a:ext cx="254889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Task metric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94A6E8-A7E2-406C-BF11-492C0787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140" y="2428875"/>
            <a:ext cx="213741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Final value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990F39-95B5-4A35-B2A1-18A260D6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81300"/>
            <a:ext cx="277749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0F7578-310E-4782-8916-F1C5411B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781300"/>
            <a:ext cx="236601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E0EEC6-1A3C-4E56-829E-B3EA719E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67025"/>
            <a:ext cx="254889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target +Z speed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1427F6-6438-47E0-A9AF-FBFFE201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140" y="2867025"/>
            <a:ext cx="213741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0.300 rad/s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0037FD-81F3-4CB9-93F4-6D7BED67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19450"/>
            <a:ext cx="277749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F17CB5-418D-4CAC-B5EA-D2D7BFDB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219450"/>
            <a:ext cx="236601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D819C7-2609-4998-BB3A-A2509D0F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05175"/>
            <a:ext cx="254889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axis-speed EMA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09CA8B-9107-4676-9B53-E9CC6C15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140" y="3305175"/>
            <a:ext cx="213741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+0.246 rad/s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E8B275-E7E3-4E53-A5E1-D5EAE2CF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57600"/>
            <a:ext cx="277749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28F2CC-F77E-4577-BA11-5C3E24BC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657600"/>
            <a:ext cx="236601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36CC1B-7AB4-48FA-B75A-F8C94234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43325"/>
            <a:ext cx="254889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axis purity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1ACE1C-BA41-44CC-A564-8412B942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140" y="3743325"/>
            <a:ext cx="213741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84.3%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A083F8-7455-4729-9970-BB0E1C24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277749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00B861-BD97-4E23-B0B8-7D4CB0B6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095750"/>
            <a:ext cx="236601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8CA6A5-4665-4861-A1EB-00B63B89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81475"/>
            <a:ext cx="254889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mean anchor error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6D0D3D-BE38-4EFD-BDC1-90FE6BE3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140" y="4181475"/>
            <a:ext cx="213741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14.7 mm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9D5044-43AF-452C-A758-AE0C0A72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277749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3895C3-7437-4A49-8CB7-0010C210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533900"/>
            <a:ext cx="236601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3CAB7F-5695-4BA9-A1DC-FC077FE8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9625"/>
            <a:ext cx="254889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mean fingertip contacts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BC3E80-C07F-4F89-A464-CF5BC38A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140" y="4619625"/>
            <a:ext cx="213741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2.47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80AD7D-0505-42A1-AFCD-EAFC03CB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72050"/>
            <a:ext cx="277749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D599DB-D5B2-4778-9416-0724B3E8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972050"/>
            <a:ext cx="236601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A2EC57-E021-4677-8DA3-2D831D5A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57775"/>
            <a:ext cx="254889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palm contact rate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05FFD8-54BA-4CF5-9221-D7CD5FDD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140" y="5057775"/>
            <a:ext cx="213741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0.0%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2DAE62-EBDA-4BF3-B000-296F6B32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05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Sustainability check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4743D1-9DEC-44C7-AE4E-0FADBAD7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431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50B18A-410E-49B3-8C33-613F055A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431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AAE5DA-B636-4976-B3F3-92259DBD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2887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Success gate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059A9E-1789-475B-A5F7-C8587666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28875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Observed fraction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C8152D-6781-4558-B3C1-A536A876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871379-1123-4FEA-A60B-493E7FDD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0BFE63-87BC-4717-AFD4-2F8023D8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670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continuous spin ≥ 2 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BD9CF9B-C448-4F71-8A2F-EC229843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67025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0.012%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7A89128-5954-4661-914E-5587F7FE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194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3F488E7-4B74-4F5A-91B9-DA73D493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194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1435F29-4D84-4C0F-A300-BAC9775C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0517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continuous spin ≥ 5 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12722CF-AB3B-4D84-B10A-8B88121E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05175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59F2925-9946-45C7-BD22-AF73E90C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5760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1D98B46-4571-4472-9A53-F2A40EC1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576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1AFCB1C-B2D5-4FE4-8D7B-99B0E8F2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433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continuous spin ≥ 10 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D562C03-46E5-4FF9-9260-CFCDBA94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43325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99B621A-DDB2-496A-8A14-7C84F7D7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D2F512A-1030-4A07-A46F-B01D3B6A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957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B02C424-552F-4950-AC82-1261FCA2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8147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natural handoff rate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E8C3834-8EDC-476F-B8BC-57B63B36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181475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0.061%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0C5ACB9-9168-45D6-B928-484ADF82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3390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DD106E8-B78E-474F-B109-16D97EC4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339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2F35781-F79C-4D4D-AF82-4B86CA9D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196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final success fraction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67DF02E-5127-4361-910A-BB9CE731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619625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0.061%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080ED4D-1E10-4702-AE5D-7F5D88A8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34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Conclusion: the policy can generate positive +Z rotation, but it cannot maintain the motion, switch contacts, or complete multiple turns.</a:t>
            </a:r>
          </a:p>
        </p:txBody>
      </p:sp>
    </p:spTree>
    <p:extLst>
      <p:ext uri="{BB962C8B-B14F-4D97-AF65-F5344CB8AC3E}">
        <p14:creationId xmlns:p14="http://schemas.microsoft.com/office/powerpoint/2010/main" val="127245881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9F5E21-90DF-4BF2-A664-2519E887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F75320-CF02-48D0-81B3-2ADCB1CF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Cache Gaiting Held Position but Did Not Spin or Handoff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EFF2AC-85C2-43D4-A46E-DBCC412B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246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6A52A-8B7A-45A4-A95D-E5E3FC2B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47625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E19C78-392A-4F56-B0E1-FB45AE58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V1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5EA042-94EF-4B58-82FF-60E0A03E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3905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Combined the simplified rotation objective with stable-support, release-progress, and handoff shaping.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Problem: gaiting pressure increased exploration cost before stable rotation existed.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4AE831-F475-4AE8-83D1-61BF001E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RUN  2026-07-27_12-09-05_mujoco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E80651-DC8C-488F-8D23-18CA7AE0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428750"/>
            <a:ext cx="4953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56E993-26F1-4DBB-A991-F223D6F1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V2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C9C5C1-3C68-4240-B8BE-741CC2A9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2410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Kept the rotation objective, removed stable/release shaping, reduced handoff influence, and allowed release only for non-thumb fingers.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Goal: acquire rotation first, then require contact switching.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1EE628-CA40-41AC-8CD6-704F1D64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338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RUN  2026-07-27_12-26-57_mujoco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C762BB-F3D7-4C9D-9344-577A8B58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38061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A69857-2089-4968-B90E-556B1F4C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540" y="4476750"/>
            <a:ext cx="324231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B29657-84DD-48AD-A378-30F181A4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62475"/>
            <a:ext cx="357759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Latest task metric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72A672-BDC4-478A-ABEE-B305F0BD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4562475"/>
            <a:ext cx="301371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Observed value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F7FD2E-9A87-47B7-B23F-DA43D67C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38061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4688A9-50AC-47A3-B3AF-8C610570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540" y="4762500"/>
            <a:ext cx="324231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2A1749-DE87-4443-A20B-E5053D68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48225"/>
            <a:ext cx="357759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position gate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71B739-DC9D-460F-BA43-2896E795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4848225"/>
            <a:ext cx="301371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98.8%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F493D7-DF7E-4311-B11B-F6FAFD0E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38061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AC0A63-B439-4671-8552-3DE80DBD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540" y="5048250"/>
            <a:ext cx="324231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64DCFC-707C-4FCA-A2BD-E51FF9CD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33975"/>
            <a:ext cx="357759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axis purity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EDB859-017A-4004-93CC-B60E1B21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5133975"/>
            <a:ext cx="301371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95.1%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34723E-2445-466D-9B31-489DB756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0"/>
            <a:ext cx="38061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EDE67B-957A-4190-8B16-73BC4A4F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540" y="5334000"/>
            <a:ext cx="324231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0DE406-97ED-4E87-8DC3-2A29DADD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9725"/>
            <a:ext cx="357759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axis speed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A380D1-EB04-4D63-842A-C155E238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5419725"/>
            <a:ext cx="301371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+0.001 rad/s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701962-4641-4692-AB4B-A9AA1F38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38061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F146F2-1502-45C7-843A-E93A4B72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540" y="5619750"/>
            <a:ext cx="324231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7EA477-E144-47CA-B8DB-68AD9F72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05475"/>
            <a:ext cx="357759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net turns / episode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E51A29-2DE1-4CB5-B02F-3C25732C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5705475"/>
            <a:ext cx="301371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0.0069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753A53-D4AA-4A97-BF5A-E635B837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0"/>
            <a:ext cx="38061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71550A-6AE5-411F-9A03-AD134F32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540" y="5905500"/>
            <a:ext cx="324231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EBFCE2-1886-4772-979A-08988B84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91225"/>
            <a:ext cx="357759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speed &gt; 0.10 rad/s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FBC343-E656-4E31-B185-D5CB6629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5991225"/>
            <a:ext cx="301371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0.73%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C84D11-D581-4D2B-B3E5-0F8CE556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380619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D1C01E-282E-41AF-ABFE-C685AFFC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540" y="6191250"/>
            <a:ext cx="324231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CB30CA-31A2-4DEC-B4F0-C03ACEDF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76975"/>
            <a:ext cx="357759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qualified handoff rate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059EC5-3746-484D-98CF-DD41FEB2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6276975"/>
            <a:ext cx="301371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0.006%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CD822A-F4FD-4CD5-9DC9-62761D78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148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19D791-F887-4F31-BC96-AC5E1A20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91100"/>
            <a:ext cx="276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32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object stayed near its anchor and the rotation axis was clean, but axis speed and qualified handoffs were almost zero.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Retention is not sustained rotation.</a:t>
            </a:r>
          </a:p>
        </p:txBody>
      </p:sp>
    </p:spTree>
    <p:extLst>
      <p:ext uri="{BB962C8B-B14F-4D97-AF65-F5344CB8AC3E}">
        <p14:creationId xmlns:p14="http://schemas.microsoft.com/office/powerpoint/2010/main" val="205390970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600E2C3-D85D-4D5F-B101-6DF5718F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978EA6-F96F-48E4-893C-C68BB017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Each Task Answers a Different Diagnostic 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005E47-45A0-4BA6-AA77-AC348EAF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246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4E756D-8774-4E6D-8CD4-14AAF5A9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CE22F-5F8E-4F02-A8F9-3676376B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66D141-3A2C-4C0B-8802-27FA026F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28750"/>
            <a:ext cx="2486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9AB8F6-D9F6-46D3-A3B8-2629E126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552575"/>
            <a:ext cx="2295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Representative RunId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9329F7-D2F0-43CC-8CCE-23FD254C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428750"/>
            <a:ext cx="2524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F44155-9887-4B2A-9C60-6E680F68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55257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9DF25E-E4CA-4B9C-B192-AE4EF27D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287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9EC499-0626-4C8D-B57A-395FD214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525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Supported conclusion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9C0D5F-BE0B-4C1A-B9A0-73D31561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4287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A3AE84-DCEC-4CCB-98BE-8B3B33F3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5525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0E6521-95C3-4CC2-95CD-A079E51F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859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B5D55A-4695-4AF9-AD28-04F44295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Ball Cache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DC5FA4-E0B1-4C16-9140-12A8F53F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885950"/>
            <a:ext cx="24860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99B1F2-79E0-4357-A619-E3B376EF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00250"/>
            <a:ext cx="2295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07-21_17-29-49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CAB0AD-3C7D-4D34-A60C-48634C4C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8859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88A6F5-AA61-4AB2-AF34-CDBF3FEC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0025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Does cache reset work?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B5FBE3-C1A0-4F39-9B28-A2D44591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859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4B0DC3-F47F-48E3-9B10-CD70B019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002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Integration is executable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709851-CDC2-4E9C-96C0-F282A80B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8859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EE3B93-7244-496C-82F6-3488DBC0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002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integration only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D08178-86E9-463B-8872-BD0DBBD6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384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608009-462D-4844-ACE2-79B89CA8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Sustained Cache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897AB7-17D9-4AA5-8FD0-EB469C7A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38400"/>
            <a:ext cx="24860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E15189-D8DB-4986-B488-A1092973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52700"/>
            <a:ext cx="2295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07-21_18-22-39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391B0D-0DDE-4E92-91A4-7E45D752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43840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264FB3-D919-4FA4-B8B6-7EBD9481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5527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Can many grasps rotate?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AA4F99-51EE-4A5D-B5B5-ECE579F4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384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74B168-6277-451A-99F4-7ABC0AD5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527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Formal baseline established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FF9901-9906-49E5-AC65-227BF415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384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8CBD88-3C44-4656-9C5D-705A4D9C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527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rotation metrics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6DD926-796E-4BF2-B736-E513938C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4C0DE3-86B9-4109-98F7-79ABFD24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Retention Grey-zone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8302B6-D217-4601-8AB7-58509039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990850"/>
            <a:ext cx="24860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0EA5C3-A822-4BDE-9931-425BDE08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105150"/>
            <a:ext cx="2295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07-21_22-58-39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9586EA-229F-45B7-B75E-BC9F45A2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9908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D837CC-8007-4E66-BEFE-0B465003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0515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Why settle at 15–30 mm?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9EA0B0-08B1-4607-9E35-B3146D88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908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64A4851-AC24-4178-9C86-914224F1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051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Retention improved, spin did not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A72827-1D77-4655-858C-8B1FA84D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908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C59AAAD-882C-4F0D-A859-4EFCA8A9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051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A/B diagnosis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232037F-53AA-4E9E-994E-A9706160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433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52D100C-50AC-4E73-9129-07622C3E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Finger Gaiting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C0D3542-9650-48E5-8FD4-EDEE7963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43300"/>
            <a:ext cx="24860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F0CCFEB-E83D-4D28-A7C4-C708C7BA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657600"/>
            <a:ext cx="2295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07-22_15-47-22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2488EAD-123E-447A-A359-2C622CA1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54330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5ABA6A8-308B-4CE1-9D57-9341D9F2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6576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Is contact switching missing?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3DA228F-DFED-4052-88CE-7064E0B5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433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817F05B-8F8B-44EE-B694-2F344B2E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576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Positive speed is the first bottleneck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25EFC1F-598D-40C2-B342-F324C8FE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5433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BD9C384-9E84-4072-8A3D-95D5E6FE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576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gate metrics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58AF456-4F50-4639-A321-C8D4A0D7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2B9413A-5D1E-4FEC-BD64-F59BC743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Direct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1694695-5875-43E9-8EAF-8F02D115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095750"/>
            <a:ext cx="24860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A9BFF27-C447-4F72-A830-72300F33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10050"/>
            <a:ext cx="2295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07-22_21-27-39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9262E99-420D-4B27-899E-0FB34E3C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0957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F26802D-0F5B-4B66-8D62-9AD39C47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21005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Can forward spin be acquired?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A36B9B5-85B1-441F-B637-B2EFD08F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957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F2F8CD4-BC6F-4276-BB14-BB44DBE8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100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Acquisition is possible but brief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8369C52-3BA5-4B08-BB67-2B5145AF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957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C70A3EC-E33A-42A4-A5C5-29C3B8E0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2100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duration metrics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807C55E-4B88-44BB-A346-096A1902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800F216-FAB8-47E1-A3AC-13A5BB4B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Sustained V3-A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A91F497-6BFD-47F5-BC1C-F5B485F6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648200"/>
            <a:ext cx="24860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861B1E6-0F47-4349-AFCE-28723CC2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762500"/>
            <a:ext cx="2295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07-27_00-36-25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B96E3C6-C2C2-4D39-9C63-F45C9950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64820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D4018F2-BDE1-43D5-A51B-2B20066B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7625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Can reward be simplified?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C576DB6-02F8-4067-85AB-E9FA65F0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482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BD3EC7D-9FCD-408E-A749-DF74EC74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625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Direct task signals retained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C28B29C-CF55-47AE-9CE4-74B7021C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482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C983CA0-D2B5-46DD-959E-D6E6B443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7625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reward ablation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8AD5840-B648-4F5F-8DC6-FD354D54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006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37FD71C-7254-4545-A950-E457E2AC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Cache Gaiting V2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5EDA4B1-0C85-42F9-B131-B4D101FE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200650"/>
            <a:ext cx="24860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BF07DE5-AB53-4244-A8E8-D589DE8D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314950"/>
            <a:ext cx="2295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07-27_12-26-57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D4D9F90-25A4-473F-80EC-3B0E5516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2006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6A89896-B811-433D-B008-2CD40C55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31495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Can constrained handoff return?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7835EF5-D3DC-4663-BDB5-A333F2B4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006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8DCD168-51CA-4C87-8538-CF2573A3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149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Retention works; rotation remains absent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40CF030-C370-4384-94D5-85E2E321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2006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F6E513D-1635-4458-A69D-FA4D7EBF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3149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task metrics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098EAE4-28A0-4F17-ACBD-9C00131E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531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Historical checkpoints must be interpreted with their saved run_config.json, not the current parent YAML.</a:t>
            </a:r>
          </a:p>
        </p:txBody>
      </p:sp>
    </p:spTree>
    <p:extLst>
      <p:ext uri="{BB962C8B-B14F-4D97-AF65-F5344CB8AC3E}">
        <p14:creationId xmlns:p14="http://schemas.microsoft.com/office/powerpoint/2010/main" val="202564161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B47371-EFCD-4885-B537-54CC3EAA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LEAP HAND MONTHLY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E4D9A7-B4F9-4D9A-880B-57C770DD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Prove Sustained Rotation Before Reintroducing Handoff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588758-0329-480A-A478-01FCE854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246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A3DA9C-2D90-466B-972D-5D20F552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Three defensible conclusions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F27BDF-68BF-4F4D-AC74-FAC6F417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53340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  A ball-specific reset cache and physically valid collision model are prerequisites.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  Better retention does not imply sustained rotation; signed axis speed and net angle must be measured.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  Handoff is eventually necessary, but forcing it before rotation acquisition increases exploration sparsity.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49EB71-B454-44F0-A154-47C8C314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81125"/>
            <a:ext cx="4333875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2BF47D-0AFB-4DEE-BCC0-7E092238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764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Validation order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484CD5-CEC0-4683-891C-E7F3F33D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24100"/>
            <a:ext cx="3524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01  Reward ablation with fixed cache and seed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02  Report axis-speed duration and net turns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03  Use the viewer to reject palm support or penetration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04  Add handoff only after acquisition is stable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05  Compare success rate across at least three seeds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06  Add domain randomization last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287674-73D7-4C5E-A400-2CBB09D8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Success criteria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2A2907-7DA3-4EA2-864E-DA1DEECE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911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Sustained positive rotation · multiple net turns · low orthogonal speed · no drop · qualified handoff · cross-seed stability</a:t>
            </a:r>
          </a:p>
        </p:txBody>
      </p:sp>
    </p:spTree>
    <p:extLst>
      <p:ext uri="{BB962C8B-B14F-4D97-AF65-F5344CB8AC3E}">
        <p14:creationId xmlns:p14="http://schemas.microsoft.com/office/powerpoint/2010/main" val="3732518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2026-07-29T00:42:04.2580000Z</dcterms:created>
  <dcterms:modified xsi:type="dcterms:W3CDTF">2026-07-29T00:42:04.2580000Z</dcterms:modified>
</coreProperties>
</file>