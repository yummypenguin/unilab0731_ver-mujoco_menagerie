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dc3293ae3f4f64" /><Relationship Type="http://schemas.openxmlformats.org/officeDocument/2006/relationships/extended-properties" Target="/docProps/app.xml" Id="R15816a4ed8fe4357" /><Relationship Type="http://schemas.openxmlformats.org/officeDocument/2006/relationships/officeDocument" Target="/ppt/presentation.xml" Id="R0e214606c0d149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1811e762d244cb"/>
  </p:sldMasterIdLst>
  <p:notesMasterIdLst>
    <p:notesMasterId xmlns:r="http://schemas.openxmlformats.org/officeDocument/2006/relationships" r:id="R58d1333efecd49ff"/>
  </p:notesMasterIdLst>
  <p:sldIdLst>
    <p:sldId xmlns:r="http://schemas.openxmlformats.org/officeDocument/2006/relationships" id="256" r:id="R983f970e2ca84782"/>
    <p:sldId xmlns:r="http://schemas.openxmlformats.org/officeDocument/2006/relationships" id="257" r:id="R40b90f9e7d664574"/>
    <p:sldId xmlns:r="http://schemas.openxmlformats.org/officeDocument/2006/relationships" id="258" r:id="R6336458577884d41"/>
    <p:sldId xmlns:r="http://schemas.openxmlformats.org/officeDocument/2006/relationships" id="259" r:id="Ra4f8e780f977452b"/>
    <p:sldId xmlns:r="http://schemas.openxmlformats.org/officeDocument/2006/relationships" id="260" r:id="Rc3b4e11e75564e2e"/>
    <p:sldId xmlns:r="http://schemas.openxmlformats.org/officeDocument/2006/relationships" id="261" r:id="R5aed08e4d3a74aec"/>
    <p:sldId xmlns:r="http://schemas.openxmlformats.org/officeDocument/2006/relationships" id="262" r:id="R3b2a66c839c84691"/>
    <p:sldId xmlns:r="http://schemas.openxmlformats.org/officeDocument/2006/relationships" id="263" r:id="R1a1e9a219ef64e70"/>
    <p:sldId xmlns:r="http://schemas.openxmlformats.org/officeDocument/2006/relationships" id="264" r:id="R0b8b5bf8d0764d22"/>
    <p:sldId xmlns:r="http://schemas.openxmlformats.org/officeDocument/2006/relationships" id="265" r:id="Rd595b01373c04a83"/>
    <p:sldId xmlns:r="http://schemas.openxmlformats.org/officeDocument/2006/relationships" id="266" r:id="R6154e7b55e4a44a0"/>
    <p:sldId xmlns:r="http://schemas.openxmlformats.org/officeDocument/2006/relationships" id="267" r:id="Rb70c4be60d1b428b"/>
    <p:sldId xmlns:r="http://schemas.openxmlformats.org/officeDocument/2006/relationships" id="268" r:id="Ra6a0db59e264430a"/>
    <p:sldId xmlns:r="http://schemas.openxmlformats.org/officeDocument/2006/relationships" id="269" r:id="R72b9268269394877"/>
    <p:sldId xmlns:r="http://schemas.openxmlformats.org/officeDocument/2006/relationships" id="270" r:id="R5f4421549cc94f7f"/>
    <p:sldId xmlns:r="http://schemas.openxmlformats.org/officeDocument/2006/relationships" id="271" r:id="R2b0ef686e6bc44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d77d1d13b0428f" /><Relationship Type="http://schemas.openxmlformats.org/officeDocument/2006/relationships/slideMaster" Target="/ppt/slideMasters/slideMaster1.xml" Id="R2b1811e762d244cb" /><Relationship Type="http://schemas.openxmlformats.org/officeDocument/2006/relationships/notesMaster" Target="/ppt/notesMasters/notesMaster1.xml" Id="R58d1333efecd49ff" /><Relationship Type="http://schemas.openxmlformats.org/officeDocument/2006/relationships/presProps" Target="/ppt/presProps.xml" Id="Rbecbbdb67f9a4d91" /><Relationship Type="http://schemas.openxmlformats.org/officeDocument/2006/relationships/tableStyles" Target="/ppt/tableStyles.xml" Id="R912b0c2359424df3" /><Relationship Type="http://schemas.openxmlformats.org/officeDocument/2006/relationships/slide" Target="/ppt/slides/slide1.xml" Id="R983f970e2ca84782" /><Relationship Type="http://schemas.openxmlformats.org/officeDocument/2006/relationships/slide" Target="/ppt/slides/slide2.xml" Id="R40b90f9e7d664574" /><Relationship Type="http://schemas.openxmlformats.org/officeDocument/2006/relationships/slide" Target="/ppt/slides/slide3.xml" Id="R6336458577884d41" /><Relationship Type="http://schemas.openxmlformats.org/officeDocument/2006/relationships/slide" Target="/ppt/slides/slide4.xml" Id="Ra4f8e780f977452b" /><Relationship Type="http://schemas.openxmlformats.org/officeDocument/2006/relationships/slide" Target="/ppt/slides/slide5.xml" Id="Rc3b4e11e75564e2e" /><Relationship Type="http://schemas.openxmlformats.org/officeDocument/2006/relationships/slide" Target="/ppt/slides/slide6.xml" Id="R5aed08e4d3a74aec" /><Relationship Type="http://schemas.openxmlformats.org/officeDocument/2006/relationships/slide" Target="/ppt/slides/slide7.xml" Id="R3b2a66c839c84691" /><Relationship Type="http://schemas.openxmlformats.org/officeDocument/2006/relationships/slide" Target="/ppt/slides/slide8.xml" Id="R1a1e9a219ef64e70" /><Relationship Type="http://schemas.openxmlformats.org/officeDocument/2006/relationships/slide" Target="/ppt/slides/slide9.xml" Id="R0b8b5bf8d0764d22" /><Relationship Type="http://schemas.openxmlformats.org/officeDocument/2006/relationships/slide" Target="/ppt/slides/slide10.xml" Id="Rd595b01373c04a83" /><Relationship Type="http://schemas.openxmlformats.org/officeDocument/2006/relationships/slide" Target="/ppt/slides/slide11.xml" Id="R6154e7b55e4a44a0" /><Relationship Type="http://schemas.openxmlformats.org/officeDocument/2006/relationships/slide" Target="/ppt/slides/slide12.xml" Id="Rb70c4be60d1b428b" /><Relationship Type="http://schemas.openxmlformats.org/officeDocument/2006/relationships/slide" Target="/ppt/slides/slide13.xml" Id="Ra6a0db59e264430a" /><Relationship Type="http://schemas.openxmlformats.org/officeDocument/2006/relationships/slide" Target="/ppt/slides/slide14.xml" Id="R72b9268269394877" /><Relationship Type="http://schemas.openxmlformats.org/officeDocument/2006/relationships/slide" Target="/ppt/slides/slide15.xml" Id="R5f4421549cc94f7f" /><Relationship Type="http://schemas.openxmlformats.org/officeDocument/2006/relationships/slide" Target="/ppt/slides/slide16.xml" Id="R2b0ef686e6bc44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12de46c9aa41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2306147d204cd4" /><Relationship Type="http://schemas.openxmlformats.org/officeDocument/2006/relationships/notesMaster" Target="/ppt/notesMasters/notesMaster1.xml" Id="R387605f5a4fa43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48f5a1c61e49c9" /><Relationship Type="http://schemas.openxmlformats.org/officeDocument/2006/relationships/notesMaster" Target="/ppt/notesMasters/notesMaster1.xml" Id="R40bff033c4704b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bee209ae614ac1" /><Relationship Type="http://schemas.openxmlformats.org/officeDocument/2006/relationships/notesMaster" Target="/ppt/notesMasters/notesMaster1.xml" Id="Rf6f46cd9aa8d4e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521b6cfd7e4d71" /><Relationship Type="http://schemas.openxmlformats.org/officeDocument/2006/relationships/notesMaster" Target="/ppt/notesMasters/notesMaster1.xml" Id="R40422855a88540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08a3a2c1914740" /><Relationship Type="http://schemas.openxmlformats.org/officeDocument/2006/relationships/notesMaster" Target="/ppt/notesMasters/notesMaster1.xml" Id="Radd1ffec500e44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e46f63ab254693" /><Relationship Type="http://schemas.openxmlformats.org/officeDocument/2006/relationships/notesMaster" Target="/ppt/notesMasters/notesMaster1.xml" Id="R41915415930a42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0eb12236454527" /><Relationship Type="http://schemas.openxmlformats.org/officeDocument/2006/relationships/notesMaster" Target="/ppt/notesMasters/notesMaster1.xml" Id="R0b36ab6a7dfd46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4265982827467d" /><Relationship Type="http://schemas.openxmlformats.org/officeDocument/2006/relationships/notesMaster" Target="/ppt/notesMasters/notesMaster1.xml" Id="R503fe9312f9043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8305a488994558" /><Relationship Type="http://schemas.openxmlformats.org/officeDocument/2006/relationships/notesMaster" Target="/ppt/notesMasters/notesMaster1.xml" Id="Rcd54bacd06d342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f01af7a0e74d61" /><Relationship Type="http://schemas.openxmlformats.org/officeDocument/2006/relationships/notesMaster" Target="/ppt/notesMasters/notesMaster1.xml" Id="Rdeb69ddf4d684c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b1b805f5224df5" /><Relationship Type="http://schemas.openxmlformats.org/officeDocument/2006/relationships/notesMaster" Target="/ppt/notesMasters/notesMaster1.xml" Id="Rf547a5f9cfb348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cad654524f4e76" /><Relationship Type="http://schemas.openxmlformats.org/officeDocument/2006/relationships/notesMaster" Target="/ppt/notesMasters/notesMaster1.xml" Id="R34e6c5e63d0842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5a49d81fd14db6" /><Relationship Type="http://schemas.openxmlformats.org/officeDocument/2006/relationships/notesMaster" Target="/ppt/notesMasters/notesMaster1.xml" Id="R89fe081ae1c844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d767f9158f4a92" /><Relationship Type="http://schemas.openxmlformats.org/officeDocument/2006/relationships/notesMaster" Target="/ppt/notesMasters/notesMaster1.xml" Id="R0a4f878ba37645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cc6171c7ac4421" /><Relationship Type="http://schemas.openxmlformats.org/officeDocument/2006/relationships/notesMaster" Target="/ppt/notesMasters/notesMaster1.xml" Id="R6c8f7225b9fc4b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6f37703cb340fe" /><Relationship Type="http://schemas.openxmlformats.org/officeDocument/2006/relationships/notesMaster" Target="/ppt/notesMasters/notesMaster1.xml" Id="R4b89c4cfb1c647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本報告以保存的程式、設定、run config、summary 與 native viewer 診斷重建研究進度。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D:/UniLab/DEVELOPMENT_LOG.md</a:t>
            </a:r>
          </a:p>
          <a:p xmlns:a="http://schemas.openxmlformats.org/drawingml/2006/main">
            <a:r>
              <a:t>- D:/UniLab/logs/rsl_rl_ppo/*/run_config.json</a:t>
            </a:r>
          </a:p>
          <a:p xmlns:a="http://schemas.openxmlformats.org/drawingml/2006/main">
            <a:r>
              <a:t>- D:/UniLab/logs/rsl_rl_ppo/*/run_summary.json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進度重點是建立可靠實驗基礎與可追溯證據，而不是只報告最高 reward。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D:/UniLab/AGENTS.md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D:/UniLab/DEVELOPMENT_LOG.md</a:t>
            </a:r>
          </a:p>
          <a:p xmlns:a="http://schemas.openxmlformats.org/drawingml/2006/main">
            <a:r>
              <a:t>- D:/UniLab/AGENTS.md#Dexterous-Manipulation-Training-Guidance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D:/UniLab/conf/ppo/task/leap_inhand_ball_*/mujoco.yaml</a:t>
            </a:r>
          </a:p>
          <a:p xmlns:a="http://schemas.openxmlformats.org/drawingml/2006/main">
            <a:r>
              <a:t>- D:/UniLab/conf/ppo/task/leap_inhand_ball_*/motrix.yaml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D:/UniLab/src/unilab/envs/manipulation/leap_inhand/ball_grasp_gen.py</a:t>
            </a:r>
          </a:p>
          <a:p xmlns:a="http://schemas.openxmlformats.org/drawingml/2006/main">
            <a:r>
              <a:t>- D:/UniLab/src/unilab/assets/robots/leap_hand/caches/ball_grasp_official_50k.npy</a:t>
            </a:r>
          </a:p>
          <a:p xmlns:a="http://schemas.openxmlformats.org/drawingml/2006/main">
            <a:r>
              <a:t>- D:/UniLab/conf/ppo/task/leap_inhand_ball_grasp/mujoco.yaml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D:/UniLab/src/unilab/envs/manipulation/leap_inhand/cache_rotation.py</a:t>
            </a:r>
          </a:p>
          <a:p xmlns:a="http://schemas.openxmlformats.org/drawingml/2006/main">
            <a:r>
              <a:t>- D:/UniLab/src/unilab/envs/manipulation/leap_inhand/sustained_cache_rotation.py</a:t>
            </a:r>
          </a:p>
          <a:p xmlns:a="http://schemas.openxmlformats.org/drawingml/2006/main">
            <a:r>
              <a:t>- D:/UniLab/src/unilab/envs/manipulation/leap_inhand/finger_gaiting_rotation.py</a:t>
            </a:r>
          </a:p>
          <a:p xmlns:a="http://schemas.openxmlformats.org/drawingml/2006/main">
            <a:r>
              <a:t>- D:/UniLab/src/unilab/envs/manipulation/leap_inhand/direct_rotation.py</a:t>
            </a:r>
          </a:p>
          <a:p xmlns:a="http://schemas.openxmlformats.org/drawingml/2006/main">
            <a:r>
              <a:t>- D:/UniLab/src/unilab/envs/manipulation/leap_inhand/sustained_cache_gaiting_rotation.py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D:/UniLab/logs/rsl_rl_ppo/LeapInhandBallSustainedCacheRotation/*/run_config.json</a:t>
            </a:r>
          </a:p>
          <a:p xmlns:a="http://schemas.openxmlformats.org/drawingml/2006/main">
            <a:r>
              <a:t>- D:/UniLab/DEVELOPMENT_LOG.md:2244</a:t>
            </a:r>
          </a:p>
          <a:p xmlns:a="http://schemas.openxmlformats.org/drawingml/2006/main">
            <a:r>
              <a:t>- D:/UniLab/DEVELOPMENT_LOG.md:2297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D:/UniLab/logs/rsl_rl_ppo/LeapInhandBallSustainedCacheRotation/*/run_config.json</a:t>
            </a:r>
          </a:p>
          <a:p xmlns:a="http://schemas.openxmlformats.org/drawingml/2006/main">
            <a:r>
              <a:t>- D:/UniLab/conf/ppo/task/leap_inhand_ball_sustained_cache/mujoco.yaml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D:/UniLab/logs/rsl_rl_ppo/LeapInhandBallSustainedCacheRotation/2026-07-21_18-22-39_mujoco/events.out.tfevents.1784683360.沅霆.15996.0</a:t>
            </a:r>
          </a:p>
          <a:p xmlns:a="http://schemas.openxmlformats.org/drawingml/2006/main">
            <a:r>
              <a:t>- D:/UniLab/logs/rsl_rl_ppo/LeapInhandBallSustainedCacheRotation/2026-07-21_22-58-39_mujoco/events.out.tfevents.1784699921.沅霆.13112.0</a:t>
            </a:r>
          </a:p>
          <a:p xmlns:a="http://schemas.openxmlformats.org/drawingml/2006/main">
            <a:r>
              <a:t>- D:/UniLab/DEVELOPMENT_LOG.md:2297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D:/UniLab/src/unilab/envs/manipulation/leap_inhand/finger_gaiting_rotation.py</a:t>
            </a:r>
          </a:p>
          <a:p xmlns:a="http://schemas.openxmlformats.org/drawingml/2006/main">
            <a:r>
              <a:t>- D:/UniLab/conf/ppo/task/leap_inhand_ball_finger_gaiting/mujoco.yaml</a:t>
            </a:r>
          </a:p>
          <a:p xmlns:a="http://schemas.openxmlformats.org/drawingml/2006/main">
            <a:r>
              <a:t>- D:/UniLab/DEVELOPMENT_LOG.md:2385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D:/UniLab/logs/rsl_rl_ppo/LeapInhandBallFingerGaitingRotation/2026-07-22_15-47-22_mujoco/run_config.json</a:t>
            </a:r>
          </a:p>
          <a:p xmlns:a="http://schemas.openxmlformats.org/drawingml/2006/main">
            <a:r>
              <a:t>- D:/UniLab/logs/rsl_rl_ppo/LeapInhandBallFingerGaitingRotation/2026-07-22_15-47-22_mujoco/run_summary.json</a:t>
            </a:r>
          </a:p>
          <a:p xmlns:a="http://schemas.openxmlformats.org/drawingml/2006/main">
            <a:r>
              <a:t>- D:/UniLab/DEVELOPMENT_LOG.md:2624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D:/UniLab/conf/ppo/task/leap_inhand_ball_direct/mujoco.yaml</a:t>
            </a:r>
          </a:p>
          <a:p xmlns:a="http://schemas.openxmlformats.org/drawingml/2006/main">
            <a:r>
              <a:t>- D:/UniLab/src/unilab/envs/manipulation/leap_inhand/direct_rotation.py</a:t>
            </a:r>
          </a:p>
          <a:p xmlns:a="http://schemas.openxmlformats.org/drawingml/2006/main">
            <a:r>
              <a:t>- D:/UniLab/DEVELOPMENT_LOG.md:2620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D:/UniLab/logs/rsl_rl_ppo/LeapInhandBallDirectRotation/2026-07-22_21-27-39_mujoco/events.out.tfevents.1784780863.沅霆.41532.0</a:t>
            </a:r>
          </a:p>
          <a:p xmlns:a="http://schemas.openxmlformats.org/drawingml/2006/main">
            <a:r>
              <a:t>- D:/UniLab/logs/rsl_rl_ppo/LeapInhandBallDirectRotation/2026-07-22_21-27-39_mujoco/run_config.json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D:/UniLab/conf/ppo/task/leap_inhand_ball_cache_gaiting/mujoco.yaml</a:t>
            </a:r>
          </a:p>
          <a:p xmlns:a="http://schemas.openxmlformats.org/drawingml/2006/main">
            <a:r>
              <a:t>- D:/UniLab/logs/rsl_rl_ppo/LeapInhandBallCacheGaitingRotation/2026-07-27_12-26-57_mujoco/events.out.tfevents.1785180421.沅霆.36252.0</a:t>
            </a:r>
          </a:p>
          <a:p xmlns:a="http://schemas.openxmlformats.org/drawingml/2006/main">
            <a:r>
              <a:t>- D:/UniLab/logs/rsl_rl_ppo/LeapInhandBallCacheGaitingRotation/2026-07-27_12-26-57_mujoco/run_config.json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D:/UniLab/logs/rsl_rl_ppo/LeapInhandBallCacheRotation/*/run_config.json</a:t>
            </a:r>
          </a:p>
          <a:p xmlns:a="http://schemas.openxmlformats.org/drawingml/2006/main">
            <a:r>
              <a:t>- D:/UniLab/logs/rsl_rl_ppo/LeapInhandBallSustainedCacheRotation/*/run_config.json</a:t>
            </a:r>
          </a:p>
          <a:p xmlns:a="http://schemas.openxmlformats.org/drawingml/2006/main">
            <a:r>
              <a:t>- D:/UniLab/logs/rsl_rl_ppo/LeapInhandBallFingerGaitingRotation/*/run_config.json</a:t>
            </a:r>
          </a:p>
          <a:p xmlns:a="http://schemas.openxmlformats.org/drawingml/2006/main">
            <a:r>
              <a:t>- D:/UniLab/logs/rsl_rl_ppo/LeapInhandBallDirectRotation/*/run_config.json</a:t>
            </a:r>
          </a:p>
          <a:p xmlns:a="http://schemas.openxmlformats.org/drawingml/2006/main">
            <a:r>
              <a:t>- D:/UniLab/logs/rsl_rl_ppo/LeapInhandBallCacheGaitingRotation/*/run_config.json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收尾維持研究上的保守結論：目前已定位問題，但不宣稱 Cache Gaiting 已完成持續轉球。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D:/UniLab/AGENTS.md#Dexterous-Manipulation-Training-Guidance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e7c5cfed04a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61b274342141c5" /><Relationship Type="http://schemas.openxmlformats.org/officeDocument/2006/relationships/slideLayout" Target="/ppt/slideLayouts/slideLayout1.xml" Id="R5087fc8a902c4d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87fc8a902c4d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5241bca7f4be6" /><Relationship Type="http://schemas.openxmlformats.org/officeDocument/2006/relationships/notesSlide" Target="/ppt/notesSlides/notesSlide1.xml" Id="R71203f68067a4f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dd34bc9bb486b" /><Relationship Type="http://schemas.openxmlformats.org/officeDocument/2006/relationships/notesSlide" Target="/ppt/notesSlides/notesSlide2.xml" Id="R246379a1da0046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a9b5fd5c84efe" /><Relationship Type="http://schemas.openxmlformats.org/officeDocument/2006/relationships/notesSlide" Target="/ppt/notesSlides/notesSlide3.xml" Id="Ra1e8ea7786374a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b930aeda247f9" /><Relationship Type="http://schemas.openxmlformats.org/officeDocument/2006/relationships/notesSlide" Target="/ppt/notesSlides/notesSlide4.xml" Id="R749cbe56f13e46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84d863da24e05" /><Relationship Type="http://schemas.openxmlformats.org/officeDocument/2006/relationships/notesSlide" Target="/ppt/notesSlides/notesSlide5.xml" Id="R1806cf7e8c764b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1353de66b415b" /><Relationship Type="http://schemas.openxmlformats.org/officeDocument/2006/relationships/notesSlide" Target="/ppt/notesSlides/notesSlide6.xml" Id="Ra745956917c344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e29e759244d95" /><Relationship Type="http://schemas.openxmlformats.org/officeDocument/2006/relationships/notesSlide" Target="/ppt/notesSlides/notesSlide7.xml" Id="R59ef2fabf97342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43722a6ca4290" /><Relationship Type="http://schemas.openxmlformats.org/officeDocument/2006/relationships/notesSlide" Target="/ppt/notesSlides/notesSlide8.xml" Id="R2ff825af103647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497bb69bb4956" /><Relationship Type="http://schemas.openxmlformats.org/officeDocument/2006/relationships/notesSlide" Target="/ppt/notesSlides/notesSlide9.xml" Id="R55aaa068a62643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0a5f15b254d50" /><Relationship Type="http://schemas.openxmlformats.org/officeDocument/2006/relationships/notesSlide" Target="/ppt/notesSlides/notesSlide10.xml" Id="Ra6f01d062d3b43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72a05a5ee4c20" /><Relationship Type="http://schemas.openxmlformats.org/officeDocument/2006/relationships/notesSlide" Target="/ppt/notesSlides/notesSlide11.xml" Id="R73391bcb5d3a45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2e684e4f34910" /><Relationship Type="http://schemas.openxmlformats.org/officeDocument/2006/relationships/notesSlide" Target="/ppt/notesSlides/notesSlide12.xml" Id="Rbb258d644e084a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e817e5ce64aec" /><Relationship Type="http://schemas.openxmlformats.org/officeDocument/2006/relationships/notesSlide" Target="/ppt/notesSlides/notesSlide13.xml" Id="Ra3c24996e6254f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0e9ace8a94cc5" /><Relationship Type="http://schemas.openxmlformats.org/officeDocument/2006/relationships/notesSlide" Target="/ppt/notesSlides/notesSlide14.xml" Id="Rb5ee4faa4d9243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e774eaeb243e7" /><Relationship Type="http://schemas.openxmlformats.org/officeDocument/2006/relationships/notesSlide" Target="/ppt/notesSlides/notesSlide15.xml" Id="R443dccfbe1604e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0f8f94df64516" /><Relationship Type="http://schemas.openxmlformats.org/officeDocument/2006/relationships/notesSlide" Target="/ppt/notesSlides/notesSlide16.xml" Id="Rb28e5a89f88041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D8D3B-B52F-427F-A952-11761A34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UNILAB · DEXTEROUS MANIPULATION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A87B0-97E2-47BB-ACDA-36E7A733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477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LEAP Hand 靈巧操作</a:t>
            </a:r>
          </a:p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一個月研究進度報告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EA069-098D-4EFE-9B39-86642D13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從模型與物理整合、ball cache，到持續轉球與 finger gaiting 的實驗證據鏈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2C883-6870-45DD-BDC9-59EBF67B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71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D7B3C-A384-48DE-AE0D-3C844E1F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24050"/>
            <a:ext cx="1381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5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129C1-041D-4F92-B870-50A1D42D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9900"/>
            <a:ext cx="1381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個 cache 任務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13 次 reward 演變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33468-61AB-42C8-828F-E92ED855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報告期間：2026-07-13 至 2026-07-28</a:t>
            </a:r>
          </a:p>
        </p:txBody>
      </p:sp>
    </p:spTree>
    <p:extLst>
      <p:ext uri="{BB962C8B-B14F-4D97-AF65-F5344CB8AC3E}">
        <p14:creationId xmlns:p14="http://schemas.microsoft.com/office/powerpoint/2010/main" val="10436186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053EF2-C91E-461D-9D92-14F4C6B5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8DCA4-9B7E-45FF-9BD3-E18879A5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本月完成了從『能訓練』到『能診斷』的完整研究鏈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B2AF6-73AC-40AD-8336-FCB7D9DE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09076-3E6B-463F-AB8C-5D72C8E4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4BF6B-7C70-4A4E-9DF6-3D9D9627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9D2C0-C516-4314-906E-9A43D27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MuJoCo / Motrix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1F241-8CD6-41CF-A3F5-FA8E27E1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BD761-4306-4752-8BE2-ADE93E01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50k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06558-A436-4AF9-B4A8-571F71BA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LEAP 專用 ball grasp cache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D6876-07BF-4D68-9188-B2AA5A55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7A8F6-E40E-49D6-AE21-782FB69D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7B3F6-D7BD-4BF3-8F22-63AC397A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可獨立比較的 cache 任務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D152B-45CE-4CDE-B553-37461398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A45B1-2BB6-47CF-A459-4988AAE5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本月核心成果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27972-5B01-4707-8ED3-A1505E41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模型與物理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28E7C-B25E-4C7B-8F6D-2E62874F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匯入 LEAP、獨立 ball/cube asset、self-collision、相鄰 link contact excludes。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A0481-ABE9-474A-A9F9-EDC45D55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資料與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10F33-F036-471F-9D02-687594CB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辨識 cube cache 問題，建立 50k ball-specific cache，並保存每次 reset anchor。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46F1B-8453-4C8C-9927-3EDF89EB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00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研究方法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EFC09-4D8A-498A-AA8C-8667BFB8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由 checkpoint、metrics、viewer 與 RunId 驅動 reward / curriculum 的單變量診斷。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2CA77-6DDD-45B6-89BD-54ED35D5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目前尚未宣稱『持續轉球成功』；已明確定位 acquisition、retention 與 handoff 的先後關係。</a:t>
            </a:r>
          </a:p>
        </p:txBody>
      </p:sp>
    </p:spTree>
    <p:extLst>
      <p:ext uri="{BB962C8B-B14F-4D97-AF65-F5344CB8AC3E}">
        <p14:creationId xmlns:p14="http://schemas.microsoft.com/office/powerpoint/2010/main" val="1593319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9632D7-E9D3-4BD6-BD2E-6EB3189F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3C872-90FD-4228-B239-D5894301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兩週內完成平台建立，第二階段集中在持續轉球瓶頸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4A58B-4A81-459A-8013-EE59712F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781050" y="278130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1D5D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033F9-5800-4954-89EE-CFF719E7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08586-83DA-4CC7-9D95-B2065BD1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7/13–14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535D4-22A8-429D-9CFE-A1E238C0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環境與 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77D17-5DC4-49D1-AA1C-F859262F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Windows 11 安裝、MuJoCo smoke、Motrix training；定位 wgpu OOM render 問題。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F45B5-8382-41E0-9424-B152D8F5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BA167-5E9A-41A3-B5CF-45FF6A59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rPr>
              <a:t>7/14–17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2A13A-B874-444D-8A17-F1AEEC0A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LEAP 整合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6D36A-1835-428A-8ACB-1374FC0B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匯入手部模型與專用 ball/cube；建立 in-hand 與 toss 任務。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4B782-E013-4222-8141-211A030F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DBCF8-7BF8-498E-8E54-87BCDEAB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7/17–21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EF3E4-5E30-49C9-BC06-F25F7292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物理與 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936F3-B6F7-4086-AE5D-52645738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修正穿模、自碰撞與相鄰 link 接觸；生成 ball-specific 50k cache。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BB17D-D63D-4A48-BBC0-2FB3080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8A875-A324-4AAA-AA0C-2E611ED9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7/21–23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C4105-F047-4460-AC11-CA69DCC0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持續轉球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CD17A-8D10-4DF6-8F13-71BF940A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Sustained、retention、gaiting 與 direct 分支。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AD366-38F9-4AD8-A7E7-40C22E7B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D0346-A4A0-47BE-BE60-31F4B890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7/25–28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EEB5D5-C4DB-4F49-9088-18B3A724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簡化與整合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E4BBE9-FE95-471F-9E0F-575B1239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移除失效 shaping，形成 V3-A / V3-B 與 cache gaiting。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A6566-72BE-4DFC-941A-03E9C02E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研究策略：先以短程 smoke 驗證整合，再以小規模診斷確認方向，最後才投入長訓練。</a:t>
            </a:r>
          </a:p>
        </p:txBody>
      </p:sp>
    </p:spTree>
    <p:extLst>
      <p:ext uri="{BB962C8B-B14F-4D97-AF65-F5344CB8AC3E}">
        <p14:creationId xmlns:p14="http://schemas.microsoft.com/office/powerpoint/2010/main" val="12255751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A6F9D-FD8C-4F53-83F5-BF0546BB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F2D41-F143-4BD2-B9BE-06AB959A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雙 backend 已能訓練，但渲染可靠性不同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91DEF-5BFC-4A0F-AAF7-8FE133BE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2D0F3-354D-4904-AD32-0FF92D41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619EE-780C-4EBA-A28F-BF9FCE12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MuJoCo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C82CE-2C33-43E8-A160-4219EA9F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PPO smoke 與正式訓練可執行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官方 MuJoCo viewer 可逐 checkpoint 檢查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XML / contact / penetration 診斷較完整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成為目前主要研究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D602B-E861-47A6-B495-91BF7A7F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4A08D-0DAE-4382-9914-BD664860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rPr>
              <a:t>Motrix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D67E8-657A-4F0E-BB49-D28B506F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訓練與 interactive playback 可執行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Windows Intel Arc record 曾觸發 wgpu OOM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Vulkan / DX12 都出現 render channel 關閉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保留作雙 backend 合約與效能驗證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54EA0-953D-4CCE-8196-5F8ADCFF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決策：研究判斷以 MuJoCo viewer 為主；Motrix 不因影片輸出問題而被判定為物理或訓練失敗。</a:t>
            </a:r>
          </a:p>
        </p:txBody>
      </p:sp>
    </p:spTree>
    <p:extLst>
      <p:ext uri="{BB962C8B-B14F-4D97-AF65-F5344CB8AC3E}">
        <p14:creationId xmlns:p14="http://schemas.microsoft.com/office/powerpoint/2010/main" val="16312561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BFFB59-FDEB-4902-A624-2610CBAA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620A6-5BDD-44E0-927C-6A991569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Ball cache：從固定抓球 seed 生成 50k 個物理有效起點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0134F-D215-4E84-97D6-FA1A1B9F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2343150" y="2667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4495800" y="2667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6648450" y="2667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801100" y="2667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E134E-0D2E-468F-8C73-9F3F2B2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828800" cy="23812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188AF-6325-4846-BC35-B3B09CFB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  固定 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90EF2-BC05-4924-92C4-58BED7DB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52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以 grasp_seed_qpos 的 LEAP 抓球姿勢與球位置為中心；完全不讀 cube cache。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82C48-E70E-49A8-BC0F-92E1D27F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66875"/>
            <a:ext cx="1828800" cy="23812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FAE05-3919-4515-A027-B477437F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050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2  產生候選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43E99-820A-4D84-A0C6-548CE90F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57450"/>
            <a:ext cx="152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16 關節各自加入 ±0.10 rad 擾動，裁切到真實 joint limits；球位置不擾動。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78BBB-8732-4976-BA26-B38C43C0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66875"/>
            <a:ext cx="1828800" cy="23812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FF529-E0A0-494D-A451-EC601FEC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050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3  物理 settling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E8011-9D46-45D8-A098-A21F6092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152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候選進入 MuJoCo，以 PD 控制穩定 2.5 秒；前 0.5 秒為 warm-up。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F403A-56BF-4C9D-BA50-DD691D81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66875"/>
            <a:ext cx="1828800" cy="23812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09BFD-85BF-489E-911B-852E8EF9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050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4  品質閘門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1A400-33F7-4DCF-9A17-FD87E411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152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必須有拇指與至少兩指接觸，且滿足漂移、速度、work、表面間距與 1 mm 穿透門檻。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60A9F-62AC-4ED5-A66C-2BB21EAE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66875"/>
            <a:ext cx="1828800" cy="23812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5D3174-E341-4874-B6F3-133A417B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050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5  發布 cache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C5AD1-2368-47E5-A9DD-1319EF7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57450"/>
            <a:ext cx="152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以 float32 重建後再驗證，正規化 quaternion、量化去重，最後 atomic write 至 50k。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CEBF9-B27A-4B0E-9F2E-57CF91A9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每列資料 = 16 joint qpos + 3 ball position + 4 ball quaternion = 23 values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AFF4A-4F22-4788-8047-F2B2ED6D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Cache 是 reset-state prior：提供多樣、穩定且無明顯穿透的起點；它不包含 expert action，也不直接教 policy 如何轉球。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A5510B-71C7-49F3-9F7F-343F16B5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輸出：robots/leap_hand/caches/ball_grasp_official_50k.npy</a:t>
            </a:r>
          </a:p>
        </p:txBody>
      </p:sp>
    </p:spTree>
    <p:extLst>
      <p:ext uri="{BB962C8B-B14F-4D97-AF65-F5344CB8AC3E}">
        <p14:creationId xmlns:p14="http://schemas.microsoft.com/office/powerpoint/2010/main" val="20652151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FA53BF-85A7-4EFB-AD44-60278191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CA194-3F1D-4EBD-A257-8A9B117D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五個 cache 任務是分支實驗，不是單一路線版本升級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92F6A-8524-4C33-BDD6-0F0A3D31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2476500" y="20955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1047750" y="2876550"/>
            <a:ext cx="14287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2476500" y="2876550"/>
            <a:ext cx="171450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4191000" y="36195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4191000" y="44005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6191250" y="36195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6191250" y="44005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0F0F6-C0A1-4D13-87E0-CB25860B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266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80C08-90F8-4433-A8D9-781DAEA0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2877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4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LeapInhandBallRotation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BC3F1-CEFA-4AA6-8013-F73A8627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DE709-8BA9-40A3-B614-DBB5AEFF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ball_cache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1B749-3741-4508-B154-D53D7FCF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V1 reward + cache reset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621B7-8D84-4C11-AA8A-0EA8D7E0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2857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AC5A1-5CFC-4029-B483-B12AFCA0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SustainedRotation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D76BF-2A9C-42F8-AD2A-113D33EA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43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共同 curriculum 基礎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E4F9D-0BCB-4037-9F77-D41F2F1F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005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72675-BACD-4058-A144-594057BC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5624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sustained_cache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133B2-1476-4A42-ABA4-C52D0400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8768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retention / spin 主線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C00683-BB28-4986-8852-8977E2EB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72125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562C7-1459-4864-8F86-5204F1F3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70547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direct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6A35B-7D01-4DD6-B168-E7132CCC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9817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隔離 rotation acquisition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5E8625-A6FA-4590-BEEC-5905D154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005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EBACC-BEC0-4569-AE5D-26196DC2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5624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finger_gaiting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45DCCA-9472-41B9-85BB-EE0F4825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768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release / recontact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E808D7-EDB2-4868-BAF1-86E6270D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572125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17F7E6-DB4B-48AF-B258-9EC4C889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70547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cache_gaiting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8502DA-0735-4395-8106-F72CA7F5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9817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V3 reward × handoff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36B88F-8F10-48B0-AC04-231EEDAE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程式繼承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87EBCC-1F23-4FAC-9B7B-0DFD35AE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Direct ← Sustained Cache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Cache Gaiting ← Finger Gaiting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E151E0-1664-4BD8-9600-7984940A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Reward 交叉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79D7EE-6C73-4027-A375-D18085B9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219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Cache Gaiting 的環境沿用 handoff state machine，但 reward config 採 Sustained Cache 的 Allegro-style 簡化版本。</a:t>
            </a:r>
          </a:p>
        </p:txBody>
      </p:sp>
    </p:spTree>
    <p:extLst>
      <p:ext uri="{BB962C8B-B14F-4D97-AF65-F5344CB8AC3E}">
        <p14:creationId xmlns:p14="http://schemas.microsoft.com/office/powerpoint/2010/main" val="17053775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92670F-C962-463E-866E-25711DF7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55734-17A7-463C-ADBA-1F062F64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Cache S1–S6：從多階段 curriculum 轉向固定速度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E03A4-FF87-49D2-B81E-41C80CC0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22E5F-45CB-4845-9470-07E0717F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61255-B753-4F61-92C1-55DF6E10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C89C6-8148-478B-B292-C5CF455D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954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spin +1.5；retention +0.5；support +0.25；action -0.001；torque -0.005；work -0.05；failure -5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7E29C-DA7D-437E-A607-BA449148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430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2026-07-21_17-50-30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3ED9B-616E-4023-914B-EE3A496B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37E43-B9FC-4B16-9B9E-2A8F7EB0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288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A4F1E-AC01-4D24-9452-6EAA2458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431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 anchor_proximity 0.1，將 15–30 mm 灰色區拉回 cache anchor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13707-F91D-4501-963A-B900870B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907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2026-07-21_22-47-15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F24D6-361C-4C70-A45E-707777DC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3041F-12B3-43BE-B81A-D87DF213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765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F5DAC-EA74-4099-A298-2DDB3219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908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positive-spin retention floor 分 level：L0–2=0.5，L3–7=0.25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010F7-1827-49DE-A7C2-D4A65C61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384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2026-07-22_02-36-35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ED11F-C771-440B-9E0B-C8726F62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FEB3C-4D71-4DF5-BC71-278B99E4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242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C155A-9C37-4D10-8D2F-90292673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關閉 anchor；floor 全回 0.5；啟用 direct_spin_reward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FB6BDD-6AAB-405D-A163-29FEB0CB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861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2026-07-22_23-04-12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B54FD-8505-42F6-8C0A-1838A84A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2BD62-F6AC-4872-962A-A5A1AF58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719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34748-A07A-4FFE-8BF6-92E28F74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862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移除八階段，固定 0.30 rad/s；spin 3.0；retention floor 1.0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0B970-BF98-4B1C-BCF3-B525A1EC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338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2026-07-23_00-19-50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8C545-CF0C-42E0-B70F-810714C1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F791FC-EF08-4E41-97D2-C26DF6ED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8E1A1C-BFC1-4518-8BFC-F0F555EF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339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 spin_continuity -0.05，直接處理『轉幾秒後停止』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EEB50B-477B-4DEF-A23B-4F754B83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815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2026-07-23_02-11-05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EAC14D-C0D3-4B48-A251-446A3336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4953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1E6E0F-941E-4A40-92C3-B73BAEA1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第一代 · S1–S3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697C19-E21E-4D7D-A67B-F3692321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穩定抓球 → 慢速旋轉 → 提速；問題是 retention/support 可取代真正旋轉。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739D7E-180A-4AAD-B6D6-B25EE5BB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5105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35B8B9-3B01-4837-9504-EABE3C84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91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第二代 · S4–S6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5B117F-3CE5-43C6-B87E-6A141BE0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15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直接固定速度並增加 continuity；開始隔離『正向旋轉 acquisition』。</a:t>
            </a:r>
          </a:p>
        </p:txBody>
      </p:sp>
    </p:spTree>
    <p:extLst>
      <p:ext uri="{BB962C8B-B14F-4D97-AF65-F5344CB8AC3E}">
        <p14:creationId xmlns:p14="http://schemas.microsoft.com/office/powerpoint/2010/main" val="7220537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6F3C55-A538-4400-A6A3-8D15D4DA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1C897-8405-46D3-8E63-0791971A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Cache：S7 至 S13 收斂到 V3-A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81C55-202E-4B88-9C15-FDE43046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A5B23-28A0-4935-A13A-2848219B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C893E-2D74-4DAB-B1E7-980EADAC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84D3E-E394-4365-86B2-D112DA03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382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關閉舊 shaping；只保留 Allegro rotate +1.25；failure=0；掉落容許 10 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F2F84-EF5E-4321-AB3B-B52F55E5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8587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2026-07-23_03-57-44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4F9BB-761D-4BBB-A471-34BD255B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97E52-12E2-4EBC-9C6E-1B0DCD7D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95300-0470-4B8A-B501-49FA5840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8288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 obj_linvel -0.3，抑制整顆球平移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A1D97-7ABC-43A7-BDC1-CA3D0058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764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2026-07-23_15-34-09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339CA-D409-4608-9E58-32E0FD7C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8C474-F4AD-407D-AFDD-AA324DF2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050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55446-0A75-40F1-A087-137E084B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193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 position_error -5；workspace termination 放寬至 50 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D94D9-39CB-4278-B3E7-02168430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6697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2026-07-23_20-18-51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978C3-77EE-4362-A2C5-99C81F6C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01667-BF3E-405D-9E6C-6A82AF3E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4519B9-086E-4405-AC2F-CD508D23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099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rotate 依 base / index / middle 接觸分配：0.25 / 0.375 / 0.375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36FE5-A671-4D70-8C20-689BC4E0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575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2026-07-23_21-54-51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1A041-71B0-418A-ABED-6F32BDCE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7016F-9705-4B11-9EDA-50A58A44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2F16E8-1902-4E6E-830D-07C5E3A4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 support-pose 0.25、opposition-progress 0.20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19EAF-FAD8-46DE-88D4-0001B9F1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4807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2026-07-25_03-50-30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E5047-9D33-4291-96FA-E1798ADE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849140-313F-44A3-A0E4-A170CC26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5D888-F247-4C82-A7DD-2DF9E6BF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V3-A：移除手勢 shaping；position -5→-6；failure 0→-1；平方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CBDBA-83A5-4A4F-940B-5026D7C8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386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2026-07-26_23-27-56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9BCBCE-E71A-4A6D-9C03-C2CA8F43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79B7A-1242-45F3-9DA7-66F22200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672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55EA78-1938-4A90-AB49-E3C62796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815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目前版：V3-A + position-gated spin_continuity -0.05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3DBC14-E1B4-48C7-B1C1-C008B18B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2917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2026-07-27_00-36-25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343F7F-C6F7-424E-91B2-B64DDA93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目前公式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325D88-5454-4590-870F-A1AE9CCA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e=‖ball-anchor‖；p=clip(axis_speed/0.30,-1,1)；purity=exp(-(orth_speed/0.10)²)；gate=position_gate(e)²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910A1B-7C6B-4C2A-9661-BB38C832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rotate：正轉=1.25×0.30×clip(p,0,1)×purity×gate；反轉=1.25×0.30×clip(p,-1,0)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5073E6-49ED-45DC-9585-6ED7C836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388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reward=dt×(rotate-0.3‖v‖₁-6e-0.05×gate×(1-clip(p,0,1)))-1×failure；≤15 mm gate=1，&gt;50 mm 終止</a:t>
            </a:r>
          </a:p>
        </p:txBody>
      </p:sp>
    </p:spTree>
    <p:extLst>
      <p:ext uri="{BB962C8B-B14F-4D97-AF65-F5344CB8AC3E}">
        <p14:creationId xmlns:p14="http://schemas.microsoft.com/office/powerpoint/2010/main" val="7902911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4BE7C6-84CD-4357-861C-84847292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21E24-CF8B-423E-A58B-6828FEDA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Anchor proximity 改善位置維持，但沒有學會持續旋轉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26F39-7E09-48AB-A3DC-490AA8D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F6BFA-4D7E-4EBE-BFC0-8BD29881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Baseline  2026-07-21_18-22-39_mujoco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C1D0C-AD38-4E92-8DEE-3E30301C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RUN  Grey-zone  2026-07-21_22-58-39_mujoco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F1378-54F8-4E7C-B9E3-B9E41DEB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C41F6-B437-40EC-962A-066F29AF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Diagnosis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1C941-5984-4C3E-B3A4-A4D8B3C6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423FB-9210-42B3-B6C5-55555771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009FE-D976-4FC1-A32A-DE3762DB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C9447-CD6C-49BC-A32A-9ECCFD90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05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+ anchor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DD9F3-3C11-45AA-8E34-6A693258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234BC-BD01-4531-8EBB-1CCC9A3A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解讀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527FF-0636-468A-AAE7-C26075A4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BA0DC-53C7-41F5-A506-C788AC0F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anchor position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BA772-BBDC-4584-AD5C-80FDA345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D4DD8-4E0A-42B5-88BD-34E4DB80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23.35 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36488-1D96-42E8-8FEA-5F4E0B30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86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59AD2-045C-406F-A91A-325D489C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20.09 mm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9D585-F44D-4384-9981-74E2168D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400C0-B444-4B70-AE01-08411ED0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下降約 14%，球更接近 reset anchor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91805-62E4-4E3A-9911-DBA6FCBA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E4FD3-94DC-4949-BE36-CB9BD588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fingertip contacts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31048-639A-40AB-B31B-854CDA93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013597-832C-4302-BE4C-E92581FA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2.15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E8756-E217-41AD-A5E1-8D81A26B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C8AAA5-E522-4AB5-87AC-B24414A3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3.00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F4259-8ACF-41BD-9A14-C4A53D87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C71819-3067-4562-82F2-A2AF1179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接觸包覆增加，retention 更穩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64EBE0-DDBA-4DD9-AB33-9B53F246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51ED3C-612C-4434-8D19-EAB72277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stage-valid fraction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9E32EA-02FA-43DB-94DE-00AED5B6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87A3E-59E8-4009-AA01-176B2C1A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10.96%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0A102D-C699-42C7-B286-9BBC53E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4D4498-01D2-4A36-99D2-EA38C925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16.22%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BD1D4D-145C-45FE-8ADA-A662FFF5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1067C0-99FD-4EDF-AAE8-6B890310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有效狀態增加 5.26 個百分點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45E43A-FF71-4190-A054-C6B8E28A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B96D2F-3B19-4CE3-8AA1-2EA5BDFB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axis-speed EMA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22BB91-F46E-46B6-BBE0-CB9790DD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55A072-2DB5-4401-903C-EFEABD39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+0.010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054667-3E84-4129-85E0-B732EACA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6DE0F4-9B6D-4A1A-A5D6-3AC0F634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+0.013 rad/s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250B79-538A-400F-B5F7-DCD42F70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69B22D-7400-4BE6-A5B8-56C290DE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只小幅增加，仍遠低於目標速度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7CC7F9-06F7-43A4-A313-19F4BF4E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A8D3B9-4297-4A59-807A-441CDE30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≥2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329CBF-A36C-489F-9457-8B2DDCFE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18787F-2344-4A10-B945-668405C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0.45%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4DCFAE-C760-4092-811A-9E31CB0F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91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6CCEF0-7DAA-4558-B556-038C6154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2.16%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D86A84-C682-4622-8EAB-79D0DD32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9DDCCC-79C6-413C-B94B-45CFB4F3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短暫成功增加，但仍非常稀少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7C46D8-8C3D-44CC-B7F6-CF4CCABA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E29E8C-1489-44A7-AFFA-23BB9667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≥5 / 10 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2F6BE1-396C-49DC-AB0C-2DC6E684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A454CC-3243-44BB-BBB9-B9AFE874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0% / 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5CEF08-2C33-4B70-B1A8-37003279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67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61A877-500E-46DC-AB5F-1EDB6854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0% / 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4CA345-D878-4DBE-B27A-22FEAFA9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672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F36A5F-92BF-4C4E-92C1-778E8D63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沒有形成可持續旋轉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F62277-8161-4C83-8926-F9F66C7E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442855-687B-451B-8C92-FE721346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survival seconds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79F2C8-16F3-4B36-9442-7A011A8A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695D04-5D87-4F52-BEFA-75EA8594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3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13.11 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0DDBE91-5438-4367-80BD-0A27016E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43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A44DC4-8309-49B9-A204-1BF2EC27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3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12.78 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541FAB-DE9E-4F36-9453-AF364F89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435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8FD356-DE2B-4D90-8B7F-CFF28DD5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存活時間沒有改善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9E2B1F0-617F-4973-ADA4-5CDCA7C1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結論：anchor proximity 修補了 15–30 mm 灰色區，使球更靠近 anchor、接觸更多、短暫有效狀態增加；但沒有提供換指或長時間正向角速度，因此 rotation 仍未學會。</a:t>
            </a:r>
          </a:p>
        </p:txBody>
      </p:sp>
    </p:spTree>
    <p:extLst>
      <p:ext uri="{BB962C8B-B14F-4D97-AF65-F5344CB8AC3E}">
        <p14:creationId xmlns:p14="http://schemas.microsoft.com/office/powerpoint/2010/main" val="2508779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E25304-5398-4600-AEC7-C33F0896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01D35-81AC-459A-815C-E5D2B126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 Gaiting：用接觸換位避免旋轉提前停止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2301A-F904-4A16-99C9-603FE75E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62EA8-9C25-4313-B357-2899029D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觀察到的失敗序列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619250" y="23336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2318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47E0A-A18F-4480-85E7-8B92BA4D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53C6A-F694-4D2F-A092-CF874724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初始推球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238625" y="23336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2318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2957A-A15E-41FA-A274-041C48E5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D6E5F-E780-44CF-9106-B34CD4FA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短暫 +Z 旋轉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6858000" y="23336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2318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3FBE2-A7BC-4639-8176-9C036493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D895D-40BA-41B4-94F0-BE0C838A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接觸不更新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068F0-3B19-402E-9770-11B2F969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D93D4-27AA-4097-BA85-35895E90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角速度歸零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F5ACA-45A4-43CE-BAC8-C0C8191C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D5B2D-F20F-4954-8524-62C5FA13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新增 reward 與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CAA88-77D6-40F9-8541-057F0856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E8C64-3605-42D1-97CB-F1E1A27D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38862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3D020-F9F1-4BC5-BA0D-60326F13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Gaiting term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93303F-5A37-4051-8729-B6F986A1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39719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Weight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80AC5-1983-4177-9AD5-1E6DECF4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0695F-1961-4390-AF3A-A8A523A1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43434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95A96-86EF-49E9-8726-4ED0851A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stable_support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5C365-2927-4D5D-89BE-1012762A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44291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1C5881-BC69-44FF-A312-F05E30A5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BEC4BC-2D24-4A9D-9BF6-4E818135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48006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B4986A-1EC6-431A-81D5-63FDBC11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release_progress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292B83-4A26-4372-A8F8-350A7C39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48863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59615-2A75-42A0-AF9B-1442C0CD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CDE50-3664-4839-B766-FA7A5698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52578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8F5895-6452-4491-8F8A-92B8CA66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qualified_handoff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4B7CD9-9DF5-484F-B3CE-C2DA719F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53435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7F1769-665A-437F-A5D7-DFA0731D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Qualified handoff 必須同時滿足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274C9A-4076-4450-95C6-7A78F14F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624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• 單指 release 至少 2 control steps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• 其他至少 2 指持續接觸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• 球仍在 retention 範圍且無 palm contact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• 在 timeout 前 recontact，且速度恢復達標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BE0E97-90B8-4301-82E3-A7C72BA5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RUN  V1  12-19-14 / 12-36-43     V2  14-58-36 / 15-47-22</a:t>
            </a:r>
          </a:p>
        </p:txBody>
      </p:sp>
    </p:spTree>
    <p:extLst>
      <p:ext uri="{BB962C8B-B14F-4D97-AF65-F5344CB8AC3E}">
        <p14:creationId xmlns:p14="http://schemas.microsoft.com/office/powerpoint/2010/main" val="6517560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0C6477-EE31-4791-92F0-91987670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C47AA-103D-4B89-B11A-089B9141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 Gaiting 證明抓球不是瓶頸，正向旋轉才是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75DCB-A802-4A62-9C46-DF238E79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ED00D-6B80-4F46-8B3F-5DEB17E8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2026-07-22_15-47-22_mujoco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C5EB2-C5DE-417B-B729-C2698C31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97D51-2D87-43A0-AEDE-A154A834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22.33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20F83-4C20-4BD3-8FA6-F6A97D53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平均存活時間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0EA5A-8A9B-4FC5-ACF9-2B862741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8D2B2-21F0-4AAF-96ED-D08526B3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10.48 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92A13-3F56-4D0F-9C8E-57C961D6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平均 anchor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37F3F-C1B2-45B2-8E0A-705FE088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33146-89FE-4DC2-B3EE-CA36CDBD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2.12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956CC-BEB0-44C7-A44E-1A10A848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平均 fingertip contacts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BB06D-7629-4F68-9F11-F9EA5394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62C7B-09C5-4982-922A-F6F5B82E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0.055%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0F24F-ED14-4F82-A0CB-21E752F6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termination 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FC52E-186A-4264-80A4-2BD1E038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93AD2-2E02-430E-9EC4-053BE102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真正卡住的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BFC02-3215-4D22-BC6D-A653653D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Positive speed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466AB-4C3F-4821-A345-3AB97BFF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1.97%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E4415-E60E-42D1-80CE-B886ECE2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Qualified 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57216-F95B-414E-8550-EF2D870D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&lt; 0.11%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A4880-75FC-40E2-87E3-B836C488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2s / 5s / 10s success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6FA5E-21BA-4870-A8B6-5B42E15B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全部為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7EE1A-D117-415D-91F4-86BCD563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研究判斷：在 policy 尚未可靠取得正向旋轉前，強制 handoff 會讓探索問題更稀疏。</a:t>
            </a:r>
          </a:p>
        </p:txBody>
      </p:sp>
    </p:spTree>
    <p:extLst>
      <p:ext uri="{BB962C8B-B14F-4D97-AF65-F5344CB8AC3E}">
        <p14:creationId xmlns:p14="http://schemas.microsoft.com/office/powerpoint/2010/main" val="13644569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E815C14-CBD5-4150-AE34-E6490A3A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8C0C4-8A84-4D94-9283-3BCD039C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Direct 任務移除 handoff，隔離固定 +Z 旋轉 acquisition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8F9DE-2987-4752-A3FA-29299A5E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2E8A3-35AB-4B61-81DE-C9534C71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固定目標：world +Z · 0.30 rad/s · cache reset · 25 秒 episode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3099A-1132-48B5-B32F-FA5E7092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5AFCD-8BDD-4C9F-8A4F-4546EFC2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92549-1822-4628-B0E6-9C2B2CBC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Positive 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36488-FCD5-430F-BE21-AFE98777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954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Weight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6A2DF-5AE0-4984-8C54-B05FC5F7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01528-FC56-4B57-9665-072597C1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33FB5-39E6-4076-B363-EB147540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stable_rotation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3CB66-375D-4AC3-81D4-97EED227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526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+6.0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FC405-08F2-4BFF-B6AD-92D7CDD4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B0D85-2EEE-4034-994E-D92754D3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E7CC5-4DBF-4F8B-B171-97EFBA63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rotation_streak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CAE14-D6B0-4772-94DA-A90667F6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098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E6D9A-604E-42C1-B238-BBACE9C2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F3EDB-E3AB-4B4A-B2B6-F63B9A11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813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74CB3-066B-4C46-9FFD-C49CF8BD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thumb_contact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9F211-EFE7-4036-AF44-FCF47710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670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90EA5-9D64-4D57-B762-D35FD9D2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2BDD1-FAE6-4DB4-92B8-D570C9C3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662BB1-DF57-4DB7-8090-2E8A622D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fingertip_support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132907-AE44-421F-A650-216A0E6A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242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45E38-8292-41FA-83FF-A91A6057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8C9C90-B812-4811-8264-2D7E100A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95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F34C84-114C-4657-BE1F-D82B86BA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center_recovery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58639-9466-44F8-BBBE-366F1C9C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814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+1.0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83D27C-071F-4741-8FCB-684BA3A5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AD0516-48C9-440C-B263-19793617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18097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34DF9D-36C6-4F9C-A8D8-78C08F2C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954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Cost / penalty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6B3B11-2E9D-452C-9DE6-9CDD9023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18954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Weight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9BBA52-3ABF-41F6-B59E-FD6C4C5A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FC8186-C4CF-485E-88C4-9566F0D8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22669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0C7A72-CC1D-49F0-802D-C83B1BAB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526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F7DFBF-28EB-40BB-92A5-ADCFBEB2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23526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-1.0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13D359-DF8B-4CCD-95D3-D22A7789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35FE4E-E2E2-4CE0-A0F1-9279678A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27241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593ACD-94D1-4379-B0B9-104E8EC8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98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reverse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F93A01-9FAF-4786-BBD5-F88CADCF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28098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-4.0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3B0744-C6B7-4A6E-AFBF-1781FCBF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01EF4A-3BBB-43D5-9284-68245294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31813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082225-9EB5-4A3D-B789-58457758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670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object_center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C168F8-F8BB-401B-9237-BFB7D7CC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32670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-2.5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E883CB-F5E6-4610-B751-AAD43835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035C4C-E15E-48F0-95F2-26396376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36385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AD2D48-B9EB-4100-9CC9-3012A42E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242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object_linear_velocity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A1071B-FE72-4575-8A43-8B4E7CBB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37242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-0.4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423D35-28BD-4EB8-8D96-213BF433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B1C455-2C56-400A-969D-43CD1842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40957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1EBBFC-82AF-4C40-9F32-91CF3472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814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palm_contact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2B8DA2-5B89-4379-B2BD-2FA78DFB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41814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-1.0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5A8232-20E7-4B7F-9EC7-6C472446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529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A8A639-B9C7-4E37-B124-E3ACDEBD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45529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A4741E-D5D4-4A2C-81E0-8423D138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386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orthogonal_speed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63313C-FA70-42AC-A2F0-05A72553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46386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-0.25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3939F7-4526-47D9-B73C-99A53F71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01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F11FE9B-820D-4E57-A506-549C2321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50101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86A339-0B8E-4CE2-8409-FB215BAE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958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failure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69E5A7-FE9C-4D23-8BEE-73ED84A0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50958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-5.0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DFF98A-3B1C-40AE-B542-18C85F4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Direct 的 reward 尺度與其他任務不同；總 reward 只能在 Direct 自身的 checkpoints 間比較。</a:t>
            </a:r>
          </a:p>
        </p:txBody>
      </p:sp>
    </p:spTree>
    <p:extLst>
      <p:ext uri="{BB962C8B-B14F-4D97-AF65-F5344CB8AC3E}">
        <p14:creationId xmlns:p14="http://schemas.microsoft.com/office/powerpoint/2010/main" val="173383120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F5EC5E-03CB-4B17-896E-447133A7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1F13C-A549-4EE1-902D-63B554D3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Direct 學到正向旋轉，但尚未形成可持續動作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5328A-57C8-4958-A220-9A90EE86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A8DE4-143B-415F-AE20-477E22B1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2026-07-22_21-27-39_mujoco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EE754-35D2-4BEA-8868-EF2B07F0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旋轉 acquisition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DF936-8B11-448D-A41A-91A8A22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E7DF1-3652-4B30-A461-56C3C4F2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3431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4DF28-4036-4101-AE45-93BDD1E9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Task 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72A72-1938-495E-88E7-4DB35A3A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24288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Final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CF806-D1FA-4CEC-908E-18747D00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9FCA5-CA35-4450-A65C-6739766B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7813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24842-A6F3-40FF-B538-9C3102A8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目標 +Z 角速度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1D583-BD26-4E56-82B9-B08A7008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28670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0.300 rad/s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1CEF4-4E1E-48FA-8915-013817D0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B1007-AD29-4741-A252-08B3CD50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194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EA36B-5468-4546-AD95-178FB76C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實際 axis-speed 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38F64-3300-47BC-94FB-2B59908D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33051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+0.246 rad/s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71DC6-2B14-4F1C-98AA-7DAACB4C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B6A8A-A6C2-46D0-AA27-5BD8ADCA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576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2058B-488A-4F3A-A196-73047797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axis purity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1DE1A-7633-4EF6-989D-13C2C4EA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37433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84.3%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1E528A-159A-4B60-A791-6A43F750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43A21-F044-48A8-B4AF-DDF147A0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0957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E71AA-70F3-4DCC-9772-AC241EC3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平均 anchor 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02DC79-52E2-4BA8-A9B9-DC1194A9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41814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14.7 mm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725FE-37BF-4342-8247-93CF97D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82D06-0B22-44CB-9F83-2F352E23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5339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4D066E-4776-49A1-A8DB-1A63876D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平均 fingertip contacts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F75C5-DA7C-462C-A085-DFC1728C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46196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2.47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05C152-8FD9-4FCE-BD9C-7FAD96C9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B96C2-4578-4BEB-A2B8-F7D8ACC4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9720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95F5C4-2E38-419E-AC0E-601A280D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577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palm contact 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FB8EBC-60E5-4972-8EE0-148B9567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50577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DAD1DE-6F22-4201-A8F0-F6879396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持續性驗證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0976DB-89AD-4622-9A26-1EF781D3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D9CD7D-6149-433E-BE0F-5E34339E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0E4D5C-1615-47E0-8075-9B7C880F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Success gate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C994AB-D6E7-4BDF-ABB8-53681EBD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288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Observed fraction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38F7D3-A52C-43D0-B545-D84CEE75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1344AB-0CD6-4A1F-8F0F-5E24D7E0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0C8AA6-DBC5-4D8E-8064-29C4A2ED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670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連續旋轉 ≥ 2 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8763A1-B6F9-4F51-9D4C-B4D366CD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670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0.012%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DDEFAD-5913-41D1-B64D-4D65343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A63493-21E6-4108-8917-7EF6BA5E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6841DB-02AE-4298-96CD-E37769D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051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連續旋轉 ≥ 5 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44476E-95A3-4178-8F4F-D3391B92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051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B7D039-7793-4DD6-AD70-1A0F5F38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8AFC3C-0E79-4A60-A72C-527843B3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576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D28EAD-E007-4FBC-AF72-EF4567A2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433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連續旋轉 ≥ 10 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4EC068-1C99-4F11-A552-8A0C7C5D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433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FFFBD3-6D8A-4748-B9A5-644EECCA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936B4C-A63D-459A-81B0-D382FB6E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38F63A-918D-4B4F-9ECE-419E6374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814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natural handoff rate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DE1C6E-A29D-4B5D-8E81-B557C6E7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814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0.061%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6B748B-89AA-462E-99CD-8BA37D80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D1BC67-2732-490C-B4FB-67ACA71C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339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7E2CD4-8CF4-4CDE-B783-0EAFCEEC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final success fraction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2CF8EC-1EE1-4663-AC1A-DE79A5C5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196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0.061%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13405F-5092-492A-A2C4-8637F03C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結論：Direct 證明 policy 能取得正向 +Z 旋轉；但動作只能短暫維持，尚未學會換指銜接與多圈持續旋轉。</a:t>
            </a:r>
          </a:p>
        </p:txBody>
      </p:sp>
    </p:spTree>
    <p:extLst>
      <p:ext uri="{BB962C8B-B14F-4D97-AF65-F5344CB8AC3E}">
        <p14:creationId xmlns:p14="http://schemas.microsoft.com/office/powerpoint/2010/main" val="16625867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D30875-E5B9-412D-89B8-3D5BC739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A8F56-BE80-49C4-B7AA-1C550C27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Cache Gaiting：位置維持成功，但旋轉與換指仍未學會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3212A-596D-4FD2-BA38-C387BD9F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5192D-6A2D-4CB7-8D5D-AF5A53E2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6226A-2955-4522-B9D5-90F65864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1C38C-1651-40D9-ADA3-47DC5B05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簡化 rotation 主線，同時用 stable support、release progress 與 handoff bonus 主動引導換指。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問題：在尚未取得穩定旋轉前，gaiting shaping 增加探索負擔。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A6215-8274-44AE-8EBE-F45E42C4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RUN  2026-07-27_12-09-05_mujoco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481D2-8DC8-4BF9-AA33-EAA4804B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28750"/>
            <a:ext cx="4953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59F37-4DFB-4938-AC6C-0A1AE110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B3096-9A9D-40F7-BB75-864FEEB8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保留主 rotation 目標，但移除 stable / release shaping、降低 handoff 影響，限制只有三根非拇指可 release。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目的：先讓球轉起來，再要求換指。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35158-BB6C-45B5-9B39-AF026483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RUN  2026-07-27_12-26-57_mujoco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22C94-827E-429F-9E8C-82359B29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E3FA3-00F7-4008-94B7-E773DBCE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44767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94A34-1781-4E14-9435-FF2EFAA8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24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Latest task metric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F8F9D-6F53-427D-BBE4-6776A956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5624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Observed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C340A-D5E6-45A3-889A-929C47DB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64802-DE59-4205-B31B-A43F673C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47625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56E0F-D496-4FB3-AC90-3409613B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position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F0483-67B6-4ED7-8BC5-9AFCC7B4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8482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98.8%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6A7B7-1726-4085-A244-A8B75BB6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B5469-2575-4B88-93C7-379AF66E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0482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B1109-85F8-4F46-B06E-BEFC87DB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339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axis purity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D900A-5BA8-42D0-BF18-9E8D022F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1339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95.1%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282BC-D095-4578-99CD-641DF268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04AAF-18C8-4631-9724-344AF69A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3340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A9DC7-B6EA-4FA3-BD76-3EA02BA3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axis speed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6AE8C4-58C5-467A-8F70-D1EA8CEE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4197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+0.001 rad/s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101367-B873-4AB2-A771-3B692A11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C7A7DD-6D81-48D1-839A-8B6FCFBD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6197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612E7-6AC8-44A8-A7E9-45D50639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net turns / episode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5C3700-D57A-40DB-81F0-3DB44EAB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7054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0.0069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6A6828-2F30-4E35-AF9F-00854D76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A322FA-8D60-448B-9CDD-01B0B021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9055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ABDB6B-E547-4F61-B15F-0C67D05C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912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speed &gt; 0.10 rad/s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9D7F18-3CC8-4F17-AC5D-FA0F1DE1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9912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0.73%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6BA920-7162-4F9C-866C-EA43EDBE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2C7C37-B290-48FA-A2AC-863CC728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61912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E18E65-B8BA-493B-A5B6-99EB73DF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qualified handoff 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A8B19A-F0C8-444F-AA75-4EC67959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62769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0.006%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E777EE-7308-493E-B30A-C0533937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判斷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B60E47-7F5A-4E10-9478-8A1666FE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球大多留在正確位置，旋轉軸也乾淨；但幾乎沒有轉速與 handoff。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位置維持成功 ≠ 持續旋轉成功。</a:t>
            </a:r>
          </a:p>
        </p:txBody>
      </p:sp>
    </p:spTree>
    <p:extLst>
      <p:ext uri="{BB962C8B-B14F-4D97-AF65-F5344CB8AC3E}">
        <p14:creationId xmlns:p14="http://schemas.microsoft.com/office/powerpoint/2010/main" val="17631743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43A2CAA-36D8-444E-B526-49B46A71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7ECCF-402F-46F6-86FC-7346CA91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五個任務各自回答不同問題，不能只用 total reward 排名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35D0A-F235-45FD-9762-588ECDFC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4AB64-9645-43CF-8B6E-35173B22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7A3B3-7D49-4C36-AE74-4AC91F4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任務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DEC14-A94A-4DDF-B8F3-4AF1E9AA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486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90811-CCF9-41FC-9A43-A627ECB0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52575"/>
            <a:ext cx="2295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代表 RunId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E7BD9-D8A3-4C79-8E33-AE899F4E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252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239B3-B335-4AFD-9D1E-0A8D1919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525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主要問題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D4C26-DE00-46B7-9E03-4B1C089B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A9196-B2EE-4781-86CA-6CB4B407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52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可支持的結論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27AA6-2FE8-41E1-A9D7-7159F71B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E71E7-3B8B-4F2A-9947-78A6F86C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52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證據等級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AE952-35FB-4C6F-A0B5-8F205CE2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30B18-1E39-46EF-976A-999AB561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Ball 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EB12A-F131-41C3-813B-6D11DAF5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859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E3841-6731-4BFF-A6F0-F046D090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07-21_17-29-49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60F37-89C6-43CF-B409-057B0035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85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FA817-C8F7-4DF5-9433-2193677B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cache reset 是否成立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85F5F-E87D-42FF-8183-B34F7086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99940-BC63-494B-8CBB-C49D3090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整合可執行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E2CE9-FAF8-4A8F-B580-DB82D5DD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85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74B2F-C35E-4B23-A460-00B245D9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smoke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60C36-8B94-408D-8DD2-41E1EFF4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795D6-7D61-410C-B552-1B5A1E0A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Cache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C15660-A0F2-45B9-B287-2A98D05F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DDCA3-E751-401E-A3E1-4471FFD8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07-21_18-22-39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C526E-C66B-4C81-AD40-D43F247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38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21A45F-BD39-4C97-B374-3B680A68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527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多姿勢持續旋轉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3DD5BC-2D37-4C9B-B483-483C88D8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5F5D3C-1D3F-4F15-92C2-53D3FB83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正式 baseline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78D677-F65C-400B-928A-AC8D93CF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38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BD91ED-A5AB-44C3-85E7-4EFC57EB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999 iter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F1B9DE-867E-4C54-9E94-7ED5548D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7C01EA-1CB7-470A-BBDB-18D1409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Retention Grey-zone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9A467C-2D65-44A6-ACBD-A7D2C149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908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7DB306-E7EC-4049-BAB1-0E88073F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051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07-21_22-58-39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2C3AAD-35D4-4A90-BB44-D209B97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90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E31CDD-0C57-47FB-8878-8B4633B0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15–30 mm local optimum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85F8CA-D2A6-45F8-A55B-F2BF0593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570E9E-4223-41B5-9B46-4A05C1E2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位置維持改善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83FCD2-032F-49F1-80E8-6E2957B0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0C382A-7255-4F42-AE15-FC08BCDC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051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999 iter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1BEFEE-96A6-4552-8C60-2BEEC8DC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5FFDAA-EA74-4C35-8E7F-5836A8AD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 Gaiting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81EB1B-C98F-45AA-BF24-083EA508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08AB78-FA45-4A91-B917-84142EFB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576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07-22_15-47-22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B2FE18-BCA7-4502-833D-183D4846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43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C9C7D7-8153-49AF-9C43-D0473845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576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是否缺少換指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48E257-98B5-4E04-8907-07A9608B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4396DA-1B34-4D7E-B386-741097C2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正向速度才是瓶頸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406E37-407F-4D83-8BC7-D75C8F3E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43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B7378D-CBA9-4155-8BD9-B509CB50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576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100 iter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C8D0C6-6CBF-41C5-A174-4B48F15E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255C40-AF87-4D2B-ACD6-1027DA97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Direct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6EBF74-7086-42DA-AD6D-83C3F851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957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B5FF48-286A-4917-B8DE-74599991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07-22_21-27-39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A22ABA-3B8A-4BE3-94C1-A2344F7B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95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B569F3-ED0F-4A16-9D56-E27F2720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100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旋轉 acquisition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ADBD94-5027-497E-96E9-5F71DD08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C90F37-1464-400D-8796-5533C53F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降低稀疏性有效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42804B-31C7-4EEB-80B2-9663ECE3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128794-F53A-4D75-9EDD-C9A2754F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10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99 iter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568062-077D-46BF-9789-16F39966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8FA84C-9777-4D92-B1BB-45804C99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V3-A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638990A-EC82-4A65-AE6A-782CAE5D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0B9AC4-F647-4E0C-83EF-7C664FBA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625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07-27_00-36-25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1F4171-F914-4B03-88B3-EC1D5240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48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DCBF959-AB6F-49C1-81B2-17B6008C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62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簡化 reward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F0122BC-CE2B-421A-9858-D3BCE706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2D8535B-B405-46D9-A9BA-E50ECEF1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保留直接目標訊號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5B0F2E1-4BE3-45A6-B137-83E4A1B2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48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5F65BD0-7D89-41E9-BFEE-19AC818C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199 iter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7796788-326F-4FA2-91A2-CE0AEFD3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03FC1C-690C-4761-A0F9-7100C20F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Cache Gaiting V2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9B5677E-2532-498F-BA44-2638F7F7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006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169131E-0B60-4FD8-9E18-4DFC75B5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149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07-27_12-26-57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0BE223E-4FC0-4A5C-B23D-EFB26BFD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00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95A4F86-B5B2-4086-8502-39D7AFAA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149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受限 handoff 整合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526ECA-2064-4F14-8DA1-B590E81B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91AB96E-09B8-4FBB-AFE0-E2DD99A9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14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可完整存活；旋轉待驗證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7471E3D-80AB-4E22-89B4-912592DE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00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C547512-7772-46F1-A61D-DF20CF6F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14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299 iter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FFE9065-657E-4622-9CCA-CA9B9851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歷史 checkpoint 的正確 reward 來源是該 RunId 的 run_config.json，而不是今天的父 YAML。</a:t>
            </a:r>
          </a:p>
        </p:txBody>
      </p:sp>
    </p:spTree>
    <p:extLst>
      <p:ext uri="{BB962C8B-B14F-4D97-AF65-F5344CB8AC3E}">
        <p14:creationId xmlns:p14="http://schemas.microsoft.com/office/powerpoint/2010/main" val="187972862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B3751-3004-4B63-A802-9956C8AF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9798C-09FD-420C-AB11-B3DC6AE5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下一階段先證明能持續轉，再重新引入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39BC6-44D8-4A6F-8D13-DEF3E4A0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3BDB5-B1C0-43B8-820C-CAAE3516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本月得到的三個可靠結論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87D69-B80A-4266-B9F9-4417A484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334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  Ball-specific cache 與真實碰撞是有效訓練的必要前提。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2  Retention 改善不能代表持續旋轉；必須量測 signed axis speed 與 net angle。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3  Handoff 是長期必要技能，但在 rotation acquisition 尚未成立時強制加入會增加探索稀疏性。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5CEFA-B6EF-4A8B-801A-FC811A5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33387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06BB5-CDA8-437E-8A71-28C94BBB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下一步驗證順序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18409-9F73-4B8D-BEC0-F2583B23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352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01  固定 cache / seed 做 reward ablation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02  報告 axis-speed duration 與 net turns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03  用 viewer 排除 palm support / 穿模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04  只有 acquisition 穩定後才加入 handoff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05  至少三個 seeds 比較 success rate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06  最後才增加 domain randomization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4DD8D-EE73-49D4-81A6-B2E276C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成功標準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70770-BC76-44B7-8181-484A3C75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持續正向旋轉時間 · 多圈 net angle · 低 orthogonal speed · 不掉球 · 合格 handoff · 跨 seed 穩定</a:t>
            </a:r>
          </a:p>
        </p:txBody>
      </p:sp>
    </p:spTree>
    <p:extLst>
      <p:ext uri="{BB962C8B-B14F-4D97-AF65-F5344CB8AC3E}">
        <p14:creationId xmlns:p14="http://schemas.microsoft.com/office/powerpoint/2010/main" val="829446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2026-07-29T00:21:36.4460000Z</dcterms:created>
  <dcterms:modified xsi:type="dcterms:W3CDTF">2026-07-29T00:21:36.4460000Z</dcterms:modified>
</coreProperties>
</file>