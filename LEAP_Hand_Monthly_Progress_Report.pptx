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20" autoAdjust="0"/>
  </p:normalViewPr>
  <p:slideViewPr>
    <p:cSldViewPr snapToGrid="0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Final reward</c:v>
              </c:pt>
              <c:pt idx="1">
                <c:v>Best reward</c:v>
              </c:pt>
            </c:strLit>
          </c:cat>
          <c:val>
            <c:numLit>
              <c:formatCode>General</c:formatCode>
              <c:ptCount val="2"/>
              <c:pt idx="0">
                <c:v>5.1520000000000001</c:v>
              </c:pt>
              <c:pt idx="1">
                <c:v>7.0490000000000004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CDA-4173-9C05-6F967C5083F7}"/>
            </c:ext>
          </c:extLst>
        </c:ser>
        <c:ser>
          <c:idx val="1"/>
          <c:order val="1"/>
          <c:tx>
            <c:v>+ anchor proximity</c:v>
          </c:tx>
          <c:spPr>
            <a:solidFill>
              <a:srgbClr val="0478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Final reward</c:v>
              </c:pt>
              <c:pt idx="1">
                <c:v>Best reward</c:v>
              </c:pt>
            </c:strLit>
          </c:cat>
          <c:val>
            <c:numLit>
              <c:formatCode>General</c:formatCode>
              <c:ptCount val="2"/>
              <c:pt idx="0">
                <c:v>7.5540000000000003</c:v>
              </c:pt>
              <c:pt idx="1">
                <c:v>8.9649999999999999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CDA-4173-9C05-6F967C5083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9525">
              <a:solidFill>
                <a:srgbClr val="D1D5D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noFill/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本報告以保存的程式、設定、run config、summary 與 native viewer 診斷重建研究進度。</a:t>
            </a:r>
          </a:p>
          <a:p>
            <a:endParaRPr/>
          </a:p>
          <a:p>
            <a:r>
              <a:t>[Sources]</a:t>
            </a:r>
          </a:p>
          <a:p>
            <a:r>
              <a:t>- D:/UniLab/DEVELOPMENT_LOG.md</a:t>
            </a:r>
          </a:p>
          <a:p>
            <a:r>
              <a:t>- D:/UniLab/logs/rsl_rl_ppo/*/run_config.json</a:t>
            </a:r>
          </a:p>
          <a:p>
            <a:r>
              <a:t>- D:/UniLab/logs/rsl_rl_ppo/*/run_summary.json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進度重點是建立可靠實驗基礎與可追溯證據，而不是只報告最高 reward。</a:t>
            </a:r>
          </a:p>
          <a:p>
            <a:endParaRPr/>
          </a:p>
          <a:p>
            <a:r>
              <a:t>[Sources]</a:t>
            </a:r>
          </a:p>
          <a:p>
            <a:r>
              <a:t>- D:/UniLab/AGENTS.md</a:t>
            </a:r>
          </a:p>
          <a:p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D:/UniLab/DEVELOPMENT_LOG.md</a:t>
            </a:r>
          </a:p>
          <a:p>
            <a:r>
              <a:t>- D:/UniLab/AGENTS.md#Dexterous-Manipulation-Training-Guidance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D:/UniLab/conf/ppo/task/leap_inhand_ball_*/mujoco.yaml</a:t>
            </a:r>
          </a:p>
          <a:p>
            <a:r>
              <a:t>- D:/UniLab/conf/ppo/task/leap_inhand_ball_*/motrix.yaml</a:t>
            </a:r>
          </a:p>
          <a:p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D:/UniLab/src/unilab/assets/robots/leap_hand/leap_hand.xml</a:t>
            </a:r>
          </a:p>
          <a:p>
            <a:r>
              <a:t>- D:/UniLab/src/unilab/assets/robots/leap_hand/scene_ball.xml</a:t>
            </a:r>
          </a:p>
          <a:p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D:/UniLab/src/unilab/envs/manipulation/leap_inhand/ball_grasp_gen.py</a:t>
            </a:r>
          </a:p>
          <a:p>
            <a:r>
              <a:t>- D:/UniLab/src/unilab/assets/robots/leap_hand/caches/ball_grasp_official_50k.npy</a:t>
            </a:r>
          </a:p>
          <a:p>
            <a:r>
              <a:t>- D:/UniLab/conf/ppo/task/leap_inhand_ball_grasp/mujoco.yaml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D:/UniLab/src/unilab/envs/manipulation/leap_inhand/cache_rotation.py</a:t>
            </a:r>
          </a:p>
          <a:p>
            <a:r>
              <a:t>- D:/UniLab/src/unilab/envs/manipulation/leap_inhand/sustained_cache_rotation.py</a:t>
            </a:r>
          </a:p>
          <a:p>
            <a:r>
              <a:t>- D:/UniLab/src/unilab/envs/manipulation/leap_inhand/finger_gaiting_rotation.py</a:t>
            </a:r>
          </a:p>
          <a:p>
            <a:r>
              <a:t>- D:/UniLab/src/unilab/envs/manipulation/leap_inhand/direct_rotation.py</a:t>
            </a:r>
          </a:p>
          <a:p>
            <a:r>
              <a:t>- D:/UniLab/src/unilab/envs/manipulation/leap_inhand/sustained_cache_gaiting_rotation.py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D:/UniLab/conf/ppo/task/leap_inhand_ball_cache/mujoco.yaml</a:t>
            </a:r>
          </a:p>
          <a:p>
            <a:r>
              <a:t>- D:/UniLab/logs/rsl_rl_ppo/LeapInhandBallCacheRotation/2026-07-21_17-29-49_mujoco/run_config.json</a:t>
            </a:r>
          </a:p>
          <a:p>
            <a:r>
              <a:t>- D:/UniLab/logs/rsl_rl_ppo/LeapInhandBallCacheRotation/2026-07-21_17-29-49_mujoco/run_summary.json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D:/UniLab/logs/rsl_rl_ppo/LeapInhandBallSustainedCacheRotation/*/run_config.json</a:t>
            </a:r>
          </a:p>
          <a:p>
            <a:r>
              <a:t>- D:/UniLab/DEVELOPMENT_LOG.md:2244</a:t>
            </a:r>
          </a:p>
          <a:p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D:/UniLab/logs/rsl_rl_ppo/LeapInhandBallSustainedCacheRotation/*/run_config.json</a:t>
            </a:r>
          </a:p>
          <a:p>
            <a:r>
              <a:t>- D:/UniLab/conf/ppo/task/leap_inhand_ball_sustained_cache/mujoco.yaml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D:/UniLab/logs/rsl_rl_ppo/LeapInhandBallSustainedCacheRotation/2026-07-21_18-22-39_mujoco/run_summary.json</a:t>
            </a:r>
          </a:p>
          <a:p>
            <a:r>
              <a:t>- D:/UniLab/logs/rsl_rl_ppo/LeapInhandBallSustainedCacheRotation/2026-07-21_22-58-39_mujoco/run_summary.json</a:t>
            </a:r>
          </a:p>
          <a:p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D:/UniLab/src/unilab/envs/manipulation/leap_inhand/finger_gaiting_rotation.py</a:t>
            </a:r>
          </a:p>
          <a:p>
            <a:r>
              <a:t>- D:/UniLab/conf/ppo/task/leap_inhand_ball_finger_gaiting/mujoco.yaml</a:t>
            </a:r>
          </a:p>
          <a:p>
            <a:r>
              <a:t>- D:/UniLab/DEVELOPMENT_LOG.md:2385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D:/UniLab/logs/rsl_rl_ppo/LeapInhandBallFingerGaitingRotation/2026-07-22_15-47-22_mujoco/run_config.json</a:t>
            </a:r>
          </a:p>
          <a:p>
            <a:r>
              <a:t>- D:/UniLab/logs/rsl_rl_ppo/LeapInhandBallFingerGaitingRotation/2026-07-22_15-47-22_mujoco/run_summary.json</a:t>
            </a:r>
          </a:p>
          <a:p>
            <a:r>
              <a:t>- D:/UniLab/DEVELOPMENT_LOG.md:2624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D:/UniLab/conf/ppo/task/leap_inhand_ball_direct/mujoco.yaml</a:t>
            </a:r>
          </a:p>
          <a:p>
            <a:r>
              <a:t>- D:/UniLab/src/unilab/envs/manipulation/leap_inhand/direct_rotation.py</a:t>
            </a:r>
          </a:p>
          <a:p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D:/UniLab/logs/rsl_rl_ppo/LeapInhandBallDirectRotation/2026-07-22_21-27-39_mujoco/run_config.json</a:t>
            </a:r>
          </a:p>
          <a:p>
            <a:r>
              <a:t>- D:/UniLab/logs/rsl_rl_ppo/LeapInhandBallDirectRotation/2026-07-22_21-27-39_mujoco/run_summary.json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D:/UniLab/conf/ppo/task/leap_inhand_ball_cache_gaiting/mujoco.yaml</a:t>
            </a:r>
          </a:p>
          <a:p>
            <a:r>
              <a:t>- D:/UniLab/logs/rsl_rl_ppo/LeapInhandBallCacheGaitingRotation/2026-07-27_12-26-57_mujoco/run_config.json</a:t>
            </a:r>
          </a:p>
          <a:p>
            <a:r>
              <a:t>- D:/UniLab/logs/rsl_rl_ppo/LeapInhandBallCacheGaitingRotation/2026-07-27_12-26-57_mujoco/run_summary.json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D:/UniLab/logs/rsl_rl_ppo/LeapInhandBallCacheRotation/*/run_config.json</a:t>
            </a:r>
          </a:p>
          <a:p>
            <a:r>
              <a:t>- D:/UniLab/logs/rsl_rl_ppo/LeapInhandBallSustainedCacheRotation/*/run_config.json</a:t>
            </a:r>
          </a:p>
          <a:p>
            <a:r>
              <a:t>- D:/UniLab/logs/rsl_rl_ppo/LeapInhandBallFingerGaitingRotation/*/run_config.json</a:t>
            </a:r>
          </a:p>
          <a:p>
            <a:r>
              <a:t>- D:/UniLab/logs/rsl_rl_ppo/LeapInhandBallDirectRotation/*/run_config.json</a:t>
            </a:r>
          </a:p>
          <a:p>
            <a:r>
              <a:t>- D:/UniLab/logs/rsl_rl_ppo/LeapInhandBallCacheGaitingRotation/*/run_config.json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收尾維持研究上的保守結論：目前已定位問題，但不宣稱 Cache Gaiting 已完成持續轉球。</a:t>
            </a:r>
          </a:p>
          <a:p>
            <a:endParaRPr/>
          </a:p>
          <a:p>
            <a:r>
              <a:t>[Sources]</a:t>
            </a:r>
          </a:p>
          <a:p>
            <a:r>
              <a:t>- D:/UniLab/AGENTS.md#Dexterous-Manipulation-Training-Guidance</a:t>
            </a:r>
          </a:p>
          <a:p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C72FD4D-EDE2-4683-8EC1-7B647060944B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UNILAB · DEXTEROUS MANIPULATION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8EC4E7-0680-4113-817E-6B817FC0203E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8477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4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LEAP Hand 靈巧操作</a:t>
            </a:r>
          </a:p>
          <a:p>
            <a:pPr algn="l">
              <a:defRPr sz="4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一個月研究進度報告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44F229-35BD-456D-BB7F-C73D15537ABA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838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從模型與物理整合、ball cache，到持續轉球與 finger gaiting 的實驗證據鏈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22FF89-FF9B-4660-A326-90E5537CDAAD}"/>
              </a:ext>
            </a:extLst>
          </p:cNvPr>
          <p:cNvSpPr>
            <a:spLocks noGrp="1"/>
          </p:cNvSpPr>
          <p:nvPr/>
        </p:nvSpPr>
        <p:spPr>
          <a:xfrm>
            <a:off x="9620250" y="1619250"/>
            <a:ext cx="1714500" cy="2667000"/>
          </a:xfrm>
          <a:prstGeom prst="rect">
            <a:avLst/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6A4A4E-77CB-429A-A08F-3943A79DF376}"/>
              </a:ext>
            </a:extLst>
          </p:cNvPr>
          <p:cNvSpPr>
            <a:spLocks noGrp="1"/>
          </p:cNvSpPr>
          <p:nvPr/>
        </p:nvSpPr>
        <p:spPr>
          <a:xfrm>
            <a:off x="9782175" y="1924050"/>
            <a:ext cx="13811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55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E9C1F2-29B6-42F6-9B36-18029588E47A}"/>
              </a:ext>
            </a:extLst>
          </p:cNvPr>
          <p:cNvSpPr>
            <a:spLocks noGrp="1"/>
          </p:cNvSpPr>
          <p:nvPr/>
        </p:nvSpPr>
        <p:spPr>
          <a:xfrm>
            <a:off x="9791700" y="3009900"/>
            <a:ext cx="13811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個 cache 任務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13 次 reward 演變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EE8F0E-72D6-4BB0-BCCB-182197AE5884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報告期間：2026-07-13 至 2026-07-28</a:t>
            </a:r>
          </a:p>
        </p:txBody>
      </p:sp>
    </p:spTree>
    <p:extLst>
      <p:ext uri="{BB962C8B-B14F-4D97-AF65-F5344CB8AC3E}">
        <p14:creationId xmlns:p14="http://schemas.microsoft.com/office/powerpoint/2010/main" val="170379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B2732F6A-5549-45E6-BB5F-E61D15F308EF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1B6A02-4065-4D57-8269-43C2E78B3F8D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本月完成了從『能訓練』到『能診斷』的完整研究鏈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C6641E-458C-410F-B179-55F6F325DD5B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81C9F27-E39F-428C-AA26-14F173CA2CBA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FE3B25-8D13-414E-8F44-EE26D418D3B5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886996-D3DC-44BC-AED6-C26A8289D1E4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MuJoCo / Motrix backend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D59CA79-C2A3-438F-B247-D420D1AA844D}"/>
              </a:ext>
            </a:extLst>
          </p:cNvPr>
          <p:cNvSpPr>
            <a:spLocks noGrp="1"/>
          </p:cNvSpPr>
          <p:nvPr/>
        </p:nvSpPr>
        <p:spPr>
          <a:xfrm>
            <a:off x="4000500" y="16192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E4806B-8359-47D5-9685-0CAD9107C068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50k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9264C5-100F-440B-966F-D0C1039EB7DB}"/>
              </a:ext>
            </a:extLst>
          </p:cNvPr>
          <p:cNvSpPr>
            <a:spLocks noGrp="1"/>
          </p:cNvSpPr>
          <p:nvPr/>
        </p:nvSpPr>
        <p:spPr>
          <a:xfrm>
            <a:off x="4191000" y="24003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LEAP 專用 ball grasp cache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4171CE0-4D01-4F0F-9A6F-A1A01F4119F8}"/>
              </a:ext>
            </a:extLst>
          </p:cNvPr>
          <p:cNvSpPr>
            <a:spLocks noGrp="1"/>
          </p:cNvSpPr>
          <p:nvPr/>
        </p:nvSpPr>
        <p:spPr>
          <a:xfrm>
            <a:off x="7486650" y="16192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F5C352-4F1B-4B0A-8B95-5402CC6C19A9}"/>
              </a:ext>
            </a:extLst>
          </p:cNvPr>
          <p:cNvSpPr>
            <a:spLocks noGrp="1"/>
          </p:cNvSpPr>
          <p:nvPr/>
        </p:nvSpPr>
        <p:spPr>
          <a:xfrm>
            <a:off x="7677150" y="1809750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0D4F12-2AD1-4ADA-87AE-FE174648CB00}"/>
              </a:ext>
            </a:extLst>
          </p:cNvPr>
          <p:cNvSpPr>
            <a:spLocks noGrp="1"/>
          </p:cNvSpPr>
          <p:nvPr/>
        </p:nvSpPr>
        <p:spPr>
          <a:xfrm>
            <a:off x="7677150" y="24003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可獨立比較的 cache 任務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D443FA-1389-4AB7-8115-5D96FEA77F35}"/>
              </a:ext>
            </a:extLst>
          </p:cNvPr>
          <p:cNvSpPr>
            <a:spLocks noGrp="1"/>
          </p:cNvSpPr>
          <p:nvPr/>
        </p:nvSpPr>
        <p:spPr>
          <a:xfrm>
            <a:off x="514350" y="3476625"/>
            <a:ext cx="76200" cy="3238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D4D59B-50C6-4D7E-8FA7-9CEC86731A58}"/>
              </a:ext>
            </a:extLst>
          </p:cNvPr>
          <p:cNvSpPr>
            <a:spLocks noGrp="1"/>
          </p:cNvSpPr>
          <p:nvPr/>
        </p:nvSpPr>
        <p:spPr>
          <a:xfrm>
            <a:off x="742950" y="349567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本月核心成果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568830-B859-4F47-A377-ACB0267EF2C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模型與物理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F21D37-D533-4FC4-8966-EEC266CC35DE}"/>
              </a:ext>
            </a:extLst>
          </p:cNvPr>
          <p:cNvSpPr>
            <a:spLocks noGrp="1"/>
          </p:cNvSpPr>
          <p:nvPr/>
        </p:nvSpPr>
        <p:spPr>
          <a:xfrm>
            <a:off x="742950" y="44005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匯入 LEAP、獨立 ball/cube asset、self-collision、相鄰 link contact excludes。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A471B-237E-4D1E-AEEA-5291CB6B54D8}"/>
              </a:ext>
            </a:extLst>
          </p:cNvPr>
          <p:cNvSpPr>
            <a:spLocks noGrp="1"/>
          </p:cNvSpPr>
          <p:nvPr/>
        </p:nvSpPr>
        <p:spPr>
          <a:xfrm>
            <a:off x="4095750" y="4000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資料與 reset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913E20-4A77-4C78-8566-6AD20D64B2AD}"/>
              </a:ext>
            </a:extLst>
          </p:cNvPr>
          <p:cNvSpPr>
            <a:spLocks noGrp="1"/>
          </p:cNvSpPr>
          <p:nvPr/>
        </p:nvSpPr>
        <p:spPr>
          <a:xfrm>
            <a:off x="4095750" y="44005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辨識 cube cache 問題，建立 50k ball-specific cache，並保存每次 reset anchor。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F6D548-FDC0-4D71-90D1-AE9597D2A149}"/>
              </a:ext>
            </a:extLst>
          </p:cNvPr>
          <p:cNvSpPr>
            <a:spLocks noGrp="1"/>
          </p:cNvSpPr>
          <p:nvPr/>
        </p:nvSpPr>
        <p:spPr>
          <a:xfrm>
            <a:off x="7448550" y="4000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研究方法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1B5593-6314-4407-9290-9C3E9B0E15A8}"/>
              </a:ext>
            </a:extLst>
          </p:cNvPr>
          <p:cNvSpPr>
            <a:spLocks noGrp="1"/>
          </p:cNvSpPr>
          <p:nvPr/>
        </p:nvSpPr>
        <p:spPr>
          <a:xfrm>
            <a:off x="7448550" y="4400550"/>
            <a:ext cx="314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由 checkpoint、metrics、viewer 與 RunId 驅動 reward / curriculum 的單變量診斷。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65DA3BF-FD80-4AF1-B76E-69EF18827C4A}"/>
              </a:ext>
            </a:extLst>
          </p:cNvPr>
          <p:cNvSpPr>
            <a:spLocks noGrp="1"/>
          </p:cNvSpPr>
          <p:nvPr/>
        </p:nvSpPr>
        <p:spPr>
          <a:xfrm>
            <a:off x="514350" y="5829300"/>
            <a:ext cx="1076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目前尚未宣稱『持續轉球成功』；已明確定位 acquisition、retention 與 handoff 的先後關係。</a:t>
            </a:r>
          </a:p>
        </p:txBody>
      </p:sp>
    </p:spTree>
    <p:extLst>
      <p:ext uri="{BB962C8B-B14F-4D97-AF65-F5344CB8AC3E}">
        <p14:creationId xmlns:p14="http://schemas.microsoft.com/office/powerpoint/2010/main" val="100808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C30109B-61F0-4B09-AF1B-78E00447D32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CEFF11-71E9-419B-9F3F-F05D9413FB2B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兩週內完成平台建立，第二階段集中在持續轉球瓶頸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13222C-B82C-4A60-BB61-810905FA1424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cxnSp>
        <p:nvCxnSpPr>
          <p:cNvPr id="29" name="直線單箭頭接點 28"/>
          <p:cNvCxnSpPr/>
          <p:nvPr/>
        </p:nvCxnSpPr>
        <p:spPr>
          <a:xfrm>
            <a:off x="781050" y="2781300"/>
            <a:ext cx="10382250" cy="0"/>
          </a:xfrm>
          <a:prstGeom prst="straightConnector1">
            <a:avLst/>
          </a:prstGeom>
          <a:ln w="28575">
            <a:solidFill>
              <a:srgbClr val="D1D5DB"/>
            </a:solidFill>
            <a:prstDash val="solid"/>
          </a:ln>
        </p:spPr>
      </p:cxnSp>
      <p:sp>
        <p:nvSpPr>
          <p:cNvPr id="5" name="橢圓 4">
            <a:extLst>
              <a:ext uri="{FF2B5EF4-FFF2-40B4-BE49-F238E27FC236}">
                <a16:creationId xmlns:a16="http://schemas.microsoft.com/office/drawing/2014/main" id="{6E09249B-DBF3-4632-BAE9-CF1A16B8161D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B414C6-E5C2-4F5E-95FD-6CC7AC23427B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7/13–14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BD138A-7F76-4888-8ADC-7B61971D69A3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環境與 backend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8C6384-6EDB-41CF-A56C-0B85CA0CC520}"/>
              </a:ext>
            </a:extLst>
          </p:cNvPr>
          <p:cNvSpPr>
            <a:spLocks noGrp="1"/>
          </p:cNvSpPr>
          <p:nvPr/>
        </p:nvSpPr>
        <p:spPr>
          <a:xfrm>
            <a:off x="800100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833"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Windows 11 安裝、MuJoCo smoke、Motrix training；定位 wgpu OOM render 問題。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DBDDCFDA-BDFF-4BC2-AA80-11FC48EB8755}"/>
              </a:ext>
            </a:extLst>
          </p:cNvPr>
          <p:cNvSpPr>
            <a:spLocks noGrp="1"/>
          </p:cNvSpPr>
          <p:nvPr/>
        </p:nvSpPr>
        <p:spPr>
          <a:xfrm>
            <a:off x="3000375" y="2724150"/>
            <a:ext cx="114300" cy="114300"/>
          </a:xfrm>
          <a:prstGeom prst="ellipse">
            <a:avLst/>
          </a:prstGeom>
          <a:solidFill>
            <a:srgbClr val="0E749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604373-98EC-40C3-8323-BFD20897F7F4}"/>
              </a:ext>
            </a:extLst>
          </p:cNvPr>
          <p:cNvSpPr>
            <a:spLocks noGrp="1"/>
          </p:cNvSpPr>
          <p:nvPr/>
        </p:nvSpPr>
        <p:spPr>
          <a:xfrm>
            <a:off x="2924175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7/14–17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5C8A1-3EFC-457D-ABAF-515F90A067DB}"/>
              </a:ext>
            </a:extLst>
          </p:cNvPr>
          <p:cNvSpPr>
            <a:spLocks noGrp="1"/>
          </p:cNvSpPr>
          <p:nvPr/>
        </p:nvSpPr>
        <p:spPr>
          <a:xfrm>
            <a:off x="2924175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LEAP 整合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FC85EC-7C5D-41E6-90D0-78E27E41D2EE}"/>
              </a:ext>
            </a:extLst>
          </p:cNvPr>
          <p:cNvSpPr>
            <a:spLocks noGrp="1"/>
          </p:cNvSpPr>
          <p:nvPr/>
        </p:nvSpPr>
        <p:spPr>
          <a:xfrm>
            <a:off x="2924175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匯入手部模型與專用 ball/cube；建立 in-hand 與 toss 任務。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DF119039-4D72-4F34-9151-7BAD4FB90734}"/>
              </a:ext>
            </a:extLst>
          </p:cNvPr>
          <p:cNvSpPr>
            <a:spLocks noGrp="1"/>
          </p:cNvSpPr>
          <p:nvPr/>
        </p:nvSpPr>
        <p:spPr>
          <a:xfrm>
            <a:off x="5124450" y="2724150"/>
            <a:ext cx="114300" cy="114300"/>
          </a:xfrm>
          <a:prstGeom prst="ellipse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6F4D3F-37B3-4E30-8965-F18AF257EC89}"/>
              </a:ext>
            </a:extLst>
          </p:cNvPr>
          <p:cNvSpPr>
            <a:spLocks noGrp="1"/>
          </p:cNvSpPr>
          <p:nvPr/>
        </p:nvSpPr>
        <p:spPr>
          <a:xfrm>
            <a:off x="5048250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7/17–21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D8C4F1-90A0-4FCD-9D29-4025A362D915}"/>
              </a:ext>
            </a:extLst>
          </p:cNvPr>
          <p:cNvSpPr>
            <a:spLocks noGrp="1"/>
          </p:cNvSpPr>
          <p:nvPr/>
        </p:nvSpPr>
        <p:spPr>
          <a:xfrm>
            <a:off x="5048250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物理與 cache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3D7390-4004-41CB-B73F-C6D99D48862D}"/>
              </a:ext>
            </a:extLst>
          </p:cNvPr>
          <p:cNvSpPr>
            <a:spLocks noGrp="1"/>
          </p:cNvSpPr>
          <p:nvPr/>
        </p:nvSpPr>
        <p:spPr>
          <a:xfrm>
            <a:off x="5048250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修正穿模、自碰撞與相鄰 link 接觸；生成 ball-specific 50k cache。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D8CA0A18-404F-4971-93CD-5FA06E4CAB33}"/>
              </a:ext>
            </a:extLst>
          </p:cNvPr>
          <p:cNvSpPr>
            <a:spLocks noGrp="1"/>
          </p:cNvSpPr>
          <p:nvPr/>
        </p:nvSpPr>
        <p:spPr>
          <a:xfrm>
            <a:off x="7248525" y="2724150"/>
            <a:ext cx="114300" cy="11430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742712-8674-4DD4-AC05-7B1FD988117E}"/>
              </a:ext>
            </a:extLst>
          </p:cNvPr>
          <p:cNvSpPr>
            <a:spLocks noGrp="1"/>
          </p:cNvSpPr>
          <p:nvPr/>
        </p:nvSpPr>
        <p:spPr>
          <a:xfrm>
            <a:off x="7172325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7/21–23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B52AFC-7AB2-4736-83A9-CFA83A9634CB}"/>
              </a:ext>
            </a:extLst>
          </p:cNvPr>
          <p:cNvSpPr>
            <a:spLocks noGrp="1"/>
          </p:cNvSpPr>
          <p:nvPr/>
        </p:nvSpPr>
        <p:spPr>
          <a:xfrm>
            <a:off x="7172325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持續轉球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3A1883-329F-431B-82FF-8D49EF25D92C}"/>
              </a:ext>
            </a:extLst>
          </p:cNvPr>
          <p:cNvSpPr>
            <a:spLocks noGrp="1"/>
          </p:cNvSpPr>
          <p:nvPr/>
        </p:nvSpPr>
        <p:spPr>
          <a:xfrm>
            <a:off x="7172325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Sustained、retention、gaiting 與 direct 分支。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BB8A311F-674E-4800-96EC-C41F3DB214B0}"/>
              </a:ext>
            </a:extLst>
          </p:cNvPr>
          <p:cNvSpPr>
            <a:spLocks noGrp="1"/>
          </p:cNvSpPr>
          <p:nvPr/>
        </p:nvSpPr>
        <p:spPr>
          <a:xfrm>
            <a:off x="9372600" y="2724150"/>
            <a:ext cx="114300" cy="114300"/>
          </a:xfrm>
          <a:prstGeom prst="ellipse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FD5B4F-F75E-4B46-AAD6-C45C66E96C66}"/>
              </a:ext>
            </a:extLst>
          </p:cNvPr>
          <p:cNvSpPr>
            <a:spLocks noGrp="1"/>
          </p:cNvSpPr>
          <p:nvPr/>
        </p:nvSpPr>
        <p:spPr>
          <a:xfrm>
            <a:off x="9296400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7/25–28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4D39CB-80F7-4EE9-8B47-813A32667384}"/>
              </a:ext>
            </a:extLst>
          </p:cNvPr>
          <p:cNvSpPr>
            <a:spLocks noGrp="1"/>
          </p:cNvSpPr>
          <p:nvPr/>
        </p:nvSpPr>
        <p:spPr>
          <a:xfrm>
            <a:off x="9296400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簡化與整合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3883C9-44DA-44D6-86A9-AB5DDE6B9EAD}"/>
              </a:ext>
            </a:extLst>
          </p:cNvPr>
          <p:cNvSpPr>
            <a:spLocks noGrp="1"/>
          </p:cNvSpPr>
          <p:nvPr/>
        </p:nvSpPr>
        <p:spPr>
          <a:xfrm>
            <a:off x="9296400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移除失效 shaping，形成 V3-A / V3-B 與 cache gaiting。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E740F4-F98A-4D31-9DCD-B799D7359B34}"/>
              </a:ext>
            </a:extLst>
          </p:cNvPr>
          <p:cNvSpPr>
            <a:spLocks noGrp="1"/>
          </p:cNvSpPr>
          <p:nvPr/>
        </p:nvSpPr>
        <p:spPr>
          <a:xfrm>
            <a:off x="514350" y="5562600"/>
            <a:ext cx="1076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研究策略：先以短程 smoke 驗證整合，再以小規模診斷確認方向，最後才投入長訓練。</a:t>
            </a:r>
          </a:p>
        </p:txBody>
      </p:sp>
    </p:spTree>
    <p:extLst>
      <p:ext uri="{BB962C8B-B14F-4D97-AF65-F5344CB8AC3E}">
        <p14:creationId xmlns:p14="http://schemas.microsoft.com/office/powerpoint/2010/main" val="309309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D9BDBAE4-5469-4AFF-AD60-BC946A291B0D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8D6BC3-CC3F-4EEE-9EA5-4AF9620C71D7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雙 backend 已能訓練，但渲染可靠性不同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44AAA5-D189-461D-8292-82AB0F260B0B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A34CB2-5E10-49DC-A79F-E582AE87812E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4953000" cy="3619500"/>
          </a:xfrm>
          <a:prstGeom prst="rect">
            <a:avLst/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1CBD47-7A00-4340-96EF-0F9E0050E80E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MuJoCo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6FDCA1-819F-48F7-A7EA-47BA6C7D666B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4095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PPO smoke 與正式訓練可執行</a:t>
            </a:r>
          </a:p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官方 MuJoCo viewer 可逐 checkpoint 檢查</a:t>
            </a:r>
          </a:p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XML / contact / penetration 診斷較完整</a:t>
            </a:r>
          </a:p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成為目前主要研究 backend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B32D71-99F2-4735-B46B-C9471102075A}"/>
              </a:ext>
            </a:extLst>
          </p:cNvPr>
          <p:cNvSpPr>
            <a:spLocks noGrp="1"/>
          </p:cNvSpPr>
          <p:nvPr/>
        </p:nvSpPr>
        <p:spPr>
          <a:xfrm>
            <a:off x="5962650" y="1524000"/>
            <a:ext cx="4953000" cy="36195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7D2A0B-1B2A-47FF-914F-6D41A7865CAD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Motrix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680821-D5BC-4B75-87F0-03086B0EA03D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095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訓練與 interactive playback 可執行</a:t>
            </a:r>
          </a:p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Windows Intel Arc record 曾觸發 wgpu OOM</a:t>
            </a:r>
          </a:p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Vulkan / DX12 都出現 render channel 關閉</a:t>
            </a:r>
          </a:p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保留作雙 backend 合約與效能驗證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F5EC3A-085A-4EBE-9B6A-EB27B62DDF18}"/>
              </a:ext>
            </a:extLst>
          </p:cNvPr>
          <p:cNvSpPr>
            <a:spLocks noGrp="1"/>
          </p:cNvSpPr>
          <p:nvPr/>
        </p:nvSpPr>
        <p:spPr>
          <a:xfrm>
            <a:off x="514350" y="5638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決策：研究判斷以 MuJoCo viewer 為主；Motrix 不因影片輸出問題而被判定為物理或訓練失敗。</a:t>
            </a:r>
          </a:p>
        </p:txBody>
      </p:sp>
    </p:spTree>
    <p:extLst>
      <p:ext uri="{BB962C8B-B14F-4D97-AF65-F5344CB8AC3E}">
        <p14:creationId xmlns:p14="http://schemas.microsoft.com/office/powerpoint/2010/main" val="372957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67B69E6-C10A-48C2-95E5-01BF05E03CAE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934536-E8B5-429F-A4C5-B335CBDFBFED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LEAP 模型先滿足真實碰撞，再談 reward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0A9C50-ABA1-4B0B-87EC-58C7D124B721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402B4F-479B-4714-9B6F-818B1A82EDCA}"/>
              </a:ext>
            </a:extLst>
          </p:cNvPr>
          <p:cNvSpPr>
            <a:spLocks noGrp="1"/>
          </p:cNvSpPr>
          <p:nvPr/>
        </p:nvSpPr>
        <p:spPr>
          <a:xfrm>
            <a:off x="514350" y="1476375"/>
            <a:ext cx="76200" cy="3238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441F38-B7BD-4A9C-93CA-530D03358030}"/>
              </a:ext>
            </a:extLst>
          </p:cNvPr>
          <p:cNvSpPr>
            <a:spLocks noGrp="1"/>
          </p:cNvSpPr>
          <p:nvPr/>
        </p:nvSpPr>
        <p:spPr>
          <a:xfrm>
            <a:off x="742950" y="149542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資產與控制契約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980F0B-1F59-48A7-A680-72B403B333CE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16 DoF LEAP Hand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C49EC2-504A-4A28-95C1-DF0DF544452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原始 joint limit、position-target action、PD 控制與 ±0.5 N·m actuator limit。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EA11BD-2B50-4E8E-BCCD-0A9581A8DD0B}"/>
              </a:ext>
            </a:extLst>
          </p:cNvPr>
          <p:cNvSpPr>
            <a:spLocks noGrp="1"/>
          </p:cNvSpPr>
          <p:nvPr/>
        </p:nvSpPr>
        <p:spPr>
          <a:xfrm>
            <a:off x="4095750" y="1981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LEAP 專用物件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9EA3C1-528D-4DF2-92A6-988403C57081}"/>
              </a:ext>
            </a:extLst>
          </p:cNvPr>
          <p:cNvSpPr>
            <a:spLocks noGrp="1"/>
          </p:cNvSpPr>
          <p:nvPr/>
        </p:nvSpPr>
        <p:spPr>
          <a:xfrm>
            <a:off x="4095750" y="23812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獨立 scene_ball.xml / cube asset，避免沿用 Allegro 的物件與 reset 假設。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B178C6-B216-4913-ABB9-0728D435EE45}"/>
              </a:ext>
            </a:extLst>
          </p:cNvPr>
          <p:cNvSpPr>
            <a:spLocks noGrp="1"/>
          </p:cNvSpPr>
          <p:nvPr/>
        </p:nvSpPr>
        <p:spPr>
          <a:xfrm>
            <a:off x="7448550" y="1981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雙 backend owner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87B2B-5F0B-4F38-ABA8-905FAE651FFE}"/>
              </a:ext>
            </a:extLst>
          </p:cNvPr>
          <p:cNvSpPr>
            <a:spLocks noGrp="1"/>
          </p:cNvSpPr>
          <p:nvPr/>
        </p:nvSpPr>
        <p:spPr>
          <a:xfrm>
            <a:off x="7448550" y="23812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MuJoCo / Motrix 差異留在 owner YAML 與 backend adapter，不污染 task 邏輯。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8D7133-6502-4EFF-8B3E-9F5665A61873}"/>
              </a:ext>
            </a:extLst>
          </p:cNvPr>
          <p:cNvSpPr>
            <a:spLocks noGrp="1"/>
          </p:cNvSpPr>
          <p:nvPr/>
        </p:nvSpPr>
        <p:spPr>
          <a:xfrm>
            <a:off x="514350" y="3695700"/>
            <a:ext cx="76200" cy="323850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F342A4-77A3-4278-9FC4-172877AFE89E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碰撞修正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7BA6F3-0EFC-4E9B-B285-AB72E67F868C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Self-collision 啟用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E46975-713F-4F5E-9A25-7AD61E25F48A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阻止拇指與其他非相鄰 link 穿透手掌。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0272B1-3AE2-4CF3-BF52-2716DC54534E}"/>
              </a:ext>
            </a:extLst>
          </p:cNvPr>
          <p:cNvSpPr>
            <a:spLocks noGrp="1"/>
          </p:cNvSpPr>
          <p:nvPr/>
        </p:nvSpPr>
        <p:spPr>
          <a:xfrm>
            <a:off x="4095750" y="42100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16 組 parent-child excludes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C315A2-5481-4F1E-9580-B37141561541}"/>
              </a:ext>
            </a:extLst>
          </p:cNvPr>
          <p:cNvSpPr>
            <a:spLocks noGrp="1"/>
          </p:cNvSpPr>
          <p:nvPr/>
        </p:nvSpPr>
        <p:spPr>
          <a:xfrm>
            <a:off x="4095750" y="45720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只排除機械上直接相連 link 的接合處互撞。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A3E842-BF6F-4979-9D7F-C5C1A3CDD007}"/>
              </a:ext>
            </a:extLst>
          </p:cNvPr>
          <p:cNvSpPr>
            <a:spLocks noGrp="1"/>
          </p:cNvSpPr>
          <p:nvPr/>
        </p:nvSpPr>
        <p:spPr>
          <a:xfrm>
            <a:off x="7448550" y="42100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 mm penetration filter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DC860A-DE4A-465F-96E0-F487346418AC}"/>
              </a:ext>
            </a:extLst>
          </p:cNvPr>
          <p:cNvSpPr>
            <a:spLocks noGrp="1"/>
          </p:cNvSpPr>
          <p:nvPr/>
        </p:nvSpPr>
        <p:spPr>
          <a:xfrm>
            <a:off x="7448550" y="45720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cache generator 不保存超過門檻的手部或物件穿透姿勢。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88FAD2-6C51-4345-8EFE-078723644687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原則：不能讓 RL 以穿模、錯誤 joint limit 或虛假 actuator 能力取得 reward。</a:t>
            </a:r>
          </a:p>
        </p:txBody>
      </p:sp>
    </p:spTree>
    <p:extLst>
      <p:ext uri="{BB962C8B-B14F-4D97-AF65-F5344CB8AC3E}">
        <p14:creationId xmlns:p14="http://schemas.microsoft.com/office/powerpoint/2010/main" val="208878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33C0680-1B7F-46EC-AFBF-D4762357AC5D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F688EA-D3BD-4CE1-9D53-169327AFBC31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從 cube cache 出發會把錯誤初始姿勢帶進轉球任務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70229F-4114-4405-A509-4D82615A6F17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cxnSp>
        <p:nvCxnSpPr>
          <p:cNvPr id="24" name="直線單箭頭接點 23"/>
          <p:cNvCxnSpPr/>
          <p:nvPr/>
        </p:nvCxnSpPr>
        <p:spPr>
          <a:xfrm>
            <a:off x="2609850" y="2905125"/>
            <a:ext cx="866775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</a:ln>
        </p:spPr>
      </p:cxnSp>
      <p:cxnSp>
        <p:nvCxnSpPr>
          <p:cNvPr id="25" name="直線單箭頭接點 24"/>
          <p:cNvCxnSpPr/>
          <p:nvPr/>
        </p:nvCxnSpPr>
        <p:spPr>
          <a:xfrm>
            <a:off x="5572125" y="2905125"/>
            <a:ext cx="866775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</a:ln>
        </p:spPr>
      </p:cxnSp>
      <p:cxnSp>
        <p:nvCxnSpPr>
          <p:cNvPr id="26" name="直線單箭頭接點 25"/>
          <p:cNvCxnSpPr/>
          <p:nvPr/>
        </p:nvCxnSpPr>
        <p:spPr>
          <a:xfrm>
            <a:off x="8534400" y="2905125"/>
            <a:ext cx="866775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</a:ln>
        </p:spPr>
      </p:cxn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1BCDBAA-BF21-4304-ABC8-118391C043E9}"/>
              </a:ext>
            </a:extLst>
          </p:cNvPr>
          <p:cNvSpPr>
            <a:spLocks noGrp="1"/>
          </p:cNvSpPr>
          <p:nvPr/>
        </p:nvSpPr>
        <p:spPr>
          <a:xfrm>
            <a:off x="514350" y="1952625"/>
            <a:ext cx="2095500" cy="2095500"/>
          </a:xfrm>
          <a:prstGeom prst="roundRect">
            <a:avLst>
              <a:gd name="adj" fmla="val 3636"/>
            </a:avLst>
          </a:prstGeom>
          <a:solidFill>
            <a:srgbClr val="FEE4E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B80F24-B569-4F94-AFCC-5A0104C932B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cube cache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483B9F-928B-4E45-A81A-6065C6AA683E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7526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尺寸接近但接觸拓撲不同；容易形成張手、掌心支撐或初始穿透。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57CE12E-B5F2-4C78-B99F-5CCE0518EDF7}"/>
              </a:ext>
            </a:extLst>
          </p:cNvPr>
          <p:cNvSpPr>
            <a:spLocks noGrp="1"/>
          </p:cNvSpPr>
          <p:nvPr/>
        </p:nvSpPr>
        <p:spPr>
          <a:xfrm>
            <a:off x="3476625" y="1952625"/>
            <a:ext cx="2095500" cy="209550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DF9C24-4ACC-40B4-A92B-72A6E6F4871A}"/>
              </a:ext>
            </a:extLst>
          </p:cNvPr>
          <p:cNvSpPr>
            <a:spLocks noGrp="1"/>
          </p:cNvSpPr>
          <p:nvPr/>
        </p:nvSpPr>
        <p:spPr>
          <a:xfrm>
            <a:off x="3648075" y="217170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canonical pose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33CD9B-CD5F-476A-94C6-D52E9DE8CC17}"/>
              </a:ext>
            </a:extLst>
          </p:cNvPr>
          <p:cNvSpPr>
            <a:spLocks noGrp="1"/>
          </p:cNvSpPr>
          <p:nvPr/>
        </p:nvSpPr>
        <p:spPr>
          <a:xfrm>
            <a:off x="3648075" y="2724150"/>
            <a:ext cx="17526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改由 LEAP 官方 canonical hand pose 產生候選，不再讀 cube cache。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AEF178D-35C3-4624-88A5-409E47EB9CC1}"/>
              </a:ext>
            </a:extLst>
          </p:cNvPr>
          <p:cNvSpPr>
            <a:spLocks noGrp="1"/>
          </p:cNvSpPr>
          <p:nvPr/>
        </p:nvSpPr>
        <p:spPr>
          <a:xfrm>
            <a:off x="6438900" y="1952625"/>
            <a:ext cx="2095500" cy="209550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0AB3AD-C0C0-46BC-B289-9866DD997167}"/>
              </a:ext>
            </a:extLst>
          </p:cNvPr>
          <p:cNvSpPr>
            <a:spLocks noGrp="1"/>
          </p:cNvSpPr>
          <p:nvPr/>
        </p:nvSpPr>
        <p:spPr>
          <a:xfrm>
            <a:off x="6610350" y="217170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品質篩選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FCBAA5-08AA-4C12-929F-17BCA341E405}"/>
              </a:ext>
            </a:extLst>
          </p:cNvPr>
          <p:cNvSpPr>
            <a:spLocks noGrp="1"/>
          </p:cNvSpPr>
          <p:nvPr/>
        </p:nvSpPr>
        <p:spPr>
          <a:xfrm>
            <a:off x="6610350" y="2724150"/>
            <a:ext cx="17526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拇指接觸、至少兩指接觸、穩定度與 1 mm 穿透門檻。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A05D716-10F9-4F3D-B85E-3D4D1252955D}"/>
              </a:ext>
            </a:extLst>
          </p:cNvPr>
          <p:cNvSpPr>
            <a:spLocks noGrp="1"/>
          </p:cNvSpPr>
          <p:nvPr/>
        </p:nvSpPr>
        <p:spPr>
          <a:xfrm>
            <a:off x="9401175" y="1952625"/>
            <a:ext cx="2095500" cy="209550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087F77-4240-4249-974E-966015261C94}"/>
              </a:ext>
            </a:extLst>
          </p:cNvPr>
          <p:cNvSpPr>
            <a:spLocks noGrp="1"/>
          </p:cNvSpPr>
          <p:nvPr/>
        </p:nvSpPr>
        <p:spPr>
          <a:xfrm>
            <a:off x="9572625" y="217170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official 50k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5FF6BD-BC2B-4FCD-85B3-EDCB8794BDBA}"/>
              </a:ext>
            </a:extLst>
          </p:cNvPr>
          <p:cNvSpPr>
            <a:spLocks noGrp="1"/>
          </p:cNvSpPr>
          <p:nvPr/>
        </p:nvSpPr>
        <p:spPr>
          <a:xfrm>
            <a:off x="9572625" y="2724150"/>
            <a:ext cx="17526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50k ball-specific states，成為五個研究任務的共同 reset prior。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6FDE16-EBED-4D3F-A1FC-955882BA5119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是 reset-state prior，不是 expert demonstration；它提供多樣且物理有效的起點，但不教 policy 如何轉球。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1F7BFE-197F-441E-B0F1-1BA95F977FBB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共同 cache：robots/leap_hand/caches/ball_grasp_official_50k.npy</a:t>
            </a:r>
          </a:p>
        </p:txBody>
      </p:sp>
    </p:spTree>
    <p:extLst>
      <p:ext uri="{BB962C8B-B14F-4D97-AF65-F5344CB8AC3E}">
        <p14:creationId xmlns:p14="http://schemas.microsoft.com/office/powerpoint/2010/main" val="191550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C2B09AE5-F5DC-40B7-9113-9BB38907FA0D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90EA7-0AEE-428C-A6C4-4E112955D9EC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五個</a:t>
            </a:r>
            <a:r>
              <a:rPr sz="2850" b="1" dirty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 cache </a:t>
            </a:r>
            <a:r>
              <a:rPr sz="285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任務是分支實驗，不是單一路線版本升級</a:t>
            </a:r>
            <a:endParaRPr sz="285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855C33-98A8-499B-BB14-593A6304EF2B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cxnSp>
        <p:nvCxnSpPr>
          <p:cNvPr id="42" name="直線單箭頭接點 41"/>
          <p:cNvCxnSpPr>
            <a:cxnSpLocks/>
          </p:cNvCxnSpPr>
          <p:nvPr/>
        </p:nvCxnSpPr>
        <p:spPr>
          <a:xfrm>
            <a:off x="2705292" y="2550890"/>
            <a:ext cx="0" cy="1098948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1856CC0-FBC2-474D-8FA4-DA408D928A52}"/>
              </a:ext>
            </a:extLst>
          </p:cNvPr>
          <p:cNvSpPr>
            <a:spLocks noGrp="1"/>
          </p:cNvSpPr>
          <p:nvPr/>
        </p:nvSpPr>
        <p:spPr>
          <a:xfrm>
            <a:off x="1514666" y="1354755"/>
            <a:ext cx="2775035" cy="1045341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4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038088-5A7C-4E77-BA50-126898451275}"/>
              </a:ext>
            </a:extLst>
          </p:cNvPr>
          <p:cNvSpPr>
            <a:spLocks noGrp="1"/>
          </p:cNvSpPr>
          <p:nvPr/>
        </p:nvSpPr>
        <p:spPr>
          <a:xfrm>
            <a:off x="1724216" y="1516680"/>
            <a:ext cx="2286629" cy="375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b="1" dirty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B</a:t>
            </a:r>
            <a:r>
              <a:rPr sz="1600" b="1" dirty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all</a:t>
            </a:r>
            <a:r>
              <a:rPr lang="en-US" sz="1600" b="1" dirty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 C</a:t>
            </a:r>
            <a:r>
              <a:rPr sz="1600" b="1" dirty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ache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E019AC-C889-42FB-A190-275E5C17CCCF}"/>
              </a:ext>
            </a:extLst>
          </p:cNvPr>
          <p:cNvSpPr>
            <a:spLocks noGrp="1"/>
          </p:cNvSpPr>
          <p:nvPr/>
        </p:nvSpPr>
        <p:spPr>
          <a:xfrm>
            <a:off x="1724216" y="1831006"/>
            <a:ext cx="2286629" cy="268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Training with cache verified</a:t>
            </a:r>
            <a:endParaRPr sz="1600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C6E1661-F801-42E2-B9AA-9381085153A5}"/>
              </a:ext>
            </a:extLst>
          </p:cNvPr>
          <p:cNvSpPr>
            <a:spLocks noGrp="1"/>
          </p:cNvSpPr>
          <p:nvPr/>
        </p:nvSpPr>
        <p:spPr>
          <a:xfrm>
            <a:off x="1514666" y="2550889"/>
            <a:ext cx="2775035" cy="1045341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4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396E8E-5461-4E37-A06A-0CFB41AE46D0}"/>
              </a:ext>
            </a:extLst>
          </p:cNvPr>
          <p:cNvSpPr>
            <a:spLocks noGrp="1"/>
          </p:cNvSpPr>
          <p:nvPr/>
        </p:nvSpPr>
        <p:spPr>
          <a:xfrm>
            <a:off x="1724216" y="2712814"/>
            <a:ext cx="2286629" cy="375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b="1" dirty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S</a:t>
            </a:r>
            <a:r>
              <a:rPr sz="1600" b="1" dirty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ustained</a:t>
            </a:r>
            <a:r>
              <a:rPr lang="en-US" sz="1600" b="1" dirty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 C</a:t>
            </a:r>
            <a:r>
              <a:rPr sz="1600" b="1" dirty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ache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95DEA3-D42A-4484-8553-C341294AA880}"/>
              </a:ext>
            </a:extLst>
          </p:cNvPr>
          <p:cNvSpPr>
            <a:spLocks noGrp="1"/>
          </p:cNvSpPr>
          <p:nvPr/>
        </p:nvSpPr>
        <p:spPr>
          <a:xfrm>
            <a:off x="1724216" y="3027140"/>
            <a:ext cx="2286629" cy="268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Spin within constraint</a:t>
            </a:r>
            <a:endParaRPr sz="1600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9F2C7F6-55FA-4125-BC9E-86A56A6031D0}"/>
              </a:ext>
            </a:extLst>
          </p:cNvPr>
          <p:cNvSpPr>
            <a:spLocks noGrp="1"/>
          </p:cNvSpPr>
          <p:nvPr/>
        </p:nvSpPr>
        <p:spPr>
          <a:xfrm>
            <a:off x="5477055" y="2550889"/>
            <a:ext cx="2775032" cy="1043152"/>
          </a:xfrm>
          <a:prstGeom prst="roundRect">
            <a:avLst>
              <a:gd name="adj" fmla="val 11765"/>
            </a:avLst>
          </a:prstGeom>
          <a:solidFill>
            <a:srgbClr val="FEE4E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4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8B790B-991D-4F71-A80A-316648725184}"/>
              </a:ext>
            </a:extLst>
          </p:cNvPr>
          <p:cNvSpPr>
            <a:spLocks noGrp="1"/>
          </p:cNvSpPr>
          <p:nvPr/>
        </p:nvSpPr>
        <p:spPr>
          <a:xfrm>
            <a:off x="5686603" y="2703288"/>
            <a:ext cx="2286629" cy="348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b="1" dirty="0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D</a:t>
            </a:r>
            <a:r>
              <a:rPr sz="1600" b="1" dirty="0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irect</a:t>
            </a:r>
            <a:r>
              <a:rPr lang="zh-TW" altLang="en-US" sz="1600" b="1" dirty="0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altLang="zh-TW" sz="1600" b="1" dirty="0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Rotation</a:t>
            </a:r>
            <a:endParaRPr sz="1600" b="1" dirty="0">
              <a:solidFill>
                <a:srgbClr val="B4231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40AD04-AE3F-4D6E-864B-E09C27F8F6D7}"/>
              </a:ext>
            </a:extLst>
          </p:cNvPr>
          <p:cNvSpPr>
            <a:spLocks noGrp="1"/>
          </p:cNvSpPr>
          <p:nvPr/>
        </p:nvSpPr>
        <p:spPr>
          <a:xfrm>
            <a:off x="5686603" y="2979513"/>
            <a:ext cx="2286629" cy="2412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Pure rotation reward</a:t>
            </a:r>
            <a:endParaRPr sz="1600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664FC19-69BB-4419-AAEC-78EA7BEDDBF6}"/>
              </a:ext>
            </a:extLst>
          </p:cNvPr>
          <p:cNvSpPr>
            <a:spLocks noGrp="1"/>
          </p:cNvSpPr>
          <p:nvPr/>
        </p:nvSpPr>
        <p:spPr>
          <a:xfrm>
            <a:off x="1514666" y="4678980"/>
            <a:ext cx="2775035" cy="1045341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4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1A5330-0A40-48DB-9A82-F907A07FF3B6}"/>
              </a:ext>
            </a:extLst>
          </p:cNvPr>
          <p:cNvSpPr>
            <a:spLocks noGrp="1"/>
          </p:cNvSpPr>
          <p:nvPr/>
        </p:nvSpPr>
        <p:spPr>
          <a:xfrm>
            <a:off x="1724216" y="4840905"/>
            <a:ext cx="2286629" cy="375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b="1" dirty="0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F</a:t>
            </a:r>
            <a:r>
              <a:rPr sz="1600" b="1" dirty="0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inger</a:t>
            </a:r>
            <a:r>
              <a:rPr lang="en-US" sz="1600" b="1" dirty="0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 G</a:t>
            </a:r>
            <a:r>
              <a:rPr sz="1600" b="1" dirty="0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aiting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C58C24-E2A2-48DE-8A7E-C5A7081A7F5F}"/>
              </a:ext>
            </a:extLst>
          </p:cNvPr>
          <p:cNvSpPr>
            <a:spLocks noGrp="1"/>
          </p:cNvSpPr>
          <p:nvPr/>
        </p:nvSpPr>
        <p:spPr>
          <a:xfrm>
            <a:off x="1724216" y="5155231"/>
            <a:ext cx="2286629" cy="268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Release and contact</a:t>
            </a:r>
            <a:endParaRPr sz="1600" b="0" dirty="0">
              <a:solidFill>
                <a:srgbClr val="5B647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8C2E559E-A72C-4F2A-806C-564FF6B2A024}"/>
              </a:ext>
            </a:extLst>
          </p:cNvPr>
          <p:cNvSpPr>
            <a:spLocks noGrp="1"/>
          </p:cNvSpPr>
          <p:nvPr/>
        </p:nvSpPr>
        <p:spPr>
          <a:xfrm>
            <a:off x="5477055" y="4680537"/>
            <a:ext cx="2775032" cy="1043152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4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3B36D6-9910-4C2E-9E6D-7843ECA69536}"/>
              </a:ext>
            </a:extLst>
          </p:cNvPr>
          <p:cNvSpPr>
            <a:spLocks noGrp="1"/>
          </p:cNvSpPr>
          <p:nvPr/>
        </p:nvSpPr>
        <p:spPr>
          <a:xfrm>
            <a:off x="5686603" y="4907580"/>
            <a:ext cx="2286629" cy="348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600" b="1" dirty="0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C</a:t>
            </a:r>
            <a:r>
              <a:rPr sz="1600" b="1" dirty="0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ache</a:t>
            </a:r>
            <a:r>
              <a:rPr lang="en-US" sz="1600" b="1" dirty="0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 G</a:t>
            </a:r>
            <a:r>
              <a:rPr sz="1600" b="1" dirty="0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aiting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F5369C-6FE3-46A3-B844-37B8284B1AA1}"/>
              </a:ext>
            </a:extLst>
          </p:cNvPr>
          <p:cNvSpPr>
            <a:spLocks noGrp="1"/>
          </p:cNvSpPr>
          <p:nvPr/>
        </p:nvSpPr>
        <p:spPr>
          <a:xfrm>
            <a:off x="5686603" y="5183805"/>
            <a:ext cx="2286629" cy="2412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V3 reward × handoff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7689F9-040F-4408-A43A-B3156CE5F413}"/>
              </a:ext>
            </a:extLst>
          </p:cNvPr>
          <p:cNvSpPr>
            <a:spLocks noGrp="1"/>
          </p:cNvSpPr>
          <p:nvPr/>
        </p:nvSpPr>
        <p:spPr>
          <a:xfrm>
            <a:off x="9239250" y="176212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程式繼承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BA63346-F445-4807-ACE1-24A8911BE5CD}"/>
              </a:ext>
            </a:extLst>
          </p:cNvPr>
          <p:cNvSpPr>
            <a:spLocks noGrp="1"/>
          </p:cNvSpPr>
          <p:nvPr/>
        </p:nvSpPr>
        <p:spPr>
          <a:xfrm>
            <a:off x="9239250" y="220980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Direct ← Sustained Cache</a:t>
            </a:r>
          </a:p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Cache Gaiting ← Finger Gaiting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4B0071-15C5-4D71-B8FB-E78F2288B5F1}"/>
              </a:ext>
            </a:extLst>
          </p:cNvPr>
          <p:cNvSpPr>
            <a:spLocks noGrp="1"/>
          </p:cNvSpPr>
          <p:nvPr/>
        </p:nvSpPr>
        <p:spPr>
          <a:xfrm>
            <a:off x="9239250" y="33909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Reward 交叉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2B49F25-84CC-414C-943B-5586616C37B3}"/>
              </a:ext>
            </a:extLst>
          </p:cNvPr>
          <p:cNvSpPr>
            <a:spLocks noGrp="1"/>
          </p:cNvSpPr>
          <p:nvPr/>
        </p:nvSpPr>
        <p:spPr>
          <a:xfrm>
            <a:off x="9239250" y="3829050"/>
            <a:ext cx="2190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Cache Gaiting 的環境沿用 handoff state machine，但 reward config 採 Sustained Cache 的 Allegro-style 簡化版本。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EC7E8C2-5021-FF0A-3AAC-866791E91613}"/>
              </a:ext>
            </a:extLst>
          </p:cNvPr>
          <p:cNvCxnSpPr>
            <a:cxnSpLocks/>
            <a:stCxn id="19" idx="2"/>
            <a:endCxn id="25" idx="0"/>
          </p:cNvCxnSpPr>
          <p:nvPr/>
        </p:nvCxnSpPr>
        <p:spPr>
          <a:xfrm>
            <a:off x="2902184" y="3596230"/>
            <a:ext cx="0" cy="10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9A8507B-C12F-27FB-F148-CACB863AA251}"/>
              </a:ext>
            </a:extLst>
          </p:cNvPr>
          <p:cNvCxnSpPr>
            <a:cxnSpLocks/>
            <a:stCxn id="19" idx="3"/>
            <a:endCxn id="28" idx="0"/>
          </p:cNvCxnSpPr>
          <p:nvPr/>
        </p:nvCxnSpPr>
        <p:spPr>
          <a:xfrm>
            <a:off x="4289701" y="3073560"/>
            <a:ext cx="2574870" cy="1606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CDF2C5D-FF78-6C9B-6300-26ECE513F3F4}"/>
              </a:ext>
            </a:extLst>
          </p:cNvPr>
          <p:cNvCxnSpPr>
            <a:stCxn id="13" idx="2"/>
            <a:endCxn id="19" idx="0"/>
          </p:cNvCxnSpPr>
          <p:nvPr/>
        </p:nvCxnSpPr>
        <p:spPr>
          <a:xfrm>
            <a:off x="2902184" y="2400096"/>
            <a:ext cx="0" cy="150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F49F5A7A-B821-4877-C7BC-AA53DA21D1BF}"/>
              </a:ext>
            </a:extLst>
          </p:cNvPr>
          <p:cNvSpPr txBox="1"/>
          <p:nvPr/>
        </p:nvSpPr>
        <p:spPr>
          <a:xfrm>
            <a:off x="4289701" y="3807985"/>
            <a:ext cx="31298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/>
              <a:t>Provide simplified rotation foundation</a:t>
            </a:r>
            <a:endParaRPr lang="zh-TW" altLang="en-US" sz="22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7E0C404A-D5F9-2216-2F50-8D730726C810}"/>
              </a:ext>
            </a:extLst>
          </p:cNvPr>
          <p:cNvSpPr txBox="1"/>
          <p:nvPr/>
        </p:nvSpPr>
        <p:spPr>
          <a:xfrm>
            <a:off x="1936642" y="3827639"/>
            <a:ext cx="23530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/>
              <a:t>Add finger gaiting mechanism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80088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2B83F6FF-EC70-480F-A0CE-EEDCDDA32402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00974A-D6A9-4C12-B3F7-3E188DCBC603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Ball Cache 是最小變更 baseline：只替換 reset 來源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834367-43B4-4111-8C5A-229623489BE1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560BDF-947B-4B66-8F0B-4FDDAC0D55A9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2026-07-21_17-29-49_mujoco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028E7A-1E6A-46CB-8772-03A49F508E21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1A8195-B156-43B5-873A-1374B08896C7}"/>
              </a:ext>
            </a:extLst>
          </p:cNvPr>
          <p:cNvSpPr>
            <a:spLocks noGrp="1"/>
          </p:cNvSpPr>
          <p:nvPr/>
        </p:nvSpPr>
        <p:spPr>
          <a:xfrm>
            <a:off x="514350" y="2266950"/>
            <a:ext cx="438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保留原始 leap_inhand_ball reward，只把固定 home pose 換成 50k ball cache，確認 reset contract 是否成立。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C32346-AFB5-4937-BC2E-E03957696D23}"/>
              </a:ext>
            </a:extLst>
          </p:cNvPr>
          <p:cNvSpPr>
            <a:spLocks noGrp="1"/>
          </p:cNvSpPr>
          <p:nvPr/>
        </p:nvSpPr>
        <p:spPr>
          <a:xfrm>
            <a:off x="5810250" y="1524000"/>
            <a:ext cx="26746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4BAD01-FB60-481B-8CDA-F644C03D1ADD}"/>
              </a:ext>
            </a:extLst>
          </p:cNvPr>
          <p:cNvSpPr>
            <a:spLocks noGrp="1"/>
          </p:cNvSpPr>
          <p:nvPr/>
        </p:nvSpPr>
        <p:spPr>
          <a:xfrm>
            <a:off x="8484870" y="1524000"/>
            <a:ext cx="22783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FC5EC0-3B82-48E6-9E84-A29F99BAA2ED}"/>
              </a:ext>
            </a:extLst>
          </p:cNvPr>
          <p:cNvSpPr>
            <a:spLocks noGrp="1"/>
          </p:cNvSpPr>
          <p:nvPr/>
        </p:nvSpPr>
        <p:spPr>
          <a:xfrm>
            <a:off x="5924550" y="1609725"/>
            <a:ext cx="2446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Reward term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C19CD4-185D-486B-9054-F1D6466B1392}"/>
              </a:ext>
            </a:extLst>
          </p:cNvPr>
          <p:cNvSpPr>
            <a:spLocks noGrp="1"/>
          </p:cNvSpPr>
          <p:nvPr/>
        </p:nvSpPr>
        <p:spPr>
          <a:xfrm>
            <a:off x="8599170" y="1609725"/>
            <a:ext cx="20497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Weight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84BA0A-E6D7-42B8-962B-D0F9535267FA}"/>
              </a:ext>
            </a:extLst>
          </p:cNvPr>
          <p:cNvSpPr>
            <a:spLocks noGrp="1"/>
          </p:cNvSpPr>
          <p:nvPr/>
        </p:nvSpPr>
        <p:spPr>
          <a:xfrm>
            <a:off x="5810250" y="1981200"/>
            <a:ext cx="26746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223611-A0A8-44B4-92CD-DE6C0C691B1F}"/>
              </a:ext>
            </a:extLst>
          </p:cNvPr>
          <p:cNvSpPr>
            <a:spLocks noGrp="1"/>
          </p:cNvSpPr>
          <p:nvPr/>
        </p:nvSpPr>
        <p:spPr>
          <a:xfrm>
            <a:off x="8484870" y="1981200"/>
            <a:ext cx="22783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5DAA62-CA3B-450C-BC72-CC8ABE3E171D}"/>
              </a:ext>
            </a:extLst>
          </p:cNvPr>
          <p:cNvSpPr>
            <a:spLocks noGrp="1"/>
          </p:cNvSpPr>
          <p:nvPr/>
        </p:nvSpPr>
        <p:spPr>
          <a:xfrm>
            <a:off x="5924550" y="2066925"/>
            <a:ext cx="2446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rotate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79DFA4-ED14-48FA-A3DE-8C33E3C2B40C}"/>
              </a:ext>
            </a:extLst>
          </p:cNvPr>
          <p:cNvSpPr>
            <a:spLocks noGrp="1"/>
          </p:cNvSpPr>
          <p:nvPr/>
        </p:nvSpPr>
        <p:spPr>
          <a:xfrm>
            <a:off x="8599170" y="2066925"/>
            <a:ext cx="20497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+1.25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951A0D-9ADF-471D-9CEC-97A4506380DB}"/>
              </a:ext>
            </a:extLst>
          </p:cNvPr>
          <p:cNvSpPr>
            <a:spLocks noGrp="1"/>
          </p:cNvSpPr>
          <p:nvPr/>
        </p:nvSpPr>
        <p:spPr>
          <a:xfrm>
            <a:off x="5810250" y="2438400"/>
            <a:ext cx="26746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C93CCC-01EA-43C2-B657-D78D389F7AC4}"/>
              </a:ext>
            </a:extLst>
          </p:cNvPr>
          <p:cNvSpPr>
            <a:spLocks noGrp="1"/>
          </p:cNvSpPr>
          <p:nvPr/>
        </p:nvSpPr>
        <p:spPr>
          <a:xfrm>
            <a:off x="8484870" y="2438400"/>
            <a:ext cx="22783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256198-9008-4CD9-B392-44C6866554C2}"/>
              </a:ext>
            </a:extLst>
          </p:cNvPr>
          <p:cNvSpPr>
            <a:spLocks noGrp="1"/>
          </p:cNvSpPr>
          <p:nvPr/>
        </p:nvSpPr>
        <p:spPr>
          <a:xfrm>
            <a:off x="5924550" y="2524125"/>
            <a:ext cx="2446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obj_linvel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EC4DC8-9E65-4743-8EDC-D679C2B701A5}"/>
              </a:ext>
            </a:extLst>
          </p:cNvPr>
          <p:cNvSpPr>
            <a:spLocks noGrp="1"/>
          </p:cNvSpPr>
          <p:nvPr/>
        </p:nvSpPr>
        <p:spPr>
          <a:xfrm>
            <a:off x="8599170" y="2524125"/>
            <a:ext cx="20497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-0.30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3AABC7-4D95-4481-89AB-295A1F20E3F9}"/>
              </a:ext>
            </a:extLst>
          </p:cNvPr>
          <p:cNvSpPr>
            <a:spLocks noGrp="1"/>
          </p:cNvSpPr>
          <p:nvPr/>
        </p:nvSpPr>
        <p:spPr>
          <a:xfrm>
            <a:off x="5810250" y="2895600"/>
            <a:ext cx="26746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0850B4F-2DC9-4CCF-8797-855EC4AB5374}"/>
              </a:ext>
            </a:extLst>
          </p:cNvPr>
          <p:cNvSpPr>
            <a:spLocks noGrp="1"/>
          </p:cNvSpPr>
          <p:nvPr/>
        </p:nvSpPr>
        <p:spPr>
          <a:xfrm>
            <a:off x="8484870" y="2895600"/>
            <a:ext cx="22783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631F90-4DDE-4F1D-BB92-AAF1CCABDDDC}"/>
              </a:ext>
            </a:extLst>
          </p:cNvPr>
          <p:cNvSpPr>
            <a:spLocks noGrp="1"/>
          </p:cNvSpPr>
          <p:nvPr/>
        </p:nvSpPr>
        <p:spPr>
          <a:xfrm>
            <a:off x="5924550" y="2981325"/>
            <a:ext cx="2446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pose_diff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00E1EE-7CEC-48B6-A17D-69792C140AE8}"/>
              </a:ext>
            </a:extLst>
          </p:cNvPr>
          <p:cNvSpPr>
            <a:spLocks noGrp="1"/>
          </p:cNvSpPr>
          <p:nvPr/>
        </p:nvSpPr>
        <p:spPr>
          <a:xfrm>
            <a:off x="8599170" y="2981325"/>
            <a:ext cx="20497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-0.30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891828-D807-43EE-9C68-898008C3AA8F}"/>
              </a:ext>
            </a:extLst>
          </p:cNvPr>
          <p:cNvSpPr>
            <a:spLocks noGrp="1"/>
          </p:cNvSpPr>
          <p:nvPr/>
        </p:nvSpPr>
        <p:spPr>
          <a:xfrm>
            <a:off x="5810250" y="3352800"/>
            <a:ext cx="26746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E70232-61A6-4BD9-90C5-C7F1B18706DD}"/>
              </a:ext>
            </a:extLst>
          </p:cNvPr>
          <p:cNvSpPr>
            <a:spLocks noGrp="1"/>
          </p:cNvSpPr>
          <p:nvPr/>
        </p:nvSpPr>
        <p:spPr>
          <a:xfrm>
            <a:off x="8484870" y="3352800"/>
            <a:ext cx="22783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F1EA50C-2962-46BD-9004-8ECA5E956B4B}"/>
              </a:ext>
            </a:extLst>
          </p:cNvPr>
          <p:cNvSpPr>
            <a:spLocks noGrp="1"/>
          </p:cNvSpPr>
          <p:nvPr/>
        </p:nvSpPr>
        <p:spPr>
          <a:xfrm>
            <a:off x="5924550" y="3438525"/>
            <a:ext cx="2446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torque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C239FC-6E8E-4E6B-B4A4-BA76AD8CA39A}"/>
              </a:ext>
            </a:extLst>
          </p:cNvPr>
          <p:cNvSpPr>
            <a:spLocks noGrp="1"/>
          </p:cNvSpPr>
          <p:nvPr/>
        </p:nvSpPr>
        <p:spPr>
          <a:xfrm>
            <a:off x="8599170" y="3438525"/>
            <a:ext cx="20497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-0.10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DA096E-D549-4CBF-B1F6-F376FA782A3E}"/>
              </a:ext>
            </a:extLst>
          </p:cNvPr>
          <p:cNvSpPr>
            <a:spLocks noGrp="1"/>
          </p:cNvSpPr>
          <p:nvPr/>
        </p:nvSpPr>
        <p:spPr>
          <a:xfrm>
            <a:off x="5810250" y="3810000"/>
            <a:ext cx="26746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757814-EC16-4EE6-A896-D453F79A9703}"/>
              </a:ext>
            </a:extLst>
          </p:cNvPr>
          <p:cNvSpPr>
            <a:spLocks noGrp="1"/>
          </p:cNvSpPr>
          <p:nvPr/>
        </p:nvSpPr>
        <p:spPr>
          <a:xfrm>
            <a:off x="8484870" y="3810000"/>
            <a:ext cx="22783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39940BB-C7B0-4FF6-BE4A-4CD6774F9E8D}"/>
              </a:ext>
            </a:extLst>
          </p:cNvPr>
          <p:cNvSpPr>
            <a:spLocks noGrp="1"/>
          </p:cNvSpPr>
          <p:nvPr/>
        </p:nvSpPr>
        <p:spPr>
          <a:xfrm>
            <a:off x="5924550" y="3895725"/>
            <a:ext cx="2446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work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3118C9-D2EE-4452-82C3-D66CA5711A57}"/>
              </a:ext>
            </a:extLst>
          </p:cNvPr>
          <p:cNvSpPr>
            <a:spLocks noGrp="1"/>
          </p:cNvSpPr>
          <p:nvPr/>
        </p:nvSpPr>
        <p:spPr>
          <a:xfrm>
            <a:off x="8599170" y="3895725"/>
            <a:ext cx="20497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-0.02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0CE7D8B-4FBB-4034-B6D9-7E07B1C97C2E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267462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34FDDDA-CB2D-4BBE-9088-821AE8C9251D}"/>
              </a:ext>
            </a:extLst>
          </p:cNvPr>
          <p:cNvSpPr>
            <a:spLocks noGrp="1"/>
          </p:cNvSpPr>
          <p:nvPr/>
        </p:nvSpPr>
        <p:spPr>
          <a:xfrm>
            <a:off x="8484870" y="4267200"/>
            <a:ext cx="22783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A9F2F3F-3161-4109-AAF3-B35C0A2B3490}"/>
              </a:ext>
            </a:extLst>
          </p:cNvPr>
          <p:cNvSpPr>
            <a:spLocks noGrp="1"/>
          </p:cNvSpPr>
          <p:nvPr/>
        </p:nvSpPr>
        <p:spPr>
          <a:xfrm>
            <a:off x="5924550" y="4352925"/>
            <a:ext cx="2446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drop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DBB91B-5775-45A6-AB2A-50A34D324866}"/>
              </a:ext>
            </a:extLst>
          </p:cNvPr>
          <p:cNvSpPr>
            <a:spLocks noGrp="1"/>
          </p:cNvSpPr>
          <p:nvPr/>
        </p:nvSpPr>
        <p:spPr>
          <a:xfrm>
            <a:off x="8599170" y="4352925"/>
            <a:ext cx="20497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-1.00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92AE157E-9C3A-4497-A4BB-365C11798EEE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4381500" cy="123825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72597D5-03BA-4971-95C5-248CFE6255CC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證據限制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CE95AF9-CDF8-4DB8-966D-21008E7EE663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該 RunId 沒有 .pt checkpoint，只有 tracker summary；應視為整合測試，不是正式學習成果。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302854D-5C3C-45BF-AC6D-D0BD6946FBE5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這個任務沒有成為後續任務的程式父類；後續研究改由 SustainedRotation 分支發展。</a:t>
            </a:r>
          </a:p>
        </p:txBody>
      </p:sp>
    </p:spTree>
    <p:extLst>
      <p:ext uri="{BB962C8B-B14F-4D97-AF65-F5344CB8AC3E}">
        <p14:creationId xmlns:p14="http://schemas.microsoft.com/office/powerpoint/2010/main" val="171688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4B9DC021-20E9-4CFF-B6E1-ACC0DBECF005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BEA583-9686-4171-B3EC-9EED478B6168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Cache 前六版先處理 retention 與旋轉訊號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833A34-25CF-4350-B2BD-72643C471A7B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0B2CAD-C06B-44A2-A4E9-0081CB645D34}"/>
              </a:ext>
            </a:extLst>
          </p:cNvPr>
          <p:cNvSpPr>
            <a:spLocks noGrp="1"/>
          </p:cNvSpPr>
          <p:nvPr/>
        </p:nvSpPr>
        <p:spPr>
          <a:xfrm>
            <a:off x="514350" y="1381125"/>
            <a:ext cx="1000125" cy="514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E1B3C3-1B8F-457C-BB5F-369EDCA33E63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A11AD1-A2A4-4BED-83E1-090EC720BD4E}"/>
              </a:ext>
            </a:extLst>
          </p:cNvPr>
          <p:cNvSpPr>
            <a:spLocks noGrp="1"/>
          </p:cNvSpPr>
          <p:nvPr/>
        </p:nvSpPr>
        <p:spPr>
          <a:xfrm>
            <a:off x="1771650" y="141922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spin 1.5 + retention 0.5 + support 0.25；failure -5、含 stage bonus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A777D1-BB03-48FF-912C-69964B4CF116}"/>
              </a:ext>
            </a:extLst>
          </p:cNvPr>
          <p:cNvSpPr>
            <a:spLocks noGrp="1"/>
          </p:cNvSpPr>
          <p:nvPr/>
        </p:nvSpPr>
        <p:spPr>
          <a:xfrm>
            <a:off x="8020050" y="146685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17-50-30 / 17-51-06 / 18-22-39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301963-83D9-47C3-9504-D4C4A77DB61F}"/>
              </a:ext>
            </a:extLst>
          </p:cNvPr>
          <p:cNvSpPr>
            <a:spLocks noGrp="1"/>
          </p:cNvSpPr>
          <p:nvPr/>
        </p:nvSpPr>
        <p:spPr>
          <a:xfrm>
            <a:off x="514350" y="2047875"/>
            <a:ext cx="1000125" cy="5143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54C88B-127F-49D8-B21F-3CC94509CC6E}"/>
              </a:ext>
            </a:extLst>
          </p:cNvPr>
          <p:cNvSpPr>
            <a:spLocks noGrp="1"/>
          </p:cNvSpPr>
          <p:nvPr/>
        </p:nvSpPr>
        <p:spPr>
          <a:xfrm>
            <a:off x="514350" y="217170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B82FC7-55EA-4954-BBEF-91846D51ADBE}"/>
              </a:ext>
            </a:extLst>
          </p:cNvPr>
          <p:cNvSpPr>
            <a:spLocks noGrp="1"/>
          </p:cNvSpPr>
          <p:nvPr/>
        </p:nvSpPr>
        <p:spPr>
          <a:xfrm>
            <a:off x="1771650" y="208597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anchor_proximity 0.1，處理 15–30 mm retention 灰色區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F68A21-C0DC-40C1-BB6F-967D67493A6D}"/>
              </a:ext>
            </a:extLst>
          </p:cNvPr>
          <p:cNvSpPr>
            <a:spLocks noGrp="1"/>
          </p:cNvSpPr>
          <p:nvPr/>
        </p:nvSpPr>
        <p:spPr>
          <a:xfrm>
            <a:off x="8020050" y="213360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22-47-15 / 22-50-49 / 22-58-39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2496A7-7AC1-43D2-B590-6F3FD2B6139E}"/>
              </a:ext>
            </a:extLst>
          </p:cNvPr>
          <p:cNvSpPr>
            <a:spLocks noGrp="1"/>
          </p:cNvSpPr>
          <p:nvPr/>
        </p:nvSpPr>
        <p:spPr>
          <a:xfrm>
            <a:off x="514350" y="2714625"/>
            <a:ext cx="1000125" cy="514350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660E96-86D9-4C73-8800-BDA4378FC463}"/>
              </a:ext>
            </a:extLst>
          </p:cNvPr>
          <p:cNvSpPr>
            <a:spLocks noGrp="1"/>
          </p:cNvSpPr>
          <p:nvPr/>
        </p:nvSpPr>
        <p:spPr>
          <a:xfrm>
            <a:off x="514350" y="283845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BE8977-6CF4-4262-A603-63A61872CB43}"/>
              </a:ext>
            </a:extLst>
          </p:cNvPr>
          <p:cNvSpPr>
            <a:spLocks noGrp="1"/>
          </p:cNvSpPr>
          <p:nvPr/>
        </p:nvSpPr>
        <p:spPr>
          <a:xfrm>
            <a:off x="1771650" y="275272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positive-spin retention floor：前期 0.5、後期 0.25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3ADE0D-98FB-4902-A56D-D34A79B1103B}"/>
              </a:ext>
            </a:extLst>
          </p:cNvPr>
          <p:cNvSpPr>
            <a:spLocks noGrp="1"/>
          </p:cNvSpPr>
          <p:nvPr/>
        </p:nvSpPr>
        <p:spPr>
          <a:xfrm>
            <a:off x="8020050" y="280035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02-36-35 … 11-56-07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DA879D-9BE8-4BD0-A1CF-273B2A48804D}"/>
              </a:ext>
            </a:extLst>
          </p:cNvPr>
          <p:cNvSpPr>
            <a:spLocks noGrp="1"/>
          </p:cNvSpPr>
          <p:nvPr/>
        </p:nvSpPr>
        <p:spPr>
          <a:xfrm>
            <a:off x="514350" y="3381375"/>
            <a:ext cx="1000125" cy="5143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416EC3-B3ED-4198-913B-D9FA9F360243}"/>
              </a:ext>
            </a:extLst>
          </p:cNvPr>
          <p:cNvSpPr>
            <a:spLocks noGrp="1"/>
          </p:cNvSpPr>
          <p:nvPr/>
        </p:nvSpPr>
        <p:spPr>
          <a:xfrm>
            <a:off x="514350" y="350520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64C888-1266-4E64-8711-A86665B50B78}"/>
              </a:ext>
            </a:extLst>
          </p:cNvPr>
          <p:cNvSpPr>
            <a:spLocks noGrp="1"/>
          </p:cNvSpPr>
          <p:nvPr/>
        </p:nvSpPr>
        <p:spPr>
          <a:xfrm>
            <a:off x="1771650" y="341947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啟用 direct_spin_reward，floor 全部 0.5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A2F740-8BA1-450E-A39E-5F07583A5F4D}"/>
              </a:ext>
            </a:extLst>
          </p:cNvPr>
          <p:cNvSpPr>
            <a:spLocks noGrp="1"/>
          </p:cNvSpPr>
          <p:nvPr/>
        </p:nvSpPr>
        <p:spPr>
          <a:xfrm>
            <a:off x="8020050" y="346710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2026-07-22_23-04-12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4A8DAD-38F0-4A6D-9103-75FBADFA1990}"/>
              </a:ext>
            </a:extLst>
          </p:cNvPr>
          <p:cNvSpPr>
            <a:spLocks noGrp="1"/>
          </p:cNvSpPr>
          <p:nvPr/>
        </p:nvSpPr>
        <p:spPr>
          <a:xfrm>
            <a:off x="514350" y="4048125"/>
            <a:ext cx="1000125" cy="514350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979FFA6-F357-4FA9-80E9-A2684D25B982}"/>
              </a:ext>
            </a:extLst>
          </p:cNvPr>
          <p:cNvSpPr>
            <a:spLocks noGrp="1"/>
          </p:cNvSpPr>
          <p:nvPr/>
        </p:nvSpPr>
        <p:spPr>
          <a:xfrm>
            <a:off x="514350" y="417195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143937-B8E5-4F2E-92FD-D0A723C25CC4}"/>
              </a:ext>
            </a:extLst>
          </p:cNvPr>
          <p:cNvSpPr>
            <a:spLocks noGrp="1"/>
          </p:cNvSpPr>
          <p:nvPr/>
        </p:nvSpPr>
        <p:spPr>
          <a:xfrm>
            <a:off x="1771650" y="408622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spin 提高至 3.0；移除 stage bonus；floor 1.0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8BC675-0E6B-48F1-B30D-C821ACAD5EC6}"/>
              </a:ext>
            </a:extLst>
          </p:cNvPr>
          <p:cNvSpPr>
            <a:spLocks noGrp="1"/>
          </p:cNvSpPr>
          <p:nvPr/>
        </p:nvSpPr>
        <p:spPr>
          <a:xfrm>
            <a:off x="8020050" y="413385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2026-07-23_00-19-50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CC37E5-1DDA-479C-87E7-F19FDBFDD66D}"/>
              </a:ext>
            </a:extLst>
          </p:cNvPr>
          <p:cNvSpPr>
            <a:spLocks noGrp="1"/>
          </p:cNvSpPr>
          <p:nvPr/>
        </p:nvSpPr>
        <p:spPr>
          <a:xfrm>
            <a:off x="514350" y="4714875"/>
            <a:ext cx="1000125" cy="514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C48EFB-4FBF-422C-ADCA-CFD6DFF9F957}"/>
              </a:ext>
            </a:extLst>
          </p:cNvPr>
          <p:cNvSpPr>
            <a:spLocks noGrp="1"/>
          </p:cNvSpPr>
          <p:nvPr/>
        </p:nvSpPr>
        <p:spPr>
          <a:xfrm>
            <a:off x="514350" y="483870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68E113-2FA7-4550-9394-E4B23975E312}"/>
              </a:ext>
            </a:extLst>
          </p:cNvPr>
          <p:cNvSpPr>
            <a:spLocks noGrp="1"/>
          </p:cNvSpPr>
          <p:nvPr/>
        </p:nvSpPr>
        <p:spPr>
          <a:xfrm>
            <a:off x="1771650" y="475297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spin continuity penalty -0.05，針對轉幾秒後停止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F699F8-507F-4B55-957D-F7E21BA1FB86}"/>
              </a:ext>
            </a:extLst>
          </p:cNvPr>
          <p:cNvSpPr>
            <a:spLocks noGrp="1"/>
          </p:cNvSpPr>
          <p:nvPr/>
        </p:nvSpPr>
        <p:spPr>
          <a:xfrm>
            <a:off x="8020050" y="480060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02-11-05 / 02-40-23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89FDE0-71B7-4346-A6E1-6951F022C8A9}"/>
              </a:ext>
            </a:extLst>
          </p:cNvPr>
          <p:cNvSpPr>
            <a:spLocks noGrp="1"/>
          </p:cNvSpPr>
          <p:nvPr/>
        </p:nvSpPr>
        <p:spPr>
          <a:xfrm>
            <a:off x="514350" y="57150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這一階段的主要矛盾：提高 retention 能讓 episode 活得更久，但不必然迫使 policy 持續產生正向角速度。</a:t>
            </a:r>
          </a:p>
        </p:txBody>
      </p:sp>
    </p:spTree>
    <p:extLst>
      <p:ext uri="{BB962C8B-B14F-4D97-AF65-F5344CB8AC3E}">
        <p14:creationId xmlns:p14="http://schemas.microsoft.com/office/powerpoint/2010/main" val="768289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97B801ED-CA87-4780-95BA-BA0E087BCBC8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76474B-586A-434B-B27E-24B2C9D6D002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Cache 後七版：移除造成 local optimum 的 shaping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950228-6633-49FD-B737-6D3738987B42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E2CF54-196F-4C32-8739-0E333D7D4FE4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000125" cy="514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DDA062-4BC6-4710-8AF8-C7D282923CA1}"/>
              </a:ext>
            </a:extLst>
          </p:cNvPr>
          <p:cNvSpPr>
            <a:spLocks noGrp="1"/>
          </p:cNvSpPr>
          <p:nvPr/>
        </p:nvSpPr>
        <p:spPr>
          <a:xfrm>
            <a:off x="514350" y="13620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681FBE-E0D5-4081-A520-1D76237639B6}"/>
              </a:ext>
            </a:extLst>
          </p:cNvPr>
          <p:cNvSpPr>
            <a:spLocks noGrp="1"/>
          </p:cNvSpPr>
          <p:nvPr/>
        </p:nvSpPr>
        <p:spPr>
          <a:xfrm>
            <a:off x="1771650" y="12763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簡化為 Allegro-style rotate +1.25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EBD99E-095E-4F26-9F58-FF4F0480DD72}"/>
              </a:ext>
            </a:extLst>
          </p:cNvPr>
          <p:cNvSpPr>
            <a:spLocks noGrp="1"/>
          </p:cNvSpPr>
          <p:nvPr/>
        </p:nvSpPr>
        <p:spPr>
          <a:xfrm>
            <a:off x="8020050" y="1323975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2026-07-23_03-57-44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0657E7-7749-436F-ACE8-761D1B67C6FD}"/>
              </a:ext>
            </a:extLst>
          </p:cNvPr>
          <p:cNvSpPr>
            <a:spLocks noGrp="1"/>
          </p:cNvSpPr>
          <p:nvPr/>
        </p:nvSpPr>
        <p:spPr>
          <a:xfrm>
            <a:off x="514350" y="1857375"/>
            <a:ext cx="1000125" cy="514350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50625E-265A-4B97-9F79-0D20B99E4DA7}"/>
              </a:ext>
            </a:extLst>
          </p:cNvPr>
          <p:cNvSpPr>
            <a:spLocks noGrp="1"/>
          </p:cNvSpPr>
          <p:nvPr/>
        </p:nvSpPr>
        <p:spPr>
          <a:xfrm>
            <a:off x="514350" y="198120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7BFEA3-C7E6-4DAB-9D7D-06807FA66C49}"/>
              </a:ext>
            </a:extLst>
          </p:cNvPr>
          <p:cNvSpPr>
            <a:spLocks noGrp="1"/>
          </p:cNvSpPr>
          <p:nvPr/>
        </p:nvSpPr>
        <p:spPr>
          <a:xfrm>
            <a:off x="1771650" y="189547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obj_linvel -0.3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6F4652-1204-4F87-9ED2-2F2993704156}"/>
              </a:ext>
            </a:extLst>
          </p:cNvPr>
          <p:cNvSpPr>
            <a:spLocks noGrp="1"/>
          </p:cNvSpPr>
          <p:nvPr/>
        </p:nvSpPr>
        <p:spPr>
          <a:xfrm>
            <a:off x="8020050" y="194310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2026-07-23_15-34-09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245953-1130-4862-B1E4-5405581F9053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00125" cy="5143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361402-E9E4-46B2-A4A9-F5923FCC76C2}"/>
              </a:ext>
            </a:extLst>
          </p:cNvPr>
          <p:cNvSpPr>
            <a:spLocks noGrp="1"/>
          </p:cNvSpPr>
          <p:nvPr/>
        </p:nvSpPr>
        <p:spPr>
          <a:xfrm>
            <a:off x="514350" y="260032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S9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CB28E2-1BAC-4B61-811E-20B70EE4DC4D}"/>
              </a:ext>
            </a:extLst>
          </p:cNvPr>
          <p:cNvSpPr>
            <a:spLocks noGrp="1"/>
          </p:cNvSpPr>
          <p:nvPr/>
        </p:nvSpPr>
        <p:spPr>
          <a:xfrm>
            <a:off x="1771650" y="251460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position_error -5.0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F65566-FCE0-4CCB-A3FC-50A9007DDB71}"/>
              </a:ext>
            </a:extLst>
          </p:cNvPr>
          <p:cNvSpPr>
            <a:spLocks noGrp="1"/>
          </p:cNvSpPr>
          <p:nvPr/>
        </p:nvSpPr>
        <p:spPr>
          <a:xfrm>
            <a:off x="8020050" y="2562225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2026-07-23_20-18-51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3B119F-B433-46EA-9E05-1A3D596FA96B}"/>
              </a:ext>
            </a:extLst>
          </p:cNvPr>
          <p:cNvSpPr>
            <a:spLocks noGrp="1"/>
          </p:cNvSpPr>
          <p:nvPr/>
        </p:nvSpPr>
        <p:spPr>
          <a:xfrm>
            <a:off x="514350" y="3095625"/>
            <a:ext cx="1000125" cy="5143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40EEB5-1EFF-4599-B13D-009734AEEB22}"/>
              </a:ext>
            </a:extLst>
          </p:cNvPr>
          <p:cNvSpPr>
            <a:spLocks noGrp="1"/>
          </p:cNvSpPr>
          <p:nvPr/>
        </p:nvSpPr>
        <p:spPr>
          <a:xfrm>
            <a:off x="514350" y="321945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E17DAE-9DB2-4A5B-97CE-492EB5F656DF}"/>
              </a:ext>
            </a:extLst>
          </p:cNvPr>
          <p:cNvSpPr>
            <a:spLocks noGrp="1"/>
          </p:cNvSpPr>
          <p:nvPr/>
        </p:nvSpPr>
        <p:spPr>
          <a:xfrm>
            <a:off x="1771650" y="313372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旋轉 reward 依 base / index / middle 接觸分配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ED0206-1A4F-41E4-B10E-A2A686AFE125}"/>
              </a:ext>
            </a:extLst>
          </p:cNvPr>
          <p:cNvSpPr>
            <a:spLocks noGrp="1"/>
          </p:cNvSpPr>
          <p:nvPr/>
        </p:nvSpPr>
        <p:spPr>
          <a:xfrm>
            <a:off x="8020050" y="318135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2026-07-23_21-54-51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937484-7E14-4ABF-B4F9-5CB7EDC0DA39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1000125" cy="514350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321B06-E9AE-48D4-9C75-65AB90CE601F}"/>
              </a:ext>
            </a:extLst>
          </p:cNvPr>
          <p:cNvSpPr>
            <a:spLocks noGrp="1"/>
          </p:cNvSpPr>
          <p:nvPr/>
        </p:nvSpPr>
        <p:spPr>
          <a:xfrm>
            <a:off x="514350" y="38385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8FE3F7-7E64-47DB-BED5-10AB2DCEB113}"/>
              </a:ext>
            </a:extLst>
          </p:cNvPr>
          <p:cNvSpPr>
            <a:spLocks noGrp="1"/>
          </p:cNvSpPr>
          <p:nvPr/>
        </p:nvSpPr>
        <p:spPr>
          <a:xfrm>
            <a:off x="1771650" y="37528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support-pose 0.25、opposition-progress 0.20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91EA42-C4B8-4819-B6CB-AD145664BB06}"/>
              </a:ext>
            </a:extLst>
          </p:cNvPr>
          <p:cNvSpPr>
            <a:spLocks noGrp="1"/>
          </p:cNvSpPr>
          <p:nvPr/>
        </p:nvSpPr>
        <p:spPr>
          <a:xfrm>
            <a:off x="8020050" y="3800475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2026-07-25_03-50-30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5324C2-B8BB-4B3E-A357-DC9BC83E12E4}"/>
              </a:ext>
            </a:extLst>
          </p:cNvPr>
          <p:cNvSpPr>
            <a:spLocks noGrp="1"/>
          </p:cNvSpPr>
          <p:nvPr/>
        </p:nvSpPr>
        <p:spPr>
          <a:xfrm>
            <a:off x="514350" y="4333875"/>
            <a:ext cx="1000125" cy="514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D0D229-5AA3-474F-94F0-038C399012D0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524F48D-D2F9-4210-946A-1A6DB0B9817D}"/>
              </a:ext>
            </a:extLst>
          </p:cNvPr>
          <p:cNvSpPr>
            <a:spLocks noGrp="1"/>
          </p:cNvSpPr>
          <p:nvPr/>
        </p:nvSpPr>
        <p:spPr>
          <a:xfrm>
            <a:off x="1771650" y="4371975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V3-A：移除手勢 shaping；position -6、failure -1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2D7BD0-D579-4F9B-9F2F-38F0303ECDAE}"/>
              </a:ext>
            </a:extLst>
          </p:cNvPr>
          <p:cNvSpPr>
            <a:spLocks noGrp="1"/>
          </p:cNvSpPr>
          <p:nvPr/>
        </p:nvSpPr>
        <p:spPr>
          <a:xfrm>
            <a:off x="8020050" y="441960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2026-07-26_23-27-56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DF8B49-2C7A-4BC8-8200-BECE72F0EFA9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1000125" cy="5143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67906D2-D6EB-421A-B3FF-0455BF6F1FE6}"/>
              </a:ext>
            </a:extLst>
          </p:cNvPr>
          <p:cNvSpPr>
            <a:spLocks noGrp="1"/>
          </p:cNvSpPr>
          <p:nvPr/>
        </p:nvSpPr>
        <p:spPr>
          <a:xfrm>
            <a:off x="514350" y="507682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S13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C4F26FE-D9F7-43DA-88F8-CF9C143D2859}"/>
              </a:ext>
            </a:extLst>
          </p:cNvPr>
          <p:cNvSpPr>
            <a:spLocks noGrp="1"/>
          </p:cNvSpPr>
          <p:nvPr/>
        </p:nvSpPr>
        <p:spPr>
          <a:xfrm>
            <a:off x="1771650" y="499110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V3-A + position-gated stall / continuity -0.05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4F2201-CE90-4851-97A3-AFDEF6A9F38F}"/>
              </a:ext>
            </a:extLst>
          </p:cNvPr>
          <p:cNvSpPr>
            <a:spLocks noGrp="1"/>
          </p:cNvSpPr>
          <p:nvPr/>
        </p:nvSpPr>
        <p:spPr>
          <a:xfrm>
            <a:off x="8020050" y="5038725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2026-07-27_00-36-25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8395C0-82B4-49E9-BEF9-ADE92DC550C9}"/>
              </a:ext>
            </a:extLst>
          </p:cNvPr>
          <p:cNvSpPr>
            <a:spLocks noGrp="1"/>
          </p:cNvSpPr>
          <p:nvPr/>
        </p:nvSpPr>
        <p:spPr>
          <a:xfrm>
            <a:off x="514350" y="5829300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最新主線不是 reward 越堆越多，而是保留可直接對應任務目標的 signed rotation、position 與 failure。</a:t>
            </a:r>
          </a:p>
        </p:txBody>
      </p:sp>
    </p:spTree>
    <p:extLst>
      <p:ext uri="{BB962C8B-B14F-4D97-AF65-F5344CB8AC3E}">
        <p14:creationId xmlns:p14="http://schemas.microsoft.com/office/powerpoint/2010/main" val="1007225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E92CE61-E0CE-4B82-B39E-F407D6D59F45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960A97-FD90-409B-B4B6-9B7169BF0509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Anchor proximity 改善了 retention，但沒有回答持續旋轉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7EBFA3-1B60-47CA-9F16-4B69AB848201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D3D741-E651-486E-9A55-EEEBE741AC09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Baseline  2026-07-21_18-22-39_mujoco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73203E-5672-4D11-9F91-222A6A04477C}"/>
              </a:ext>
            </a:extLst>
          </p:cNvPr>
          <p:cNvSpPr>
            <a:spLocks noGrp="1"/>
          </p:cNvSpPr>
          <p:nvPr/>
        </p:nvSpPr>
        <p:spPr>
          <a:xfrm>
            <a:off x="6191250" y="13144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RUN  Grey-zone  2026-07-21_22-58-39_mujoco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514350" y="1857375"/>
          <a:ext cx="61912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: 圓角 6">
            <a:extLst>
              <a:ext uri="{FF2B5EF4-FFF2-40B4-BE49-F238E27FC236}">
                <a16:creationId xmlns:a16="http://schemas.microsoft.com/office/drawing/2014/main" id="{60C3263F-68A4-4CE6-A2EB-95F6FA5FB665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342900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912F2E-30DD-43DB-A65D-ED4D76271776}"/>
              </a:ext>
            </a:extLst>
          </p:cNvPr>
          <p:cNvSpPr>
            <a:spLocks noGrp="1"/>
          </p:cNvSpPr>
          <p:nvPr/>
        </p:nvSpPr>
        <p:spPr>
          <a:xfrm>
            <a:off x="7524750" y="22860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481.6 → 499.2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BDA9D9-F5FE-493C-9745-D0851C140C92}"/>
              </a:ext>
            </a:extLst>
          </p:cNvPr>
          <p:cNvSpPr>
            <a:spLocks noGrp="1"/>
          </p:cNvSpPr>
          <p:nvPr/>
        </p:nvSpPr>
        <p:spPr>
          <a:xfrm>
            <a:off x="7524750" y="28765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mean episode steps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9747DDD-2B13-4E50-B0F4-E38336207108}"/>
              </a:ext>
            </a:extLst>
          </p:cNvPr>
          <p:cNvSpPr>
            <a:spLocks noGrp="1"/>
          </p:cNvSpPr>
          <p:nvPr/>
        </p:nvSpPr>
        <p:spPr>
          <a:xfrm>
            <a:off x="7334250" y="3733800"/>
            <a:ext cx="342900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C003D7-DB30-4E4A-ABFE-206889929BA9}"/>
              </a:ext>
            </a:extLst>
          </p:cNvPr>
          <p:cNvSpPr>
            <a:spLocks noGrp="1"/>
          </p:cNvSpPr>
          <p:nvPr/>
        </p:nvSpPr>
        <p:spPr>
          <a:xfrm>
            <a:off x="7524750" y="39243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32.77M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9D2330-9383-472C-A569-33FA6D05CB43}"/>
              </a:ext>
            </a:extLst>
          </p:cNvPr>
          <p:cNvSpPr>
            <a:spLocks noGrp="1"/>
          </p:cNvSpPr>
          <p:nvPr/>
        </p:nvSpPr>
        <p:spPr>
          <a:xfrm>
            <a:off x="7524750" y="45148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兩者皆為 environment steps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62EAD6-1D04-452B-A60C-E9204E86B79C}"/>
              </a:ext>
            </a:extLst>
          </p:cNvPr>
          <p:cNvSpPr>
            <a:spLocks noGrp="1"/>
          </p:cNvSpPr>
          <p:nvPr/>
        </p:nvSpPr>
        <p:spPr>
          <a:xfrm>
            <a:off x="514350" y="5810250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同規模比較支持『位置維持改善』；但 reward 與存活時間不能取代 axis speed、net angle 與 viewer。</a:t>
            </a:r>
          </a:p>
        </p:txBody>
      </p:sp>
    </p:spTree>
    <p:extLst>
      <p:ext uri="{BB962C8B-B14F-4D97-AF65-F5344CB8AC3E}">
        <p14:creationId xmlns:p14="http://schemas.microsoft.com/office/powerpoint/2010/main" val="1187334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0B286E65-7129-4A31-8ADC-AA150A5B54A4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324A7E-67C2-4067-BE0F-3498C11061A1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Gaiting：用接觸換位避免旋轉提前停止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C84568-DDBF-4B3F-A1E1-1E8DADD6D2D2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453C38-080A-4C67-8D34-7832D96B17E0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觀察到的失敗序列</a:t>
            </a:r>
          </a:p>
        </p:txBody>
      </p:sp>
      <p:cxnSp>
        <p:nvCxnSpPr>
          <p:cNvPr id="41" name="直線單箭頭接點 40"/>
          <p:cNvCxnSpPr/>
          <p:nvPr/>
        </p:nvCxnSpPr>
        <p:spPr>
          <a:xfrm>
            <a:off x="1619250" y="2333625"/>
            <a:ext cx="781050" cy="0"/>
          </a:xfrm>
          <a:prstGeom prst="straightConnector1">
            <a:avLst/>
          </a:prstGeom>
          <a:ln w="28575">
            <a:solidFill>
              <a:srgbClr val="B42318"/>
            </a:solidFill>
            <a:prstDash val="solid"/>
          </a:ln>
        </p:spPr>
      </p:cxn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6379D4D-FAD9-4DDB-964D-9905C181DD09}"/>
              </a:ext>
            </a:extLst>
          </p:cNvPr>
          <p:cNvSpPr>
            <a:spLocks noGrp="1"/>
          </p:cNvSpPr>
          <p:nvPr/>
        </p:nvSpPr>
        <p:spPr>
          <a:xfrm>
            <a:off x="514350" y="1952625"/>
            <a:ext cx="1857375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6ACD8D-5B8F-493E-8541-12329F9E95DC}"/>
              </a:ext>
            </a:extLst>
          </p:cNvPr>
          <p:cNvSpPr>
            <a:spLocks noGrp="1"/>
          </p:cNvSpPr>
          <p:nvPr/>
        </p:nvSpPr>
        <p:spPr>
          <a:xfrm>
            <a:off x="666750" y="21812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初始推球</a:t>
            </a: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4238625" y="2333625"/>
            <a:ext cx="781050" cy="0"/>
          </a:xfrm>
          <a:prstGeom prst="straightConnector1">
            <a:avLst/>
          </a:prstGeom>
          <a:ln w="28575">
            <a:solidFill>
              <a:srgbClr val="B42318"/>
            </a:solidFill>
            <a:prstDash val="solid"/>
          </a:ln>
        </p:spPr>
      </p:cxn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7F4AC79-F2D7-4C8F-A644-C433879BD326}"/>
              </a:ext>
            </a:extLst>
          </p:cNvPr>
          <p:cNvSpPr>
            <a:spLocks noGrp="1"/>
          </p:cNvSpPr>
          <p:nvPr/>
        </p:nvSpPr>
        <p:spPr>
          <a:xfrm>
            <a:off x="3133725" y="1952625"/>
            <a:ext cx="1857375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B7165F-5B31-44CA-AC61-355EF6436CD5}"/>
              </a:ext>
            </a:extLst>
          </p:cNvPr>
          <p:cNvSpPr>
            <a:spLocks noGrp="1"/>
          </p:cNvSpPr>
          <p:nvPr/>
        </p:nvSpPr>
        <p:spPr>
          <a:xfrm>
            <a:off x="3286125" y="21812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短暫 +Z 旋轉</a:t>
            </a:r>
          </a:p>
        </p:txBody>
      </p:sp>
      <p:cxnSp>
        <p:nvCxnSpPr>
          <p:cNvPr id="47" name="直線單箭頭接點 46"/>
          <p:cNvCxnSpPr/>
          <p:nvPr/>
        </p:nvCxnSpPr>
        <p:spPr>
          <a:xfrm>
            <a:off x="6858000" y="2333625"/>
            <a:ext cx="781050" cy="0"/>
          </a:xfrm>
          <a:prstGeom prst="straightConnector1">
            <a:avLst/>
          </a:prstGeom>
          <a:ln w="28575">
            <a:solidFill>
              <a:srgbClr val="B42318"/>
            </a:solidFill>
            <a:prstDash val="solid"/>
          </a:ln>
        </p:spPr>
      </p:cxn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7DEC691-C5C3-4B12-B16C-F6E290E520A0}"/>
              </a:ext>
            </a:extLst>
          </p:cNvPr>
          <p:cNvSpPr>
            <a:spLocks noGrp="1"/>
          </p:cNvSpPr>
          <p:nvPr/>
        </p:nvSpPr>
        <p:spPr>
          <a:xfrm>
            <a:off x="5753100" y="1952625"/>
            <a:ext cx="1857375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A182F5-48F7-4FFE-968F-A929DD82EDDE}"/>
              </a:ext>
            </a:extLst>
          </p:cNvPr>
          <p:cNvSpPr>
            <a:spLocks noGrp="1"/>
          </p:cNvSpPr>
          <p:nvPr/>
        </p:nvSpPr>
        <p:spPr>
          <a:xfrm>
            <a:off x="5905500" y="21812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接觸不更新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8DEDE40-8071-4976-BB3F-DD32475EBD5E}"/>
              </a:ext>
            </a:extLst>
          </p:cNvPr>
          <p:cNvSpPr>
            <a:spLocks noGrp="1"/>
          </p:cNvSpPr>
          <p:nvPr/>
        </p:nvSpPr>
        <p:spPr>
          <a:xfrm>
            <a:off x="8372475" y="1952625"/>
            <a:ext cx="1857375" cy="762000"/>
          </a:xfrm>
          <a:prstGeom prst="roundRect">
            <a:avLst>
              <a:gd name="adj" fmla="val 10000"/>
            </a:avLst>
          </a:prstGeom>
          <a:solidFill>
            <a:srgbClr val="FEE4E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4C22C5-0905-45C4-A724-EB3C6C1CDE2E}"/>
              </a:ext>
            </a:extLst>
          </p:cNvPr>
          <p:cNvSpPr>
            <a:spLocks noGrp="1"/>
          </p:cNvSpPr>
          <p:nvPr/>
        </p:nvSpPr>
        <p:spPr>
          <a:xfrm>
            <a:off x="8524875" y="21812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角速度歸零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EAB86E-FCF7-4346-A476-60B018B1267F}"/>
              </a:ext>
            </a:extLst>
          </p:cNvPr>
          <p:cNvSpPr>
            <a:spLocks noGrp="1"/>
          </p:cNvSpPr>
          <p:nvPr/>
        </p:nvSpPr>
        <p:spPr>
          <a:xfrm>
            <a:off x="514350" y="3333750"/>
            <a:ext cx="76200" cy="3238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AAC4A6-5437-4BCF-91B1-18A6B2A72E1E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新增 reward 與 gate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11D1E2-4DA2-438C-8703-EDC847AE35C8}"/>
              </a:ext>
            </a:extLst>
          </p:cNvPr>
          <p:cNvSpPr>
            <a:spLocks noGrp="1"/>
          </p:cNvSpPr>
          <p:nvPr/>
        </p:nvSpPr>
        <p:spPr>
          <a:xfrm>
            <a:off x="514350" y="3886200"/>
            <a:ext cx="2520315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95A8F7-EEA6-4FC4-80EA-9F464FD6AC9C}"/>
              </a:ext>
            </a:extLst>
          </p:cNvPr>
          <p:cNvSpPr>
            <a:spLocks noGrp="1"/>
          </p:cNvSpPr>
          <p:nvPr/>
        </p:nvSpPr>
        <p:spPr>
          <a:xfrm>
            <a:off x="3034665" y="3886200"/>
            <a:ext cx="2146935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7CF9EB-7E56-4D6D-A24A-3C9EE18A9023}"/>
              </a:ext>
            </a:extLst>
          </p:cNvPr>
          <p:cNvSpPr>
            <a:spLocks noGrp="1"/>
          </p:cNvSpPr>
          <p:nvPr/>
        </p:nvSpPr>
        <p:spPr>
          <a:xfrm>
            <a:off x="628650" y="3971925"/>
            <a:ext cx="22917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Gaiting term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0E7A8B4-7989-47A3-86BE-B1D16F486E04}"/>
              </a:ext>
            </a:extLst>
          </p:cNvPr>
          <p:cNvSpPr>
            <a:spLocks noGrp="1"/>
          </p:cNvSpPr>
          <p:nvPr/>
        </p:nvSpPr>
        <p:spPr>
          <a:xfrm>
            <a:off x="3148965" y="3971925"/>
            <a:ext cx="19183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Weight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3D7CE5-AEF3-466B-81AF-32CE7DF8F267}"/>
              </a:ext>
            </a:extLst>
          </p:cNvPr>
          <p:cNvSpPr>
            <a:spLocks noGrp="1"/>
          </p:cNvSpPr>
          <p:nvPr/>
        </p:nvSpPr>
        <p:spPr>
          <a:xfrm>
            <a:off x="514350" y="4343400"/>
            <a:ext cx="252031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FDC490-B855-44CC-9941-F59F5AEF63C1}"/>
              </a:ext>
            </a:extLst>
          </p:cNvPr>
          <p:cNvSpPr>
            <a:spLocks noGrp="1"/>
          </p:cNvSpPr>
          <p:nvPr/>
        </p:nvSpPr>
        <p:spPr>
          <a:xfrm>
            <a:off x="3034665" y="4343400"/>
            <a:ext cx="214693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DF98A4-5395-44EE-9CA4-8FAF12A65D45}"/>
              </a:ext>
            </a:extLst>
          </p:cNvPr>
          <p:cNvSpPr>
            <a:spLocks noGrp="1"/>
          </p:cNvSpPr>
          <p:nvPr/>
        </p:nvSpPr>
        <p:spPr>
          <a:xfrm>
            <a:off x="628650" y="4429125"/>
            <a:ext cx="22917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stable_support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C455715-3252-4E7A-BE1F-9D20A7764A1D}"/>
              </a:ext>
            </a:extLst>
          </p:cNvPr>
          <p:cNvSpPr>
            <a:spLocks noGrp="1"/>
          </p:cNvSpPr>
          <p:nvPr/>
        </p:nvSpPr>
        <p:spPr>
          <a:xfrm>
            <a:off x="3148965" y="4429125"/>
            <a:ext cx="19183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+0.20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F0D7C6A-538A-460A-A0E8-0E274EC00BA6}"/>
              </a:ext>
            </a:extLst>
          </p:cNvPr>
          <p:cNvSpPr>
            <a:spLocks noGrp="1"/>
          </p:cNvSpPr>
          <p:nvPr/>
        </p:nvSpPr>
        <p:spPr>
          <a:xfrm>
            <a:off x="514350" y="4800600"/>
            <a:ext cx="2520315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B6E481-09C0-4773-A610-A6EFEA029D3E}"/>
              </a:ext>
            </a:extLst>
          </p:cNvPr>
          <p:cNvSpPr>
            <a:spLocks noGrp="1"/>
          </p:cNvSpPr>
          <p:nvPr/>
        </p:nvSpPr>
        <p:spPr>
          <a:xfrm>
            <a:off x="3034665" y="4800600"/>
            <a:ext cx="2146935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F53000-4C9F-4DE3-AD3C-6383933E557C}"/>
              </a:ext>
            </a:extLst>
          </p:cNvPr>
          <p:cNvSpPr>
            <a:spLocks noGrp="1"/>
          </p:cNvSpPr>
          <p:nvPr/>
        </p:nvSpPr>
        <p:spPr>
          <a:xfrm>
            <a:off x="628650" y="4886325"/>
            <a:ext cx="22917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release_progress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6C633E-0E5D-4194-BC92-9154A27E8529}"/>
              </a:ext>
            </a:extLst>
          </p:cNvPr>
          <p:cNvSpPr>
            <a:spLocks noGrp="1"/>
          </p:cNvSpPr>
          <p:nvPr/>
        </p:nvSpPr>
        <p:spPr>
          <a:xfrm>
            <a:off x="3148965" y="4886325"/>
            <a:ext cx="19183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+0.05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64F1C27-F98A-404D-AB16-E1E21DECD36F}"/>
              </a:ext>
            </a:extLst>
          </p:cNvPr>
          <p:cNvSpPr>
            <a:spLocks noGrp="1"/>
          </p:cNvSpPr>
          <p:nvPr/>
        </p:nvSpPr>
        <p:spPr>
          <a:xfrm>
            <a:off x="514350" y="5257800"/>
            <a:ext cx="252031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5FFC9C6-DC64-49FB-AD71-A83AC6475AA2}"/>
              </a:ext>
            </a:extLst>
          </p:cNvPr>
          <p:cNvSpPr>
            <a:spLocks noGrp="1"/>
          </p:cNvSpPr>
          <p:nvPr/>
        </p:nvSpPr>
        <p:spPr>
          <a:xfrm>
            <a:off x="3034665" y="5257800"/>
            <a:ext cx="214693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8BD082F-3615-4776-9A46-2334A184B63A}"/>
              </a:ext>
            </a:extLst>
          </p:cNvPr>
          <p:cNvSpPr>
            <a:spLocks noGrp="1"/>
          </p:cNvSpPr>
          <p:nvPr/>
        </p:nvSpPr>
        <p:spPr>
          <a:xfrm>
            <a:off x="628650" y="5343525"/>
            <a:ext cx="22917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qualified_handoff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277FA7-727A-4459-BD68-6778643DF43B}"/>
              </a:ext>
            </a:extLst>
          </p:cNvPr>
          <p:cNvSpPr>
            <a:spLocks noGrp="1"/>
          </p:cNvSpPr>
          <p:nvPr/>
        </p:nvSpPr>
        <p:spPr>
          <a:xfrm>
            <a:off x="3148965" y="5343525"/>
            <a:ext cx="19183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+0.25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093E73E-96D6-4B5C-BD42-5627279F30F4}"/>
              </a:ext>
            </a:extLst>
          </p:cNvPr>
          <p:cNvSpPr>
            <a:spLocks noGrp="1"/>
          </p:cNvSpPr>
          <p:nvPr/>
        </p:nvSpPr>
        <p:spPr>
          <a:xfrm>
            <a:off x="5905500" y="38862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Qualified handoff 必須同時滿足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A34D952-30ED-47E7-8D40-35861F39E1A2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• 單指 release 至少 2 control steps</a:t>
            </a:r>
          </a:p>
          <a:p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• 其他至少 2 指持續接觸</a:t>
            </a:r>
          </a:p>
          <a:p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• 球仍在 retention 範圍且無 palm contact</a:t>
            </a:r>
          </a:p>
          <a:p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• 在 timeout 前 recontact，且速度恢復達標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7CDA4AA-8A4E-4ECA-8FCD-318253A669D9}"/>
              </a:ext>
            </a:extLst>
          </p:cNvPr>
          <p:cNvSpPr>
            <a:spLocks noGrp="1"/>
          </p:cNvSpPr>
          <p:nvPr/>
        </p:nvSpPr>
        <p:spPr>
          <a:xfrm>
            <a:off x="514350" y="59626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RUN  V1  12-19-14 / 12-36-43     V2  14-58-36 / 15-47-22</a:t>
            </a:r>
          </a:p>
        </p:txBody>
      </p:sp>
    </p:spTree>
    <p:extLst>
      <p:ext uri="{BB962C8B-B14F-4D97-AF65-F5344CB8AC3E}">
        <p14:creationId xmlns:p14="http://schemas.microsoft.com/office/powerpoint/2010/main" val="1465415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7524861-1744-43E4-9166-959F276641E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E3E557-38E4-4C7A-8226-7A003A46DD30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 證明抓球不是瓶頸，正向旋轉才是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BF74D3-9D47-426B-BEF9-4372435269DB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3E6836-9C20-42A2-B376-209A70DAB09D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2026-07-22_15-47-22_mujoco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C297E1B-DFDD-4618-812A-87214DAA06B9}"/>
              </a:ext>
            </a:extLst>
          </p:cNvPr>
          <p:cNvSpPr>
            <a:spLocks noGrp="1"/>
          </p:cNvSpPr>
          <p:nvPr/>
        </p:nvSpPr>
        <p:spPr>
          <a:xfrm>
            <a:off x="514350" y="18288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F86D5C-2D14-47E3-A7C3-E4C5DF86FFBB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22.33 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113C60-1B9B-4C48-8BFD-8825E15811BF}"/>
              </a:ext>
            </a:extLst>
          </p:cNvPr>
          <p:cNvSpPr>
            <a:spLocks noGrp="1"/>
          </p:cNvSpPr>
          <p:nvPr/>
        </p:nvSpPr>
        <p:spPr>
          <a:xfrm>
            <a:off x="704850" y="26098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平均存活時間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39787DA-471D-43ED-AF1F-66C19A7D220C}"/>
              </a:ext>
            </a:extLst>
          </p:cNvPr>
          <p:cNvSpPr>
            <a:spLocks noGrp="1"/>
          </p:cNvSpPr>
          <p:nvPr/>
        </p:nvSpPr>
        <p:spPr>
          <a:xfrm>
            <a:off x="3143250" y="18288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8998E5-3429-4D5A-8E95-8B2175535796}"/>
              </a:ext>
            </a:extLst>
          </p:cNvPr>
          <p:cNvSpPr>
            <a:spLocks noGrp="1"/>
          </p:cNvSpPr>
          <p:nvPr/>
        </p:nvSpPr>
        <p:spPr>
          <a:xfrm>
            <a:off x="3333750" y="20193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10.48 mm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94A6B6-09B2-46E9-A218-AE61BD38854A}"/>
              </a:ext>
            </a:extLst>
          </p:cNvPr>
          <p:cNvSpPr>
            <a:spLocks noGrp="1"/>
          </p:cNvSpPr>
          <p:nvPr/>
        </p:nvSpPr>
        <p:spPr>
          <a:xfrm>
            <a:off x="3333750" y="26098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平均 anchor error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399EA04-E25A-4C35-BF8B-01C31E72B61C}"/>
              </a:ext>
            </a:extLst>
          </p:cNvPr>
          <p:cNvSpPr>
            <a:spLocks noGrp="1"/>
          </p:cNvSpPr>
          <p:nvPr/>
        </p:nvSpPr>
        <p:spPr>
          <a:xfrm>
            <a:off x="5772150" y="18288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CEA13F-25BE-4EC1-A3E6-998BFAFDD65E}"/>
              </a:ext>
            </a:extLst>
          </p:cNvPr>
          <p:cNvSpPr>
            <a:spLocks noGrp="1"/>
          </p:cNvSpPr>
          <p:nvPr/>
        </p:nvSpPr>
        <p:spPr>
          <a:xfrm>
            <a:off x="5962650" y="20193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2.12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2CC161-C9BA-4CF7-84D2-DEB4379DD6DB}"/>
              </a:ext>
            </a:extLst>
          </p:cNvPr>
          <p:cNvSpPr>
            <a:spLocks noGrp="1"/>
          </p:cNvSpPr>
          <p:nvPr/>
        </p:nvSpPr>
        <p:spPr>
          <a:xfrm>
            <a:off x="5962650" y="26098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平均 fingertip contacts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B8FDA1F-3775-4B77-96D8-F64FB57EF202}"/>
              </a:ext>
            </a:extLst>
          </p:cNvPr>
          <p:cNvSpPr>
            <a:spLocks noGrp="1"/>
          </p:cNvSpPr>
          <p:nvPr/>
        </p:nvSpPr>
        <p:spPr>
          <a:xfrm>
            <a:off x="8401050" y="18288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984ACB-AFE9-4527-BB48-D3AEA92FE847}"/>
              </a:ext>
            </a:extLst>
          </p:cNvPr>
          <p:cNvSpPr>
            <a:spLocks noGrp="1"/>
          </p:cNvSpPr>
          <p:nvPr/>
        </p:nvSpPr>
        <p:spPr>
          <a:xfrm>
            <a:off x="8591550" y="20193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0.055%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FA927C-64D4-416F-8677-7B83D9F0FA21}"/>
              </a:ext>
            </a:extLst>
          </p:cNvPr>
          <p:cNvSpPr>
            <a:spLocks noGrp="1"/>
          </p:cNvSpPr>
          <p:nvPr/>
        </p:nvSpPr>
        <p:spPr>
          <a:xfrm>
            <a:off x="8591550" y="26098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termination rate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CC6FEE-57D7-46E4-901A-4BC4198756C8}"/>
              </a:ext>
            </a:extLst>
          </p:cNvPr>
          <p:cNvSpPr>
            <a:spLocks noGrp="1"/>
          </p:cNvSpPr>
          <p:nvPr/>
        </p:nvSpPr>
        <p:spPr>
          <a:xfrm>
            <a:off x="514350" y="3619500"/>
            <a:ext cx="76200" cy="323850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091C6D-F391-4AB7-BD7A-ABC4690CEB11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真正卡住的 gate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5FDA06-E8C2-469A-95BA-268CB656F57F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Positive speed gate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A9B0B8-3227-4511-89DB-59BC3FBCD5A8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1.97%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E7F476-E062-4171-809F-D07186DDDADB}"/>
              </a:ext>
            </a:extLst>
          </p:cNvPr>
          <p:cNvSpPr>
            <a:spLocks noGrp="1"/>
          </p:cNvSpPr>
          <p:nvPr/>
        </p:nvSpPr>
        <p:spPr>
          <a:xfrm>
            <a:off x="4095750" y="4114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Qualified handoff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435153-F7D8-4816-A015-C546B48573FE}"/>
              </a:ext>
            </a:extLst>
          </p:cNvPr>
          <p:cNvSpPr>
            <a:spLocks noGrp="1"/>
          </p:cNvSpPr>
          <p:nvPr/>
        </p:nvSpPr>
        <p:spPr>
          <a:xfrm>
            <a:off x="4095750" y="45720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&lt; 0.11%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643C91-9D8C-411B-8BB2-C72B6083F2EC}"/>
              </a:ext>
            </a:extLst>
          </p:cNvPr>
          <p:cNvSpPr>
            <a:spLocks noGrp="1"/>
          </p:cNvSpPr>
          <p:nvPr/>
        </p:nvSpPr>
        <p:spPr>
          <a:xfrm>
            <a:off x="7448550" y="4114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2s / 5s / 10s success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82EC69-C4E9-4884-B894-1E69036FFE44}"/>
              </a:ext>
            </a:extLst>
          </p:cNvPr>
          <p:cNvSpPr>
            <a:spLocks noGrp="1"/>
          </p:cNvSpPr>
          <p:nvPr/>
        </p:nvSpPr>
        <p:spPr>
          <a:xfrm>
            <a:off x="7448550" y="45720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全部為 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D68A46-4AE1-45FB-8439-7EABA8AFE31B}"/>
              </a:ext>
            </a:extLst>
          </p:cNvPr>
          <p:cNvSpPr>
            <a:spLocks noGrp="1"/>
          </p:cNvSpPr>
          <p:nvPr/>
        </p:nvSpPr>
        <p:spPr>
          <a:xfrm>
            <a:off x="514350" y="5810250"/>
            <a:ext cx="1076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研究判斷：在 policy 尚未可靠取得正向旋轉前，強制 handoff 會讓探索問題更稀疏。</a:t>
            </a:r>
          </a:p>
        </p:txBody>
      </p:sp>
    </p:spTree>
    <p:extLst>
      <p:ext uri="{BB962C8B-B14F-4D97-AF65-F5344CB8AC3E}">
        <p14:creationId xmlns:p14="http://schemas.microsoft.com/office/powerpoint/2010/main" val="991689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7ABF11C5-D384-4450-83AF-36165C5ED88F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93DB30-C108-4144-A248-1ED189F25356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 任務移除 handoff，隔離固定 +Z 旋轉 acquisition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6AA661-ACFD-4621-B01F-22747A54A9DC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7D28B0-4689-4FC8-9D20-653CDCC8BEA9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固定目標：world +Z · 0.30 rad/s · cache reset · 25 秒 episode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E09A5C-1A50-450E-B118-FB07C7A9736A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2571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994AF8-BABA-4944-BDE3-2D35C3A62F83}"/>
              </a:ext>
            </a:extLst>
          </p:cNvPr>
          <p:cNvSpPr>
            <a:spLocks noGrp="1"/>
          </p:cNvSpPr>
          <p:nvPr/>
        </p:nvSpPr>
        <p:spPr>
          <a:xfrm>
            <a:off x="3086100" y="1809750"/>
            <a:ext cx="2190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0B53EF-EE3B-49F3-9423-268DCA437424}"/>
              </a:ext>
            </a:extLst>
          </p:cNvPr>
          <p:cNvSpPr>
            <a:spLocks noGrp="1"/>
          </p:cNvSpPr>
          <p:nvPr/>
        </p:nvSpPr>
        <p:spPr>
          <a:xfrm>
            <a:off x="628650" y="18954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Positive term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8D1056-27E3-4407-B622-7B4613F8A2C4}"/>
              </a:ext>
            </a:extLst>
          </p:cNvPr>
          <p:cNvSpPr>
            <a:spLocks noGrp="1"/>
          </p:cNvSpPr>
          <p:nvPr/>
        </p:nvSpPr>
        <p:spPr>
          <a:xfrm>
            <a:off x="3200400" y="18954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Weight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D8FAD3-B7D3-4211-B201-9277CCDB4452}"/>
              </a:ext>
            </a:extLst>
          </p:cNvPr>
          <p:cNvSpPr>
            <a:spLocks noGrp="1"/>
          </p:cNvSpPr>
          <p:nvPr/>
        </p:nvSpPr>
        <p:spPr>
          <a:xfrm>
            <a:off x="514350" y="2266950"/>
            <a:ext cx="2571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EB01F0-FD76-4272-8603-A96C152A24A2}"/>
              </a:ext>
            </a:extLst>
          </p:cNvPr>
          <p:cNvSpPr>
            <a:spLocks noGrp="1"/>
          </p:cNvSpPr>
          <p:nvPr/>
        </p:nvSpPr>
        <p:spPr>
          <a:xfrm>
            <a:off x="3086100" y="2266950"/>
            <a:ext cx="2190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5B6DC7-C311-43BC-89EF-91AA5BDBDA80}"/>
              </a:ext>
            </a:extLst>
          </p:cNvPr>
          <p:cNvSpPr>
            <a:spLocks noGrp="1"/>
          </p:cNvSpPr>
          <p:nvPr/>
        </p:nvSpPr>
        <p:spPr>
          <a:xfrm>
            <a:off x="628650" y="23526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stable_rotation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20A59D-0AFB-4A4B-87C6-3022F8130A5F}"/>
              </a:ext>
            </a:extLst>
          </p:cNvPr>
          <p:cNvSpPr>
            <a:spLocks noGrp="1"/>
          </p:cNvSpPr>
          <p:nvPr/>
        </p:nvSpPr>
        <p:spPr>
          <a:xfrm>
            <a:off x="3200400" y="23526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+6.0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7958FF-F205-4FA5-B79A-8B631B1AFFA1}"/>
              </a:ext>
            </a:extLst>
          </p:cNvPr>
          <p:cNvSpPr>
            <a:spLocks noGrp="1"/>
          </p:cNvSpPr>
          <p:nvPr/>
        </p:nvSpPr>
        <p:spPr>
          <a:xfrm>
            <a:off x="514350" y="2724150"/>
            <a:ext cx="2571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59B12B-E9B1-4179-89CE-3EC9E58C7A38}"/>
              </a:ext>
            </a:extLst>
          </p:cNvPr>
          <p:cNvSpPr>
            <a:spLocks noGrp="1"/>
          </p:cNvSpPr>
          <p:nvPr/>
        </p:nvSpPr>
        <p:spPr>
          <a:xfrm>
            <a:off x="3086100" y="2724150"/>
            <a:ext cx="2190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9095A5-13C0-45B9-95FA-95758FF55C3A}"/>
              </a:ext>
            </a:extLst>
          </p:cNvPr>
          <p:cNvSpPr>
            <a:spLocks noGrp="1"/>
          </p:cNvSpPr>
          <p:nvPr/>
        </p:nvSpPr>
        <p:spPr>
          <a:xfrm>
            <a:off x="628650" y="28098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rotation_streak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B4145E-5CB3-4945-96B6-69DF44938867}"/>
              </a:ext>
            </a:extLst>
          </p:cNvPr>
          <p:cNvSpPr>
            <a:spLocks noGrp="1"/>
          </p:cNvSpPr>
          <p:nvPr/>
        </p:nvSpPr>
        <p:spPr>
          <a:xfrm>
            <a:off x="3200400" y="28098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2E03D4-287F-4243-BAE5-C9A59ADEA2E4}"/>
              </a:ext>
            </a:extLst>
          </p:cNvPr>
          <p:cNvSpPr>
            <a:spLocks noGrp="1"/>
          </p:cNvSpPr>
          <p:nvPr/>
        </p:nvSpPr>
        <p:spPr>
          <a:xfrm>
            <a:off x="514350" y="3181350"/>
            <a:ext cx="2571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411836-077A-43B6-84CE-DE2C47E437AA}"/>
              </a:ext>
            </a:extLst>
          </p:cNvPr>
          <p:cNvSpPr>
            <a:spLocks noGrp="1"/>
          </p:cNvSpPr>
          <p:nvPr/>
        </p:nvSpPr>
        <p:spPr>
          <a:xfrm>
            <a:off x="3086100" y="3181350"/>
            <a:ext cx="2190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7772A6-0A19-4B0A-BFA2-9B000A0D50B4}"/>
              </a:ext>
            </a:extLst>
          </p:cNvPr>
          <p:cNvSpPr>
            <a:spLocks noGrp="1"/>
          </p:cNvSpPr>
          <p:nvPr/>
        </p:nvSpPr>
        <p:spPr>
          <a:xfrm>
            <a:off x="628650" y="32670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thumb_contact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5E53D2-0956-4BCC-A3C2-6BCBC921CEC1}"/>
              </a:ext>
            </a:extLst>
          </p:cNvPr>
          <p:cNvSpPr>
            <a:spLocks noGrp="1"/>
          </p:cNvSpPr>
          <p:nvPr/>
        </p:nvSpPr>
        <p:spPr>
          <a:xfrm>
            <a:off x="3200400" y="32670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D5E263-4B70-429D-8907-E3454B5EE074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2571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E0A63D5-516D-474F-ADBE-1D5A4F8AAEC3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2190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EE8506-4D83-4A10-A9DB-F96EF007C6FD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fingertip_support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9BEBB2-79E6-46F0-84F8-8ABD06536E89}"/>
              </a:ext>
            </a:extLst>
          </p:cNvPr>
          <p:cNvSpPr>
            <a:spLocks noGrp="1"/>
          </p:cNvSpPr>
          <p:nvPr/>
        </p:nvSpPr>
        <p:spPr>
          <a:xfrm>
            <a:off x="3200400" y="37242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+0.15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9F9369-18D4-408A-B830-88871E8B5E24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2571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0A5B47-67E0-4CD5-B6DE-F89508C31FC6}"/>
              </a:ext>
            </a:extLst>
          </p:cNvPr>
          <p:cNvSpPr>
            <a:spLocks noGrp="1"/>
          </p:cNvSpPr>
          <p:nvPr/>
        </p:nvSpPr>
        <p:spPr>
          <a:xfrm>
            <a:off x="3086100" y="4095750"/>
            <a:ext cx="2190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55187F-AF5C-4C42-A63B-D3D42F59CABE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center_recovery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C39BF8-A75B-4E06-8925-8A350575AD46}"/>
              </a:ext>
            </a:extLst>
          </p:cNvPr>
          <p:cNvSpPr>
            <a:spLocks noGrp="1"/>
          </p:cNvSpPr>
          <p:nvPr/>
        </p:nvSpPr>
        <p:spPr>
          <a:xfrm>
            <a:off x="3200400" y="41814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+1.0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6D728B-7FA7-47E4-89E8-69BB59B7B31E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277749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B7AF0B-819A-4036-B2ED-F4BD1C648284}"/>
              </a:ext>
            </a:extLst>
          </p:cNvPr>
          <p:cNvSpPr>
            <a:spLocks noGrp="1"/>
          </p:cNvSpPr>
          <p:nvPr/>
        </p:nvSpPr>
        <p:spPr>
          <a:xfrm>
            <a:off x="8682990" y="1809750"/>
            <a:ext cx="236601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D7ABA27-606E-452B-9345-29FF5AB2B317}"/>
              </a:ext>
            </a:extLst>
          </p:cNvPr>
          <p:cNvSpPr>
            <a:spLocks noGrp="1"/>
          </p:cNvSpPr>
          <p:nvPr/>
        </p:nvSpPr>
        <p:spPr>
          <a:xfrm>
            <a:off x="6019800" y="18954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Cost / penalty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9B1913A-4CE7-4F43-A373-EF0B16034CA6}"/>
              </a:ext>
            </a:extLst>
          </p:cNvPr>
          <p:cNvSpPr>
            <a:spLocks noGrp="1"/>
          </p:cNvSpPr>
          <p:nvPr/>
        </p:nvSpPr>
        <p:spPr>
          <a:xfrm>
            <a:off x="8797290" y="18954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Weight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7C6613-4BBB-4739-9794-11A5DA947818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77749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C90DF6-70BF-4CB7-AE3D-78C04B2068DB}"/>
              </a:ext>
            </a:extLst>
          </p:cNvPr>
          <p:cNvSpPr>
            <a:spLocks noGrp="1"/>
          </p:cNvSpPr>
          <p:nvPr/>
        </p:nvSpPr>
        <p:spPr>
          <a:xfrm>
            <a:off x="8682990" y="2266950"/>
            <a:ext cx="236601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EBB7CF8-9716-4C6E-B912-F2DC64456EAE}"/>
              </a:ext>
            </a:extLst>
          </p:cNvPr>
          <p:cNvSpPr>
            <a:spLocks noGrp="1"/>
          </p:cNvSpPr>
          <p:nvPr/>
        </p:nvSpPr>
        <p:spPr>
          <a:xfrm>
            <a:off x="6019800" y="23526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stall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1813190-A973-474F-B919-878CDF24147E}"/>
              </a:ext>
            </a:extLst>
          </p:cNvPr>
          <p:cNvSpPr>
            <a:spLocks noGrp="1"/>
          </p:cNvSpPr>
          <p:nvPr/>
        </p:nvSpPr>
        <p:spPr>
          <a:xfrm>
            <a:off x="8797290" y="23526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-1.0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7577287-F977-41A0-848B-9A27EEA48318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277749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9D2967-065A-4419-9547-4D9070F2D097}"/>
              </a:ext>
            </a:extLst>
          </p:cNvPr>
          <p:cNvSpPr>
            <a:spLocks noGrp="1"/>
          </p:cNvSpPr>
          <p:nvPr/>
        </p:nvSpPr>
        <p:spPr>
          <a:xfrm>
            <a:off x="8682990" y="2724150"/>
            <a:ext cx="236601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DEC5A3E-4340-47DF-978E-C480314CC973}"/>
              </a:ext>
            </a:extLst>
          </p:cNvPr>
          <p:cNvSpPr>
            <a:spLocks noGrp="1"/>
          </p:cNvSpPr>
          <p:nvPr/>
        </p:nvSpPr>
        <p:spPr>
          <a:xfrm>
            <a:off x="6019800" y="28098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reverse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D246009-3A23-45FA-B04B-0480A0AC3A7B}"/>
              </a:ext>
            </a:extLst>
          </p:cNvPr>
          <p:cNvSpPr>
            <a:spLocks noGrp="1"/>
          </p:cNvSpPr>
          <p:nvPr/>
        </p:nvSpPr>
        <p:spPr>
          <a:xfrm>
            <a:off x="8797290" y="28098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-4.0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42609DC-F8D2-4CB6-941B-1982D1A2952A}"/>
              </a:ext>
            </a:extLst>
          </p:cNvPr>
          <p:cNvSpPr>
            <a:spLocks noGrp="1"/>
          </p:cNvSpPr>
          <p:nvPr/>
        </p:nvSpPr>
        <p:spPr>
          <a:xfrm>
            <a:off x="5905500" y="3181350"/>
            <a:ext cx="277749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CE4D49E-9B7E-43E9-A1F6-868499462DFF}"/>
              </a:ext>
            </a:extLst>
          </p:cNvPr>
          <p:cNvSpPr>
            <a:spLocks noGrp="1"/>
          </p:cNvSpPr>
          <p:nvPr/>
        </p:nvSpPr>
        <p:spPr>
          <a:xfrm>
            <a:off x="8682990" y="3181350"/>
            <a:ext cx="236601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896C288-1A01-422A-888E-DB2B5D926AD7}"/>
              </a:ext>
            </a:extLst>
          </p:cNvPr>
          <p:cNvSpPr>
            <a:spLocks noGrp="1"/>
          </p:cNvSpPr>
          <p:nvPr/>
        </p:nvSpPr>
        <p:spPr>
          <a:xfrm>
            <a:off x="6019800" y="32670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object_center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3F7CC4C-2C3E-4542-91B4-BD73303FEEF1}"/>
              </a:ext>
            </a:extLst>
          </p:cNvPr>
          <p:cNvSpPr>
            <a:spLocks noGrp="1"/>
          </p:cNvSpPr>
          <p:nvPr/>
        </p:nvSpPr>
        <p:spPr>
          <a:xfrm>
            <a:off x="8797290" y="32670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-2.5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D83945-261E-4DAF-BF60-B1D5B4C09AF0}"/>
              </a:ext>
            </a:extLst>
          </p:cNvPr>
          <p:cNvSpPr>
            <a:spLocks noGrp="1"/>
          </p:cNvSpPr>
          <p:nvPr/>
        </p:nvSpPr>
        <p:spPr>
          <a:xfrm>
            <a:off x="5905500" y="3638550"/>
            <a:ext cx="277749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E2E36E-8008-4954-BA2C-2A7D6C294BB0}"/>
              </a:ext>
            </a:extLst>
          </p:cNvPr>
          <p:cNvSpPr>
            <a:spLocks noGrp="1"/>
          </p:cNvSpPr>
          <p:nvPr/>
        </p:nvSpPr>
        <p:spPr>
          <a:xfrm>
            <a:off x="8682990" y="3638550"/>
            <a:ext cx="236601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BE7524A-40AA-4D97-A36E-FB5EB79090EE}"/>
              </a:ext>
            </a:extLst>
          </p:cNvPr>
          <p:cNvSpPr>
            <a:spLocks noGrp="1"/>
          </p:cNvSpPr>
          <p:nvPr/>
        </p:nvSpPr>
        <p:spPr>
          <a:xfrm>
            <a:off x="6019800" y="37242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object_linear_velocity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4ED5173-0EF5-443B-AF72-03A9E095540D}"/>
              </a:ext>
            </a:extLst>
          </p:cNvPr>
          <p:cNvSpPr>
            <a:spLocks noGrp="1"/>
          </p:cNvSpPr>
          <p:nvPr/>
        </p:nvSpPr>
        <p:spPr>
          <a:xfrm>
            <a:off x="8797290" y="37242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-0.4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23B82DD-AAF6-4D53-B578-B5B65AA05B03}"/>
              </a:ext>
            </a:extLst>
          </p:cNvPr>
          <p:cNvSpPr>
            <a:spLocks noGrp="1"/>
          </p:cNvSpPr>
          <p:nvPr/>
        </p:nvSpPr>
        <p:spPr>
          <a:xfrm>
            <a:off x="5905500" y="4095750"/>
            <a:ext cx="277749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CE1B45-4277-46FA-94BB-1DD0DC2C3FCD}"/>
              </a:ext>
            </a:extLst>
          </p:cNvPr>
          <p:cNvSpPr>
            <a:spLocks noGrp="1"/>
          </p:cNvSpPr>
          <p:nvPr/>
        </p:nvSpPr>
        <p:spPr>
          <a:xfrm>
            <a:off x="8682990" y="4095750"/>
            <a:ext cx="236601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AD05E7B-B2B6-4BF8-B080-B5E7B94E6150}"/>
              </a:ext>
            </a:extLst>
          </p:cNvPr>
          <p:cNvSpPr>
            <a:spLocks noGrp="1"/>
          </p:cNvSpPr>
          <p:nvPr/>
        </p:nvSpPr>
        <p:spPr>
          <a:xfrm>
            <a:off x="6019800" y="41814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palm_contact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2A5AAC-059F-46B6-8C98-20207D4AE367}"/>
              </a:ext>
            </a:extLst>
          </p:cNvPr>
          <p:cNvSpPr>
            <a:spLocks noGrp="1"/>
          </p:cNvSpPr>
          <p:nvPr/>
        </p:nvSpPr>
        <p:spPr>
          <a:xfrm>
            <a:off x="8797290" y="41814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-1.0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54A1198-C3B5-4975-9737-DDA2304D63FF}"/>
              </a:ext>
            </a:extLst>
          </p:cNvPr>
          <p:cNvSpPr>
            <a:spLocks noGrp="1"/>
          </p:cNvSpPr>
          <p:nvPr/>
        </p:nvSpPr>
        <p:spPr>
          <a:xfrm>
            <a:off x="5905500" y="4552950"/>
            <a:ext cx="277749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0B1D2C2-2EF7-404F-9A90-5FE3BEAE8AFF}"/>
              </a:ext>
            </a:extLst>
          </p:cNvPr>
          <p:cNvSpPr>
            <a:spLocks noGrp="1"/>
          </p:cNvSpPr>
          <p:nvPr/>
        </p:nvSpPr>
        <p:spPr>
          <a:xfrm>
            <a:off x="8682990" y="4552950"/>
            <a:ext cx="236601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DA8A80F-D715-47CD-A67A-FB19417CF79B}"/>
              </a:ext>
            </a:extLst>
          </p:cNvPr>
          <p:cNvSpPr>
            <a:spLocks noGrp="1"/>
          </p:cNvSpPr>
          <p:nvPr/>
        </p:nvSpPr>
        <p:spPr>
          <a:xfrm>
            <a:off x="6019800" y="46386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orthogonal_speed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CB7D58A-FE3C-4B5B-AA88-6C830D536CA3}"/>
              </a:ext>
            </a:extLst>
          </p:cNvPr>
          <p:cNvSpPr>
            <a:spLocks noGrp="1"/>
          </p:cNvSpPr>
          <p:nvPr/>
        </p:nvSpPr>
        <p:spPr>
          <a:xfrm>
            <a:off x="8797290" y="46386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-0.25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9E3DE05-59B0-4879-AF0E-DAC270DED4CB}"/>
              </a:ext>
            </a:extLst>
          </p:cNvPr>
          <p:cNvSpPr>
            <a:spLocks noGrp="1"/>
          </p:cNvSpPr>
          <p:nvPr/>
        </p:nvSpPr>
        <p:spPr>
          <a:xfrm>
            <a:off x="5905500" y="5010150"/>
            <a:ext cx="277749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F6E9883-4BBE-4360-BCF3-1619735C6CAB}"/>
              </a:ext>
            </a:extLst>
          </p:cNvPr>
          <p:cNvSpPr>
            <a:spLocks noGrp="1"/>
          </p:cNvSpPr>
          <p:nvPr/>
        </p:nvSpPr>
        <p:spPr>
          <a:xfrm>
            <a:off x="8682990" y="5010150"/>
            <a:ext cx="236601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EC74417-E410-4728-BFF1-89B34844E248}"/>
              </a:ext>
            </a:extLst>
          </p:cNvPr>
          <p:cNvSpPr>
            <a:spLocks noGrp="1"/>
          </p:cNvSpPr>
          <p:nvPr/>
        </p:nvSpPr>
        <p:spPr>
          <a:xfrm>
            <a:off x="6019800" y="50958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failure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A9E5F80-00BA-4F72-AE7B-DADEBF1B617D}"/>
              </a:ext>
            </a:extLst>
          </p:cNvPr>
          <p:cNvSpPr>
            <a:spLocks noGrp="1"/>
          </p:cNvSpPr>
          <p:nvPr/>
        </p:nvSpPr>
        <p:spPr>
          <a:xfrm>
            <a:off x="8797290" y="50958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-5.0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2165A0E-BF05-472D-83C3-D71509B7D97F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Direct 的 reward 尺度與其他任務不同；總 reward 只能在 Direct 自身的 checkpoints 間比較。</a:t>
            </a:r>
          </a:p>
        </p:txBody>
      </p:sp>
    </p:spTree>
    <p:extLst>
      <p:ext uri="{BB962C8B-B14F-4D97-AF65-F5344CB8AC3E}">
        <p14:creationId xmlns:p14="http://schemas.microsoft.com/office/powerpoint/2010/main" val="1697663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E3D9B3A-8C5F-429B-87CF-E4D371D6EF6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758B0C-D835-4E33-9D2C-57DD160EDA00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 的高 return 是 acquisition 訊號，不是持續旋轉完成證明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038263-99A9-4558-A345-30F2835A7EA4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DBFB35-7E29-4B74-B07D-FA9BCD9AF0D0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2026-07-22_21-27-39_mujoco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3A6E7EB-74A6-43B3-A75B-68DAE73CAB36}"/>
              </a:ext>
            </a:extLst>
          </p:cNvPr>
          <p:cNvSpPr>
            <a:spLocks noGrp="1"/>
          </p:cNvSpPr>
          <p:nvPr/>
        </p:nvSpPr>
        <p:spPr>
          <a:xfrm>
            <a:off x="514350" y="188595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0AA9BD-C941-411D-8E4F-F4DD605E6A98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99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FADAE0-EB05-48A1-9BDE-26693E204F70}"/>
              </a:ext>
            </a:extLst>
          </p:cNvPr>
          <p:cNvSpPr>
            <a:spLocks noGrp="1"/>
          </p:cNvSpPr>
          <p:nvPr/>
        </p:nvSpPr>
        <p:spPr>
          <a:xfrm>
            <a:off x="704850" y="26670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completed iterations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F8067BE-36A4-4EA3-89B4-0D0B234E9E88}"/>
              </a:ext>
            </a:extLst>
          </p:cNvPr>
          <p:cNvSpPr>
            <a:spLocks noGrp="1"/>
          </p:cNvSpPr>
          <p:nvPr/>
        </p:nvSpPr>
        <p:spPr>
          <a:xfrm>
            <a:off x="3238500" y="188595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043A8-5144-4CC2-AC74-10C3E0B6ABAF}"/>
              </a:ext>
            </a:extLst>
          </p:cNvPr>
          <p:cNvSpPr>
            <a:spLocks noGrp="1"/>
          </p:cNvSpPr>
          <p:nvPr/>
        </p:nvSpPr>
        <p:spPr>
          <a:xfrm>
            <a:off x="3429000" y="20764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3.28M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140860-D0CF-4CBB-909E-80694435A223}"/>
              </a:ext>
            </a:extLst>
          </p:cNvPr>
          <p:cNvSpPr>
            <a:spLocks noGrp="1"/>
          </p:cNvSpPr>
          <p:nvPr/>
        </p:nvSpPr>
        <p:spPr>
          <a:xfrm>
            <a:off x="3429000" y="26670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environment steps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74F316E-662E-4374-80AC-2D40D3B0C3FF}"/>
              </a:ext>
            </a:extLst>
          </p:cNvPr>
          <p:cNvSpPr>
            <a:spLocks noGrp="1"/>
          </p:cNvSpPr>
          <p:nvPr/>
        </p:nvSpPr>
        <p:spPr>
          <a:xfrm>
            <a:off x="5962650" y="188595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9A510F-9B1F-4983-9E2E-0D47D40573DC}"/>
              </a:ext>
            </a:extLst>
          </p:cNvPr>
          <p:cNvSpPr>
            <a:spLocks noGrp="1"/>
          </p:cNvSpPr>
          <p:nvPr/>
        </p:nvSpPr>
        <p:spPr>
          <a:xfrm>
            <a:off x="6153150" y="20764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17.24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3569E1-79A9-4FF7-A6D5-1B9CEFD0690C}"/>
              </a:ext>
            </a:extLst>
          </p:cNvPr>
          <p:cNvSpPr>
            <a:spLocks noGrp="1"/>
          </p:cNvSpPr>
          <p:nvPr/>
        </p:nvSpPr>
        <p:spPr>
          <a:xfrm>
            <a:off x="6153150" y="26670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final mean reward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1694711-AB41-4A2F-8E83-18143DA90A0E}"/>
              </a:ext>
            </a:extLst>
          </p:cNvPr>
          <p:cNvSpPr>
            <a:spLocks noGrp="1"/>
          </p:cNvSpPr>
          <p:nvPr/>
        </p:nvSpPr>
        <p:spPr>
          <a:xfrm>
            <a:off x="8686800" y="188595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ABD1E6-65D6-43CF-A7EC-528CB4938992}"/>
              </a:ext>
            </a:extLst>
          </p:cNvPr>
          <p:cNvSpPr>
            <a:spLocks noGrp="1"/>
          </p:cNvSpPr>
          <p:nvPr/>
        </p:nvSpPr>
        <p:spPr>
          <a:xfrm>
            <a:off x="8877300" y="20764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24.95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641CF5-82CC-4606-BA5C-09752C41A50B}"/>
              </a:ext>
            </a:extLst>
          </p:cNvPr>
          <p:cNvSpPr>
            <a:spLocks noGrp="1"/>
          </p:cNvSpPr>
          <p:nvPr/>
        </p:nvSpPr>
        <p:spPr>
          <a:xfrm>
            <a:off x="8877300" y="26670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best mean reward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965542B-EAA9-4920-877F-D2B287B769FC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4953000" cy="1638300"/>
          </a:xfrm>
          <a:prstGeom prst="roundRect">
            <a:avLst>
              <a:gd name="adj" fmla="val 4651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3AB842-147B-40E3-A715-64FDD8545AFE}"/>
              </a:ext>
            </a:extLst>
          </p:cNvPr>
          <p:cNvSpPr>
            <a:spLocks noGrp="1"/>
          </p:cNvSpPr>
          <p:nvPr/>
        </p:nvSpPr>
        <p:spPr>
          <a:xfrm>
            <a:off x="781050" y="39624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它回答了什麼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3B3506-8545-4827-9C80-5891EFF807E5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4191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去掉 curriculum 與 handoff 後，policy 能更容易取得直接 rotation reward，說明原任務存在探索稀疏性。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B4500E2-55BB-42E4-B13A-5EC33B09DBB6}"/>
              </a:ext>
            </a:extLst>
          </p:cNvPr>
          <p:cNvSpPr>
            <a:spLocks noGrp="1"/>
          </p:cNvSpPr>
          <p:nvPr/>
        </p:nvSpPr>
        <p:spPr>
          <a:xfrm>
            <a:off x="5962650" y="3714750"/>
            <a:ext cx="4953000" cy="1638300"/>
          </a:xfrm>
          <a:prstGeom prst="roundRect">
            <a:avLst>
              <a:gd name="adj" fmla="val 4651"/>
            </a:avLst>
          </a:prstGeom>
          <a:solidFill>
            <a:srgbClr val="FEE4E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453CE0-BEDD-42C6-9686-9076D24BCB4F}"/>
              </a:ext>
            </a:extLst>
          </p:cNvPr>
          <p:cNvSpPr>
            <a:spLocks noGrp="1"/>
          </p:cNvSpPr>
          <p:nvPr/>
        </p:nvSpPr>
        <p:spPr>
          <a:xfrm>
            <a:off x="6229350" y="39624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它沒有回答什麼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83FF3E-B53D-4F76-B9C9-8139CC97A671}"/>
              </a:ext>
            </a:extLst>
          </p:cNvPr>
          <p:cNvSpPr>
            <a:spLocks noGrp="1"/>
          </p:cNvSpPr>
          <p:nvPr/>
        </p:nvSpPr>
        <p:spPr>
          <a:xfrm>
            <a:off x="6229350" y="4400550"/>
            <a:ext cx="4191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 iterations 與高 return 不能證明多圈持續旋轉、自然 handoff、跨 seed 穩定或 sim-to-real 可行。</a:t>
            </a:r>
          </a:p>
        </p:txBody>
      </p:sp>
    </p:spTree>
    <p:extLst>
      <p:ext uri="{BB962C8B-B14F-4D97-AF65-F5344CB8AC3E}">
        <p14:creationId xmlns:p14="http://schemas.microsoft.com/office/powerpoint/2010/main" val="603396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FFC662B-B08B-4FAB-8D4F-898DD44E0CB4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07AEA3-1D2C-43E5-A0FB-D0D88E4FA1F0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Gaiting 把簡化 rotation reward 與受限 handoff 重新整合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44EF9F-B37E-4DB1-8A0B-0CFF534F626C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AC80084-F1DB-46F7-A41A-A1FE5C2988D0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4762500" cy="3048000"/>
          </a:xfrm>
          <a:prstGeom prst="roundRect">
            <a:avLst>
              <a:gd name="adj" fmla="val 2500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1BB4B1-9687-4741-9F04-6019AED7DFCF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V1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B239FE-68D2-432D-8119-9339AF10BF4A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3905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主 reward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rotate +1.25 · obj_linvel -0.3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position_error -6 · stall -0.05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failure -1</a:t>
            </a:r>
          </a:p>
          <a:p>
            <a:endParaRPr sz="1350" b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Gaiting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stable +0.20 · release +0.05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handoff +0.25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3F1170-8781-4995-904A-E6AEE2A26B02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RUN  2026-07-27_12-09-05_mujoco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74F1BE9-3149-41FA-876E-2EA77CA0BE0E}"/>
              </a:ext>
            </a:extLst>
          </p:cNvPr>
          <p:cNvSpPr>
            <a:spLocks noGrp="1"/>
          </p:cNvSpPr>
          <p:nvPr/>
        </p:nvSpPr>
        <p:spPr>
          <a:xfrm>
            <a:off x="5962650" y="1524000"/>
            <a:ext cx="4953000" cy="3048000"/>
          </a:xfrm>
          <a:prstGeom prst="roundRect">
            <a:avLst>
              <a:gd name="adj" fmla="val 2500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FE7E8C-733F-4E9C-9C9E-900224F129D4}"/>
              </a:ext>
            </a:extLst>
          </p:cNvPr>
          <p:cNvSpPr>
            <a:spLocks noGrp="1"/>
          </p:cNvSpPr>
          <p:nvPr/>
        </p:nvSpPr>
        <p:spPr>
          <a:xfrm>
            <a:off x="6248400" y="179070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V2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DFA101-4EAD-40CA-B60A-EB02C706DA7B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主 reward 不變</a:t>
            </a:r>
          </a:p>
          <a:p>
            <a:endParaRPr sz="1350" b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stable / release shaping → 0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handoff bonus → 0.05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最少 handoff angle → 0.03 rad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只允許 index / middle / ring release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thumb 必須保留支撐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5488C5-5091-415C-A395-E802EF8F0BE5}"/>
              </a:ext>
            </a:extLst>
          </p:cNvPr>
          <p:cNvSpPr>
            <a:spLocks noGrp="1"/>
          </p:cNvSpPr>
          <p:nvPr/>
        </p:nvSpPr>
        <p:spPr>
          <a:xfrm>
            <a:off x="6248400" y="41910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RUN  12-15-14 / 12-15-31 / 12-26-57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D7AD24E-F8F5-490E-A7E1-15EBC19CF593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CF4C2A-952A-4108-8947-C8D743901BDE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299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5ECFE6-E7B0-48B1-ACCA-759D2D854305}"/>
              </a:ext>
            </a:extLst>
          </p:cNvPr>
          <p:cNvSpPr>
            <a:spLocks noGrp="1"/>
          </p:cNvSpPr>
          <p:nvPr/>
        </p:nvSpPr>
        <p:spPr>
          <a:xfrm>
            <a:off x="704850" y="57340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final run iterations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E01286A-1B44-4E20-8E44-F2738443E0E8}"/>
              </a:ext>
            </a:extLst>
          </p:cNvPr>
          <p:cNvSpPr>
            <a:spLocks noGrp="1"/>
          </p:cNvSpPr>
          <p:nvPr/>
        </p:nvSpPr>
        <p:spPr>
          <a:xfrm>
            <a:off x="3143250" y="49530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25991DA-F4C4-4C99-8BE0-2A51C474DF56}"/>
              </a:ext>
            </a:extLst>
          </p:cNvPr>
          <p:cNvSpPr>
            <a:spLocks noGrp="1"/>
          </p:cNvSpPr>
          <p:nvPr/>
        </p:nvSpPr>
        <p:spPr>
          <a:xfrm>
            <a:off x="3333750" y="5143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19.66M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4F7B6F-788C-4582-BC6D-6DFF6BF0523D}"/>
              </a:ext>
            </a:extLst>
          </p:cNvPr>
          <p:cNvSpPr>
            <a:spLocks noGrp="1"/>
          </p:cNvSpPr>
          <p:nvPr/>
        </p:nvSpPr>
        <p:spPr>
          <a:xfrm>
            <a:off x="3333750" y="57340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environment steps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B800DA7-271D-486D-B23A-AB2ADA650D92}"/>
              </a:ext>
            </a:extLst>
          </p:cNvPr>
          <p:cNvSpPr>
            <a:spLocks noGrp="1"/>
          </p:cNvSpPr>
          <p:nvPr/>
        </p:nvSpPr>
        <p:spPr>
          <a:xfrm>
            <a:off x="5772150" y="49530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2E644F-058F-41A4-A8AE-9A8074FE1DCE}"/>
              </a:ext>
            </a:extLst>
          </p:cNvPr>
          <p:cNvSpPr>
            <a:spLocks noGrp="1"/>
          </p:cNvSpPr>
          <p:nvPr/>
        </p:nvSpPr>
        <p:spPr>
          <a:xfrm>
            <a:off x="5962650" y="5143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600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DB9387-1614-4E55-997E-28C824AFC621}"/>
              </a:ext>
            </a:extLst>
          </p:cNvPr>
          <p:cNvSpPr>
            <a:spLocks noGrp="1"/>
          </p:cNvSpPr>
          <p:nvPr/>
        </p:nvSpPr>
        <p:spPr>
          <a:xfrm>
            <a:off x="5962650" y="57340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mean episode steps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C1B9B2-DF49-48E9-923B-18F62C287C68}"/>
              </a:ext>
            </a:extLst>
          </p:cNvPr>
          <p:cNvSpPr>
            <a:spLocks noGrp="1"/>
          </p:cNvSpPr>
          <p:nvPr/>
        </p:nvSpPr>
        <p:spPr>
          <a:xfrm>
            <a:off x="8667750" y="52006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完整存活 ≠ 成功旋轉</a:t>
            </a:r>
          </a:p>
        </p:txBody>
      </p:sp>
    </p:spTree>
    <p:extLst>
      <p:ext uri="{BB962C8B-B14F-4D97-AF65-F5344CB8AC3E}">
        <p14:creationId xmlns:p14="http://schemas.microsoft.com/office/powerpoint/2010/main" val="194542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>
            <a:extLst>
              <a:ext uri="{FF2B5EF4-FFF2-40B4-BE49-F238E27FC236}">
                <a16:creationId xmlns:a16="http://schemas.microsoft.com/office/drawing/2014/main" id="{42912419-BC40-4A85-A382-621C0D33DCAC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CE3B75-38A2-4B81-A50E-044CBC827E52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五個任務各自回答不同問題，不能只用 total reward 排名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824D0-04C2-4A29-813D-E794881FC466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4531B0-CB9E-40D8-AC6B-4FF14E066364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2190750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904C6B-A8C5-4EAF-ACF4-4D3656347AC2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E10551-38B2-4872-A50A-9E7FD4E3F37F}"/>
              </a:ext>
            </a:extLst>
          </p:cNvPr>
          <p:cNvSpPr>
            <a:spLocks noGrp="1"/>
          </p:cNvSpPr>
          <p:nvPr/>
        </p:nvSpPr>
        <p:spPr>
          <a:xfrm>
            <a:off x="2705100" y="1428750"/>
            <a:ext cx="2486025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4079CA-FB46-4F3C-8198-B9554E436D63}"/>
              </a:ext>
            </a:extLst>
          </p:cNvPr>
          <p:cNvSpPr>
            <a:spLocks noGrp="1"/>
          </p:cNvSpPr>
          <p:nvPr/>
        </p:nvSpPr>
        <p:spPr>
          <a:xfrm>
            <a:off x="2800350" y="1552575"/>
            <a:ext cx="2295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代表 RunId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4B7DB0-6799-429F-8DF4-DDBD5C375B9A}"/>
              </a:ext>
            </a:extLst>
          </p:cNvPr>
          <p:cNvSpPr>
            <a:spLocks noGrp="1"/>
          </p:cNvSpPr>
          <p:nvPr/>
        </p:nvSpPr>
        <p:spPr>
          <a:xfrm>
            <a:off x="5191125" y="1428750"/>
            <a:ext cx="2524125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D8599A-A9EF-48A8-96E9-8F8C807DD268}"/>
              </a:ext>
            </a:extLst>
          </p:cNvPr>
          <p:cNvSpPr>
            <a:spLocks noGrp="1"/>
          </p:cNvSpPr>
          <p:nvPr/>
        </p:nvSpPr>
        <p:spPr>
          <a:xfrm>
            <a:off x="5286375" y="1552575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主要問題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4F2F8B-5CE3-46EA-8860-B44E67FBE589}"/>
              </a:ext>
            </a:extLst>
          </p:cNvPr>
          <p:cNvSpPr>
            <a:spLocks noGrp="1"/>
          </p:cNvSpPr>
          <p:nvPr/>
        </p:nvSpPr>
        <p:spPr>
          <a:xfrm>
            <a:off x="7715250" y="1428750"/>
            <a:ext cx="2190750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7C9CE4-3ADC-4637-B1A7-3D2816ACFE66}"/>
              </a:ext>
            </a:extLst>
          </p:cNvPr>
          <p:cNvSpPr>
            <a:spLocks noGrp="1"/>
          </p:cNvSpPr>
          <p:nvPr/>
        </p:nvSpPr>
        <p:spPr>
          <a:xfrm>
            <a:off x="7810500" y="1552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可支持的結論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CAAA99-27D4-49C0-A4CB-A1FEFB8F9BCF}"/>
              </a:ext>
            </a:extLst>
          </p:cNvPr>
          <p:cNvSpPr>
            <a:spLocks noGrp="1"/>
          </p:cNvSpPr>
          <p:nvPr/>
        </p:nvSpPr>
        <p:spPr>
          <a:xfrm>
            <a:off x="9906000" y="1428750"/>
            <a:ext cx="1619250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BE3E97-3CEA-48A1-A065-1D3568CC3FA0}"/>
              </a:ext>
            </a:extLst>
          </p:cNvPr>
          <p:cNvSpPr>
            <a:spLocks noGrp="1"/>
          </p:cNvSpPr>
          <p:nvPr/>
        </p:nvSpPr>
        <p:spPr>
          <a:xfrm>
            <a:off x="10001250" y="15525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證據等級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A00548-D243-4A9A-9787-CB3EA8D72AE9}"/>
              </a:ext>
            </a:extLst>
          </p:cNvPr>
          <p:cNvSpPr>
            <a:spLocks noGrp="1"/>
          </p:cNvSpPr>
          <p:nvPr/>
        </p:nvSpPr>
        <p:spPr>
          <a:xfrm>
            <a:off x="514350" y="18859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A2EF22-F3DD-476A-A060-F8DA1CB42F0F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Ball Cache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E75E7B-1F8C-41FB-AD14-F7AAB8946C68}"/>
              </a:ext>
            </a:extLst>
          </p:cNvPr>
          <p:cNvSpPr>
            <a:spLocks noGrp="1"/>
          </p:cNvSpPr>
          <p:nvPr/>
        </p:nvSpPr>
        <p:spPr>
          <a:xfrm>
            <a:off x="2705100" y="1885950"/>
            <a:ext cx="24860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56108E-40B7-4381-889B-E8B93443918D}"/>
              </a:ext>
            </a:extLst>
          </p:cNvPr>
          <p:cNvSpPr>
            <a:spLocks noGrp="1"/>
          </p:cNvSpPr>
          <p:nvPr/>
        </p:nvSpPr>
        <p:spPr>
          <a:xfrm>
            <a:off x="2800350" y="200025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07-21_17-29-49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0BD0A4-32B8-4A9E-ACEF-03B0596F77F7}"/>
              </a:ext>
            </a:extLst>
          </p:cNvPr>
          <p:cNvSpPr>
            <a:spLocks noGrp="1"/>
          </p:cNvSpPr>
          <p:nvPr/>
        </p:nvSpPr>
        <p:spPr>
          <a:xfrm>
            <a:off x="5191125" y="1885950"/>
            <a:ext cx="25241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C6C3803-BFB4-4FEF-996F-B381031A1408}"/>
              </a:ext>
            </a:extLst>
          </p:cNvPr>
          <p:cNvSpPr>
            <a:spLocks noGrp="1"/>
          </p:cNvSpPr>
          <p:nvPr/>
        </p:nvSpPr>
        <p:spPr>
          <a:xfrm>
            <a:off x="5286375" y="20002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reset 是否成立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708676-CD10-4384-900A-6F757F456ED7}"/>
              </a:ext>
            </a:extLst>
          </p:cNvPr>
          <p:cNvSpPr>
            <a:spLocks noGrp="1"/>
          </p:cNvSpPr>
          <p:nvPr/>
        </p:nvSpPr>
        <p:spPr>
          <a:xfrm>
            <a:off x="7715250" y="18859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0B9D46-5628-4A1A-8130-DD6EDF03D588}"/>
              </a:ext>
            </a:extLst>
          </p:cNvPr>
          <p:cNvSpPr>
            <a:spLocks noGrp="1"/>
          </p:cNvSpPr>
          <p:nvPr/>
        </p:nvSpPr>
        <p:spPr>
          <a:xfrm>
            <a:off x="7810500" y="20002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整合可執行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240A49-8CDF-4FAE-8246-6E9D1F4B53CA}"/>
              </a:ext>
            </a:extLst>
          </p:cNvPr>
          <p:cNvSpPr>
            <a:spLocks noGrp="1"/>
          </p:cNvSpPr>
          <p:nvPr/>
        </p:nvSpPr>
        <p:spPr>
          <a:xfrm>
            <a:off x="9906000" y="1885950"/>
            <a:ext cx="16192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719EFD-ABF0-4126-9309-0D65AADEA5ED}"/>
              </a:ext>
            </a:extLst>
          </p:cNvPr>
          <p:cNvSpPr>
            <a:spLocks noGrp="1"/>
          </p:cNvSpPr>
          <p:nvPr/>
        </p:nvSpPr>
        <p:spPr>
          <a:xfrm>
            <a:off x="10001250" y="20002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smoke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7D9FB9-5C6A-468D-BA5A-056713F1958C}"/>
              </a:ext>
            </a:extLst>
          </p:cNvPr>
          <p:cNvSpPr>
            <a:spLocks noGrp="1"/>
          </p:cNvSpPr>
          <p:nvPr/>
        </p:nvSpPr>
        <p:spPr>
          <a:xfrm>
            <a:off x="514350" y="24384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F5F99F-2613-47B6-B7C3-CCD44CC31D18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Cache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E9E160-609D-4684-B318-AA3B28D5E682}"/>
              </a:ext>
            </a:extLst>
          </p:cNvPr>
          <p:cNvSpPr>
            <a:spLocks noGrp="1"/>
          </p:cNvSpPr>
          <p:nvPr/>
        </p:nvSpPr>
        <p:spPr>
          <a:xfrm>
            <a:off x="2705100" y="2438400"/>
            <a:ext cx="24860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CAD7523-44C2-4A1E-9E2E-FE379FCF7095}"/>
              </a:ext>
            </a:extLst>
          </p:cNvPr>
          <p:cNvSpPr>
            <a:spLocks noGrp="1"/>
          </p:cNvSpPr>
          <p:nvPr/>
        </p:nvSpPr>
        <p:spPr>
          <a:xfrm>
            <a:off x="2800350" y="25527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07-21_18-22-39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600BD3C-2D65-450E-8FD0-5CD17F71178C}"/>
              </a:ext>
            </a:extLst>
          </p:cNvPr>
          <p:cNvSpPr>
            <a:spLocks noGrp="1"/>
          </p:cNvSpPr>
          <p:nvPr/>
        </p:nvSpPr>
        <p:spPr>
          <a:xfrm>
            <a:off x="5191125" y="2438400"/>
            <a:ext cx="25241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74E535-B81A-4B13-845C-8A6A8A3838FC}"/>
              </a:ext>
            </a:extLst>
          </p:cNvPr>
          <p:cNvSpPr>
            <a:spLocks noGrp="1"/>
          </p:cNvSpPr>
          <p:nvPr/>
        </p:nvSpPr>
        <p:spPr>
          <a:xfrm>
            <a:off x="5286375" y="255270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多姿勢持續旋轉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D239E2-412E-41C7-94B4-A697FD42FA70}"/>
              </a:ext>
            </a:extLst>
          </p:cNvPr>
          <p:cNvSpPr>
            <a:spLocks noGrp="1"/>
          </p:cNvSpPr>
          <p:nvPr/>
        </p:nvSpPr>
        <p:spPr>
          <a:xfrm>
            <a:off x="7715250" y="24384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4327AB9-B8E9-4536-BEBF-44DA938A137B}"/>
              </a:ext>
            </a:extLst>
          </p:cNvPr>
          <p:cNvSpPr>
            <a:spLocks noGrp="1"/>
          </p:cNvSpPr>
          <p:nvPr/>
        </p:nvSpPr>
        <p:spPr>
          <a:xfrm>
            <a:off x="7810500" y="25527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正式 baseline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122C8D-D7AE-46BA-8531-D3E73F642D39}"/>
              </a:ext>
            </a:extLst>
          </p:cNvPr>
          <p:cNvSpPr>
            <a:spLocks noGrp="1"/>
          </p:cNvSpPr>
          <p:nvPr/>
        </p:nvSpPr>
        <p:spPr>
          <a:xfrm>
            <a:off x="9906000" y="24384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D17E965-D72A-405D-B90C-C317B51CE215}"/>
              </a:ext>
            </a:extLst>
          </p:cNvPr>
          <p:cNvSpPr>
            <a:spLocks noGrp="1"/>
          </p:cNvSpPr>
          <p:nvPr/>
        </p:nvSpPr>
        <p:spPr>
          <a:xfrm>
            <a:off x="10001250" y="25527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999 iter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6D2117B-7E13-4D89-81EE-AB889EEBC221}"/>
              </a:ext>
            </a:extLst>
          </p:cNvPr>
          <p:cNvSpPr>
            <a:spLocks noGrp="1"/>
          </p:cNvSpPr>
          <p:nvPr/>
        </p:nvSpPr>
        <p:spPr>
          <a:xfrm>
            <a:off x="514350" y="29908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EF9E21-A2D7-468D-A3CF-54F5B7B894D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Retention Grey-zone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68CD9CE-E193-4A6B-A64C-36EEB57F14F5}"/>
              </a:ext>
            </a:extLst>
          </p:cNvPr>
          <p:cNvSpPr>
            <a:spLocks noGrp="1"/>
          </p:cNvSpPr>
          <p:nvPr/>
        </p:nvSpPr>
        <p:spPr>
          <a:xfrm>
            <a:off x="2705100" y="2990850"/>
            <a:ext cx="24860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CE1CE79-5C17-4D1C-B178-2677E2B9B111}"/>
              </a:ext>
            </a:extLst>
          </p:cNvPr>
          <p:cNvSpPr>
            <a:spLocks noGrp="1"/>
          </p:cNvSpPr>
          <p:nvPr/>
        </p:nvSpPr>
        <p:spPr>
          <a:xfrm>
            <a:off x="2800350" y="310515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07-21_22-58-39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184235B-88B8-4C1F-AFAA-2AAFCF1A9701}"/>
              </a:ext>
            </a:extLst>
          </p:cNvPr>
          <p:cNvSpPr>
            <a:spLocks noGrp="1"/>
          </p:cNvSpPr>
          <p:nvPr/>
        </p:nvSpPr>
        <p:spPr>
          <a:xfrm>
            <a:off x="5191125" y="2990850"/>
            <a:ext cx="25241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4444163-A90B-4C27-9C5F-1752EF4D5692}"/>
              </a:ext>
            </a:extLst>
          </p:cNvPr>
          <p:cNvSpPr>
            <a:spLocks noGrp="1"/>
          </p:cNvSpPr>
          <p:nvPr/>
        </p:nvSpPr>
        <p:spPr>
          <a:xfrm>
            <a:off x="5286375" y="31051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15–30 mm local optimum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49748EB-7BEC-44B3-B831-B500EE518D77}"/>
              </a:ext>
            </a:extLst>
          </p:cNvPr>
          <p:cNvSpPr>
            <a:spLocks noGrp="1"/>
          </p:cNvSpPr>
          <p:nvPr/>
        </p:nvSpPr>
        <p:spPr>
          <a:xfrm>
            <a:off x="7715250" y="29908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6B28B40-CFA0-43E0-A4B2-07B21F4429D5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位置維持改善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98DA64F-BE15-4C7D-947B-0A9C6A7A32FB}"/>
              </a:ext>
            </a:extLst>
          </p:cNvPr>
          <p:cNvSpPr>
            <a:spLocks noGrp="1"/>
          </p:cNvSpPr>
          <p:nvPr/>
        </p:nvSpPr>
        <p:spPr>
          <a:xfrm>
            <a:off x="9906000" y="2990850"/>
            <a:ext cx="16192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A3BFB9B-3D0F-4FE1-BA58-0CCD59B8A872}"/>
              </a:ext>
            </a:extLst>
          </p:cNvPr>
          <p:cNvSpPr>
            <a:spLocks noGrp="1"/>
          </p:cNvSpPr>
          <p:nvPr/>
        </p:nvSpPr>
        <p:spPr>
          <a:xfrm>
            <a:off x="10001250" y="31051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999 iter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426A121-AA1E-41B5-8465-0A1D27074EBE}"/>
              </a:ext>
            </a:extLst>
          </p:cNvPr>
          <p:cNvSpPr>
            <a:spLocks noGrp="1"/>
          </p:cNvSpPr>
          <p:nvPr/>
        </p:nvSpPr>
        <p:spPr>
          <a:xfrm>
            <a:off x="514350" y="35433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5CACD41-4D63-4853-B523-DCFD06E70D7E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CB140CA-A211-4F92-8923-E3E9D3F0A66F}"/>
              </a:ext>
            </a:extLst>
          </p:cNvPr>
          <p:cNvSpPr>
            <a:spLocks noGrp="1"/>
          </p:cNvSpPr>
          <p:nvPr/>
        </p:nvSpPr>
        <p:spPr>
          <a:xfrm>
            <a:off x="2705100" y="3543300"/>
            <a:ext cx="24860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0603FF0-FCD2-4E11-A280-83E4EC54BD2A}"/>
              </a:ext>
            </a:extLst>
          </p:cNvPr>
          <p:cNvSpPr>
            <a:spLocks noGrp="1"/>
          </p:cNvSpPr>
          <p:nvPr/>
        </p:nvSpPr>
        <p:spPr>
          <a:xfrm>
            <a:off x="2800350" y="36576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07-22_15-47-22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180542A-6A7E-4F0B-9371-9AE801F02456}"/>
              </a:ext>
            </a:extLst>
          </p:cNvPr>
          <p:cNvSpPr>
            <a:spLocks noGrp="1"/>
          </p:cNvSpPr>
          <p:nvPr/>
        </p:nvSpPr>
        <p:spPr>
          <a:xfrm>
            <a:off x="5191125" y="3543300"/>
            <a:ext cx="25241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48FC96C-AEE4-4A5A-94DE-8137EE6361C5}"/>
              </a:ext>
            </a:extLst>
          </p:cNvPr>
          <p:cNvSpPr>
            <a:spLocks noGrp="1"/>
          </p:cNvSpPr>
          <p:nvPr/>
        </p:nvSpPr>
        <p:spPr>
          <a:xfrm>
            <a:off x="5286375" y="365760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是否缺少換指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25D738A-CB23-4501-A388-CDD3EEECEF05}"/>
              </a:ext>
            </a:extLst>
          </p:cNvPr>
          <p:cNvSpPr>
            <a:spLocks noGrp="1"/>
          </p:cNvSpPr>
          <p:nvPr/>
        </p:nvSpPr>
        <p:spPr>
          <a:xfrm>
            <a:off x="7715250" y="35433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A0CA820-E009-46A4-985C-094775DEACFF}"/>
              </a:ext>
            </a:extLst>
          </p:cNvPr>
          <p:cNvSpPr>
            <a:spLocks noGrp="1"/>
          </p:cNvSpPr>
          <p:nvPr/>
        </p:nvSpPr>
        <p:spPr>
          <a:xfrm>
            <a:off x="7810500" y="36576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正向速度才是瓶頸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85315B4-BEB3-431C-95B9-49D176F39322}"/>
              </a:ext>
            </a:extLst>
          </p:cNvPr>
          <p:cNvSpPr>
            <a:spLocks noGrp="1"/>
          </p:cNvSpPr>
          <p:nvPr/>
        </p:nvSpPr>
        <p:spPr>
          <a:xfrm>
            <a:off x="9906000" y="35433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415A72D-1ACF-4FAF-9D06-0B774C35B33C}"/>
              </a:ext>
            </a:extLst>
          </p:cNvPr>
          <p:cNvSpPr>
            <a:spLocks noGrp="1"/>
          </p:cNvSpPr>
          <p:nvPr/>
        </p:nvSpPr>
        <p:spPr>
          <a:xfrm>
            <a:off x="10001250" y="36576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100 iter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3CCFE2D-B388-4EBF-9A28-CB312B64A7CD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D44D6E1-827B-464F-BD3E-BBF85D545390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01B132A-436E-4EA0-B70F-19E3F8856F21}"/>
              </a:ext>
            </a:extLst>
          </p:cNvPr>
          <p:cNvSpPr>
            <a:spLocks noGrp="1"/>
          </p:cNvSpPr>
          <p:nvPr/>
        </p:nvSpPr>
        <p:spPr>
          <a:xfrm>
            <a:off x="2705100" y="4095750"/>
            <a:ext cx="24860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DC410E1-A734-443C-AD44-02857722B20C}"/>
              </a:ext>
            </a:extLst>
          </p:cNvPr>
          <p:cNvSpPr>
            <a:spLocks noGrp="1"/>
          </p:cNvSpPr>
          <p:nvPr/>
        </p:nvSpPr>
        <p:spPr>
          <a:xfrm>
            <a:off x="2800350" y="421005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07-22_21-27-39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C24586F-6AA7-4CDD-B520-AD9D081F4B37}"/>
              </a:ext>
            </a:extLst>
          </p:cNvPr>
          <p:cNvSpPr>
            <a:spLocks noGrp="1"/>
          </p:cNvSpPr>
          <p:nvPr/>
        </p:nvSpPr>
        <p:spPr>
          <a:xfrm>
            <a:off x="5191125" y="4095750"/>
            <a:ext cx="25241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1B4B984-CB04-43DA-B4CA-5EC133631218}"/>
              </a:ext>
            </a:extLst>
          </p:cNvPr>
          <p:cNvSpPr>
            <a:spLocks noGrp="1"/>
          </p:cNvSpPr>
          <p:nvPr/>
        </p:nvSpPr>
        <p:spPr>
          <a:xfrm>
            <a:off x="5286375" y="42100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旋轉 acquisition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2EB8B1E-4FD7-4932-83E2-6488324847EB}"/>
              </a:ext>
            </a:extLst>
          </p:cNvPr>
          <p:cNvSpPr>
            <a:spLocks noGrp="1"/>
          </p:cNvSpPr>
          <p:nvPr/>
        </p:nvSpPr>
        <p:spPr>
          <a:xfrm>
            <a:off x="7715250" y="40957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C65B0AF-7F28-4655-9028-054C179D5DCE}"/>
              </a:ext>
            </a:extLst>
          </p:cNvPr>
          <p:cNvSpPr>
            <a:spLocks noGrp="1"/>
          </p:cNvSpPr>
          <p:nvPr/>
        </p:nvSpPr>
        <p:spPr>
          <a:xfrm>
            <a:off x="7810500" y="42100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降低稀疏性有效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8D290C4-8959-408A-A21A-C8D1347CC740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16192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9EB7776-9F20-421E-BD2B-561E2B47315C}"/>
              </a:ext>
            </a:extLst>
          </p:cNvPr>
          <p:cNvSpPr>
            <a:spLocks noGrp="1"/>
          </p:cNvSpPr>
          <p:nvPr/>
        </p:nvSpPr>
        <p:spPr>
          <a:xfrm>
            <a:off x="10001250" y="42100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 iter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8D8D022-FCC4-44EC-B966-F12E8514D327}"/>
              </a:ext>
            </a:extLst>
          </p:cNvPr>
          <p:cNvSpPr>
            <a:spLocks noGrp="1"/>
          </p:cNvSpPr>
          <p:nvPr/>
        </p:nvSpPr>
        <p:spPr>
          <a:xfrm>
            <a:off x="514350" y="46482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2DECFEC-D7E4-46AB-A7DF-71E62F6BCC90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V3-A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3A8E6D8-1A86-4A00-A232-01EAB01DF2E5}"/>
              </a:ext>
            </a:extLst>
          </p:cNvPr>
          <p:cNvSpPr>
            <a:spLocks noGrp="1"/>
          </p:cNvSpPr>
          <p:nvPr/>
        </p:nvSpPr>
        <p:spPr>
          <a:xfrm>
            <a:off x="2705100" y="4648200"/>
            <a:ext cx="24860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32E152D-25D8-4A15-BC56-26643A44AE4D}"/>
              </a:ext>
            </a:extLst>
          </p:cNvPr>
          <p:cNvSpPr>
            <a:spLocks noGrp="1"/>
          </p:cNvSpPr>
          <p:nvPr/>
        </p:nvSpPr>
        <p:spPr>
          <a:xfrm>
            <a:off x="2800350" y="47625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07-27_00-36-25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F7AB25B-D86C-42F3-8CA0-6630E2FD9B9D}"/>
              </a:ext>
            </a:extLst>
          </p:cNvPr>
          <p:cNvSpPr>
            <a:spLocks noGrp="1"/>
          </p:cNvSpPr>
          <p:nvPr/>
        </p:nvSpPr>
        <p:spPr>
          <a:xfrm>
            <a:off x="5191125" y="4648200"/>
            <a:ext cx="25241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75F6300-1D83-44DA-A8E6-FB1C5C7BAB09}"/>
              </a:ext>
            </a:extLst>
          </p:cNvPr>
          <p:cNvSpPr>
            <a:spLocks noGrp="1"/>
          </p:cNvSpPr>
          <p:nvPr/>
        </p:nvSpPr>
        <p:spPr>
          <a:xfrm>
            <a:off x="5286375" y="476250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簡化 reward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2274FB7-973C-495B-B7DE-65117FD25D9D}"/>
              </a:ext>
            </a:extLst>
          </p:cNvPr>
          <p:cNvSpPr>
            <a:spLocks noGrp="1"/>
          </p:cNvSpPr>
          <p:nvPr/>
        </p:nvSpPr>
        <p:spPr>
          <a:xfrm>
            <a:off x="7715250" y="46482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82901C0-58FE-4BF3-8CD9-0CC216471E2A}"/>
              </a:ext>
            </a:extLst>
          </p:cNvPr>
          <p:cNvSpPr>
            <a:spLocks noGrp="1"/>
          </p:cNvSpPr>
          <p:nvPr/>
        </p:nvSpPr>
        <p:spPr>
          <a:xfrm>
            <a:off x="7810500" y="47625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保留直接目標訊號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6958A63-7CC0-4084-9D21-A1FA1B8B08CF}"/>
              </a:ext>
            </a:extLst>
          </p:cNvPr>
          <p:cNvSpPr>
            <a:spLocks noGrp="1"/>
          </p:cNvSpPr>
          <p:nvPr/>
        </p:nvSpPr>
        <p:spPr>
          <a:xfrm>
            <a:off x="9906000" y="46482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709E099-AAFF-4E1D-B618-36B3A1D394C7}"/>
              </a:ext>
            </a:extLst>
          </p:cNvPr>
          <p:cNvSpPr>
            <a:spLocks noGrp="1"/>
          </p:cNvSpPr>
          <p:nvPr/>
        </p:nvSpPr>
        <p:spPr>
          <a:xfrm>
            <a:off x="10001250" y="47625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199 iter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E7B2855-38C9-41BC-8D1C-9833ED69CBA3}"/>
              </a:ext>
            </a:extLst>
          </p:cNvPr>
          <p:cNvSpPr>
            <a:spLocks noGrp="1"/>
          </p:cNvSpPr>
          <p:nvPr/>
        </p:nvSpPr>
        <p:spPr>
          <a:xfrm>
            <a:off x="514350" y="52006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B107B18-D713-4F76-9E11-FB15BF037B18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Gaiting V2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5907B2D-2CF2-403C-8DAE-472FC0F5BEAE}"/>
              </a:ext>
            </a:extLst>
          </p:cNvPr>
          <p:cNvSpPr>
            <a:spLocks noGrp="1"/>
          </p:cNvSpPr>
          <p:nvPr/>
        </p:nvSpPr>
        <p:spPr>
          <a:xfrm>
            <a:off x="2705100" y="5200650"/>
            <a:ext cx="24860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75F4356-6D48-46FC-B77F-810FBDB69777}"/>
              </a:ext>
            </a:extLst>
          </p:cNvPr>
          <p:cNvSpPr>
            <a:spLocks noGrp="1"/>
          </p:cNvSpPr>
          <p:nvPr/>
        </p:nvSpPr>
        <p:spPr>
          <a:xfrm>
            <a:off x="2800350" y="531495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07-27_12-26-57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6276156-3396-4851-8156-78CD61E92441}"/>
              </a:ext>
            </a:extLst>
          </p:cNvPr>
          <p:cNvSpPr>
            <a:spLocks noGrp="1"/>
          </p:cNvSpPr>
          <p:nvPr/>
        </p:nvSpPr>
        <p:spPr>
          <a:xfrm>
            <a:off x="5191125" y="5200650"/>
            <a:ext cx="25241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8D3E001-A47E-4E8F-93EB-A73F6179888A}"/>
              </a:ext>
            </a:extLst>
          </p:cNvPr>
          <p:cNvSpPr>
            <a:spLocks noGrp="1"/>
          </p:cNvSpPr>
          <p:nvPr/>
        </p:nvSpPr>
        <p:spPr>
          <a:xfrm>
            <a:off x="5286375" y="53149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受限 handoff 整合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5C14A18-9DD5-4211-A2A6-B88D557EDB5E}"/>
              </a:ext>
            </a:extLst>
          </p:cNvPr>
          <p:cNvSpPr>
            <a:spLocks noGrp="1"/>
          </p:cNvSpPr>
          <p:nvPr/>
        </p:nvSpPr>
        <p:spPr>
          <a:xfrm>
            <a:off x="7715250" y="52006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CEC8385-2D7E-4344-99BC-C1A4995A2B1E}"/>
              </a:ext>
            </a:extLst>
          </p:cNvPr>
          <p:cNvSpPr>
            <a:spLocks noGrp="1"/>
          </p:cNvSpPr>
          <p:nvPr/>
        </p:nvSpPr>
        <p:spPr>
          <a:xfrm>
            <a:off x="7810500" y="53149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可完整存活；旋轉待驗證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EBA9720-CE52-4D47-9DAF-EF7AF1B28223}"/>
              </a:ext>
            </a:extLst>
          </p:cNvPr>
          <p:cNvSpPr>
            <a:spLocks noGrp="1"/>
          </p:cNvSpPr>
          <p:nvPr/>
        </p:nvSpPr>
        <p:spPr>
          <a:xfrm>
            <a:off x="9906000" y="5200650"/>
            <a:ext cx="16192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01DD08C-1F41-4581-8FC7-695440734DB2}"/>
              </a:ext>
            </a:extLst>
          </p:cNvPr>
          <p:cNvSpPr>
            <a:spLocks noGrp="1"/>
          </p:cNvSpPr>
          <p:nvPr/>
        </p:nvSpPr>
        <p:spPr>
          <a:xfrm>
            <a:off x="10001250" y="53149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299 iter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4478F4D-651B-4112-8F8F-B9928D2E3F82}"/>
              </a:ext>
            </a:extLst>
          </p:cNvPr>
          <p:cNvSpPr>
            <a:spLocks noGrp="1"/>
          </p:cNvSpPr>
          <p:nvPr/>
        </p:nvSpPr>
        <p:spPr>
          <a:xfrm>
            <a:off x="514350" y="595312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歷史 checkpoint 的正確 reward 來源是該 RunId 的 run_config.json，而不是今天的父 YAML。</a:t>
            </a:r>
          </a:p>
        </p:txBody>
      </p:sp>
    </p:spTree>
    <p:extLst>
      <p:ext uri="{BB962C8B-B14F-4D97-AF65-F5344CB8AC3E}">
        <p14:creationId xmlns:p14="http://schemas.microsoft.com/office/powerpoint/2010/main" val="1422636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E237CBE-8BC6-485F-B699-6FDCACA8C5B6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B4715-B65D-4F03-87FC-C23BE0DF9A46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下一階段先證明能持續轉，再重新引入 handoff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FB699F-520C-4130-8CE0-B07D9EEB9767}"/>
              </a:ext>
            </a:extLst>
          </p:cNvPr>
          <p:cNvSpPr>
            <a:spLocks noGrp="1"/>
          </p:cNvSpPr>
          <p:nvPr/>
        </p:nvSpPr>
        <p:spPr>
          <a:xfrm>
            <a:off x="10668000" y="6324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D0BACF-1654-44E7-B78E-AB317F0E2AC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本月得到的三個可靠結論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80D777-20BE-449D-B4CF-382452E967B2}"/>
              </a:ext>
            </a:extLst>
          </p:cNvPr>
          <p:cNvSpPr>
            <a:spLocks noGrp="1"/>
          </p:cNvSpPr>
          <p:nvPr/>
        </p:nvSpPr>
        <p:spPr>
          <a:xfrm>
            <a:off x="514350" y="1981200"/>
            <a:ext cx="5334000" cy="2619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  Ball-specific cache 與真實碰撞是有效訓練的必要前提。</a:t>
            </a:r>
          </a:p>
          <a:p>
            <a:endParaRPr sz="1500" b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  Retention 改善不能代表持續旋轉；必須量測 signed axis speed 與 net angle。</a:t>
            </a:r>
          </a:p>
          <a:p>
            <a:endParaRPr sz="1500" b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3  Handoff 是長期必要技能，但在 rotation acquisition 尚未成立時強制加入會增加探索稀疏性。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79DB9B2-3FD9-4721-9815-792F95264967}"/>
              </a:ext>
            </a:extLst>
          </p:cNvPr>
          <p:cNvSpPr>
            <a:spLocks noGrp="1"/>
          </p:cNvSpPr>
          <p:nvPr/>
        </p:nvSpPr>
        <p:spPr>
          <a:xfrm>
            <a:off x="6572250" y="1381125"/>
            <a:ext cx="4333875" cy="3619500"/>
          </a:xfrm>
          <a:prstGeom prst="roundRect">
            <a:avLst>
              <a:gd name="adj" fmla="val 2105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EA8F7D-6560-4333-A952-BEC6AF112A23}"/>
              </a:ext>
            </a:extLst>
          </p:cNvPr>
          <p:cNvSpPr>
            <a:spLocks noGrp="1"/>
          </p:cNvSpPr>
          <p:nvPr/>
        </p:nvSpPr>
        <p:spPr>
          <a:xfrm>
            <a:off x="6858000" y="16764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下一步驗證順序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1C0301-565E-4F26-8A69-FE525D24EDA7}"/>
              </a:ext>
            </a:extLst>
          </p:cNvPr>
          <p:cNvSpPr>
            <a:spLocks noGrp="1"/>
          </p:cNvSpPr>
          <p:nvPr/>
        </p:nvSpPr>
        <p:spPr>
          <a:xfrm>
            <a:off x="6858000" y="2324100"/>
            <a:ext cx="3524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01  固定 cache / seed 做 reward ablation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02  報告 axis-speed duration 與 net turns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03  用 viewer 排除 palm support / 穿模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04  只有 acquisition 穩定後才加入 handoff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05  至少三個 seeds 比較 success rate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06  最後才增加 domain randomization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28DA60-4B41-4678-9F4A-D7379B2D61DB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成功標準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047FDE-54C4-4D33-94CC-7DD54E29308A}"/>
              </a:ext>
            </a:extLst>
          </p:cNvPr>
          <p:cNvSpPr>
            <a:spLocks noGrp="1"/>
          </p:cNvSpPr>
          <p:nvPr/>
        </p:nvSpPr>
        <p:spPr>
          <a:xfrm>
            <a:off x="514350" y="5391150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持續正向旋轉時間 · 多圈 net angle · 低 orthogonal speed · 不掉球 · 合格 handoff · 跨 seed 穩定</a:t>
            </a:r>
          </a:p>
        </p:txBody>
      </p:sp>
    </p:spTree>
    <p:extLst>
      <p:ext uri="{BB962C8B-B14F-4D97-AF65-F5344CB8AC3E}">
        <p14:creationId xmlns:p14="http://schemas.microsoft.com/office/powerpoint/2010/main" val="4678263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2570</Words>
  <Application>Microsoft Office PowerPoint</Application>
  <DocSecurity>0</DocSecurity>
  <PresentationFormat>寬螢幕</PresentationFormat>
  <Paragraphs>449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1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沅霆 林</cp:lastModifiedBy>
  <cp:revision>1</cp:revision>
  <dcterms:created xsi:type="dcterms:W3CDTF">2026-07-28T23:06:35Z</dcterms:created>
  <dcterms:modified xsi:type="dcterms:W3CDTF">2026-07-29T00:14:58Z</dcterms:modified>
</cp:coreProperties>
</file>