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20" autoAdjust="0"/>
  </p:normalViewPr>
  <p:slideViewPr>
    <p:cSldViewPr snapToGrid="0">
      <p:cViewPr varScale="1">
        <p:scale>
          <a:sx n="85" d="100"/>
          <a:sy n="85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report reconstructs progress from saved code, configurations, run metadata, TensorBoard diagnostics, and native-viewer inspection.</a:t>
            </a:r>
          </a:p>
          <a:p>
            <a:endParaRPr/>
          </a:p>
          <a:p>
            <a:r>
              <a:t>[Sources]</a:t>
            </a:r>
          </a:p>
          <a:p>
            <a:r>
              <a:t>- D:/UniLab/DEVELOPMENT_LOG.md</a:t>
            </a:r>
          </a:p>
          <a:p>
            <a:r>
              <a:t>- D:/UniLab/logs/rsl_rl_ppo/*/run_config.json</a:t>
            </a:r>
          </a:p>
          <a:p>
            <a:r>
              <a:t>- D:/UniLab/logs/rsl_rl_ppo/*/run_summary.json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emphasis is a reliable experimental foundation and traceable evidence, not the highest aggregate reward.</a:t>
            </a:r>
          </a:p>
          <a:p>
            <a:endParaRPr/>
          </a:p>
          <a:p>
            <a:r>
              <a:t>[Sources]</a:t>
            </a:r>
          </a:p>
          <a:p>
            <a:r>
              <a:t>- D:/UniLab/AGENTS.md</a:t>
            </a:r>
          </a:p>
          <a:p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D:/UniLab/DEVELOPMENT_LOG.md</a:t>
            </a:r>
          </a:p>
          <a:p>
            <a:r>
              <a:t>- D:/UniLab/AGENTS.md#Dexterous-Manipulation-Training-Guidance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D:/UniLab/conf/ppo/task/leap_inhand_ball_*/mujoco.yaml</a:t>
            </a:r>
          </a:p>
          <a:p>
            <a:r>
              <a:t>- D:/UniLab/conf/ppo/task/leap_inhand_ball_*/motrix.yaml</a:t>
            </a:r>
          </a:p>
          <a:p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page records the production path used for ball_grasp_official_50k.npy. The final file contains exactly 50,000 unique float32 reset rows; all 50,000 passed the final static audit. SHA-256: 11454e1439cd78efc312028b8fd740d9b125661fd96472b5ca926f3e7dfdc722.</a:t>
            </a:r>
          </a:p>
          <a:p>
            <a:endParaRPr/>
          </a:p>
          <a:p>
            <a:r>
              <a:t>[Sources]</a:t>
            </a:r>
          </a:p>
          <a:p>
            <a:r>
              <a:t>- D:/UniLab/conf/ppo/task/leap_inhand_ball_grasp/mujoco.yaml</a:t>
            </a:r>
          </a:p>
          <a:p>
            <a:r>
              <a:t>- D:/UniLab/src/unilab/envs/manipulation/leap_inhand/ball_grasp_gen.py</a:t>
            </a:r>
          </a:p>
          <a:p>
            <a:r>
              <a:t>- D:/UniLab/src/unilab/assets/robots/leap_hand/caches/ball_grasp_official_50k.npy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C:/Users/timli/Downloads/ChatGPT Image 2026年7月28日 下午05_27_48.png</a:t>
            </a:r>
          </a:p>
          <a:p>
            <a:r>
              <a:t>- D:/UniLab/src/unilab/envs/manipulation/leap_inhand/sustained_cache_rotation.py</a:t>
            </a:r>
          </a:p>
          <a:p>
            <a:r>
              <a:t>- D:/UniLab/src/unilab/envs/manipulation/leap_inhand/finger_gaiting_rotation.py</a:t>
            </a:r>
          </a:p>
          <a:p>
            <a:r>
              <a:t>- D:/UniLab/src/unilab/envs/manipulation/leap_inhand/direct_rotation.py</a:t>
            </a:r>
          </a:p>
          <a:p>
            <a:r>
              <a:t>- D:/UniLab/src/unilab/envs/manipulation/leap_inhand/sustained_cache_gaiting_rotation.py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D:/UniLab/logs/rsl_rl_ppo/LeapInhandBallSustainedCacheRotation/*/run_config.json</a:t>
            </a:r>
          </a:p>
          <a:p>
            <a:r>
              <a:t>- D:/UniLab/DEVELOPMENT_LOG.md:2244</a:t>
            </a:r>
          </a:p>
          <a:p>
            <a:r>
              <a:t>- D:/UniLab/DEVELOPMENT_LOG.md:2297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D:/UniLab/logs/rsl_rl_ppo/LeapInhandBallSustainedCacheRotation/*/run_config.json</a:t>
            </a:r>
          </a:p>
          <a:p>
            <a:r>
              <a:t>- D:/UniLab/conf/ppo/task/leap_inhand_ball_sustained_cache/mujoco.yaml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D:/UniLab/logs/rsl_rl_ppo/LeapInhandBallSustainedCacheRotation/2026-07-21_18-22-39_mujoco/events.out.tfevents.1784683360.沅霆.15996.0</a:t>
            </a:r>
          </a:p>
          <a:p>
            <a:r>
              <a:t>- D:/UniLab/logs/rsl_rl_ppo/LeapInhandBallSustainedCacheRotation/2026-07-21_22-58-39_mujoco/events.out.tfevents.1784699921.沅霆.13112.0</a:t>
            </a:r>
          </a:p>
          <a:p>
            <a:r>
              <a:t>- D:/UniLab/DEVELOPMENT_LOG.md:2297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D:/UniLab/src/unilab/envs/manipulation/leap_inhand/finger_gaiting_rotation.py</a:t>
            </a:r>
          </a:p>
          <a:p>
            <a:r>
              <a:t>- D:/UniLab/conf/ppo/task/leap_inhand_ball_finger_gaiting/mujoco.yaml</a:t>
            </a:r>
          </a:p>
          <a:p>
            <a:r>
              <a:t>- D:/UniLab/DEVELOPMENT_LOG.md:2385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D:/UniLab/logs/rsl_rl_ppo/LeapInhandBallFingerGaitingRotation/2026-07-22_15-47-22_mujoco/run_config.json</a:t>
            </a:r>
          </a:p>
          <a:p>
            <a:r>
              <a:t>- D:/UniLab/logs/rsl_rl_ppo/LeapInhandBallFingerGaitingRotation/2026-07-22_15-47-22_mujoco/run_summary.json</a:t>
            </a:r>
          </a:p>
          <a:p>
            <a:r>
              <a:t>- D:/UniLab/DEVELOPMENT_LOG.md:2624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D:/UniLab/conf/ppo/task/leap_inhand_ball_direct/mujoco.yaml</a:t>
            </a:r>
          </a:p>
          <a:p>
            <a:r>
              <a:t>- D:/UniLab/src/unilab/envs/manipulation/leap_inhand/direct_rotation.py</a:t>
            </a:r>
          </a:p>
          <a:p>
            <a:r>
              <a:t>- D:/UniLab/DEVELOPMENT_LOG.md:2620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D:/UniLab/logs/rsl_rl_ppo/LeapInhandBallDirectRotation/2026-07-22_21-27-39_mujoco/events.out.tfevents.1784780863.沅霆.41532.0</a:t>
            </a:r>
          </a:p>
          <a:p>
            <a:r>
              <a:t>- D:/UniLab/logs/rsl_rl_ppo/LeapInhandBallDirectRotation/2026-07-22_21-27-39_mujoco/run_config.json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D:/UniLab/conf/ppo/task/leap_inhand_ball_cache_gaiting/mujoco.yaml</a:t>
            </a:r>
          </a:p>
          <a:p>
            <a:r>
              <a:t>- D:/UniLab/logs/rsl_rl_ppo/LeapInhandBallCacheGaitingRotation/2026-07-27_12-26-57_mujoco/events.out.tfevents.1785180421.沅霆.36252.0</a:t>
            </a:r>
          </a:p>
          <a:p>
            <a:r>
              <a:t>- D:/UniLab/logs/rsl_rl_ppo/LeapInhandBallCacheGaitingRotation/2026-07-27_12-26-57_mujoco/run_config.json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D:/UniLab/logs/rsl_rl_ppo/LeapInhandBallCacheRotation/*/run_config.json</a:t>
            </a:r>
          </a:p>
          <a:p>
            <a:r>
              <a:t>- D:/UniLab/logs/rsl_rl_ppo/LeapInhandBallSustainedCacheRotation/*/run_config.json</a:t>
            </a:r>
          </a:p>
          <a:p>
            <a:r>
              <a:t>- D:/UniLab/logs/rsl_rl_ppo/LeapInhandBallFingerGaitingRotation/*/run_config.json</a:t>
            </a:r>
          </a:p>
          <a:p>
            <a:r>
              <a:t>- D:/UniLab/logs/rsl_rl_ppo/LeapInhandBallDirectRotation/*/run_config.json</a:t>
            </a:r>
          </a:p>
          <a:p>
            <a:r>
              <a:t>- D:/UniLab/logs/rsl_rl_ppo/LeapInhandBallCacheGaitingRotation/*/run_config.json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Maintain a conservative conclusion: the bottleneck is localized, but sustained Cache Gaiting is not yet solved.</a:t>
            </a:r>
          </a:p>
          <a:p>
            <a:endParaRPr/>
          </a:p>
          <a:p>
            <a:r>
              <a:t>[Sources]</a:t>
            </a:r>
          </a:p>
          <a:p>
            <a:r>
              <a:t>- D:/UniLab/AGENTS.md#Dexterous-Manipulation-Training-Guidance</a:t>
            </a:r>
          </a:p>
          <a:p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4FDCC2F-2D54-4B65-86E5-13BE6ADBAD3A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UNILAB · DEXTEROUS MANIPULATION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0C2376-1172-4642-8DBE-D09C314AE222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84772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LEAP Hand Dexterous Manipulation</a:t>
            </a:r>
          </a:p>
          <a:p>
            <a:pPr algn="l">
              <a:buNone/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One-Month Research Progress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964004-78D7-48F6-81FA-B36C4093B5E4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838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An evidence chain from model integration and ball caches to sustained rotation and finger gaiting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EE756D-6A05-4081-8163-C74A58479926}"/>
              </a:ext>
            </a:extLst>
          </p:cNvPr>
          <p:cNvSpPr>
            <a:spLocks noGrp="1"/>
          </p:cNvSpPr>
          <p:nvPr/>
        </p:nvSpPr>
        <p:spPr>
          <a:xfrm>
            <a:off x="9620250" y="1619250"/>
            <a:ext cx="1714500" cy="2667000"/>
          </a:xfrm>
          <a:prstGeom prst="rect">
            <a:avLst/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AEA303-B300-4A5D-91F6-C4B4506880A5}"/>
              </a:ext>
            </a:extLst>
          </p:cNvPr>
          <p:cNvSpPr>
            <a:spLocks noGrp="1"/>
          </p:cNvSpPr>
          <p:nvPr/>
        </p:nvSpPr>
        <p:spPr>
          <a:xfrm>
            <a:off x="9782175" y="1924050"/>
            <a:ext cx="13811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5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1B365B-656E-42CD-8760-7FE71EF70BF8}"/>
              </a:ext>
            </a:extLst>
          </p:cNvPr>
          <p:cNvSpPr>
            <a:spLocks noGrp="1"/>
          </p:cNvSpPr>
          <p:nvPr/>
        </p:nvSpPr>
        <p:spPr>
          <a:xfrm>
            <a:off x="9791700" y="3009900"/>
            <a:ext cx="13811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tasks</a:t>
            </a:r>
          </a:p>
          <a:p>
            <a:pPr algn="ctr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13 reward versions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509989-64BC-4976-9DC6-1C9BF8DEECDD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Reporting period: July 13–28, 2026</a:t>
            </a:r>
          </a:p>
        </p:txBody>
      </p:sp>
    </p:spTree>
    <p:extLst>
      <p:ext uri="{BB962C8B-B14F-4D97-AF65-F5344CB8AC3E}">
        <p14:creationId xmlns:p14="http://schemas.microsoft.com/office/powerpoint/2010/main" val="2061508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F789213-01FE-4048-861E-FA9106C911A2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BB5A2A-1246-4D7B-AB1E-CDBCEE692002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From Trainable Environments to Diagnosable Experiments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8B3805-FE9D-4115-A212-6EF09BBBB1EE}"/>
              </a:ext>
            </a:extLst>
          </p:cNvPr>
          <p:cNvSpPr>
            <a:spLocks noGrp="1"/>
          </p:cNvSpPr>
          <p:nvPr/>
        </p:nvSpPr>
        <p:spPr>
          <a:xfrm>
            <a:off x="9753600" y="6324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A14D999-7A76-4E89-BC59-1CB7E75C050C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923595-5FC4-451B-B645-66E01306A6F4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276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79DB6D-4750-43E5-B83F-50E793AFF1EE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MuJoCo / Motrix backend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490987B-BE72-4B05-BABB-85D721EFC4B5}"/>
              </a:ext>
            </a:extLst>
          </p:cNvPr>
          <p:cNvSpPr>
            <a:spLocks noGrp="1"/>
          </p:cNvSpPr>
          <p:nvPr/>
        </p:nvSpPr>
        <p:spPr>
          <a:xfrm>
            <a:off x="4000500" y="161925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AC8D95-13CB-47E0-980E-BEFBF8127F53}"/>
              </a:ext>
            </a:extLst>
          </p:cNvPr>
          <p:cNvSpPr>
            <a:spLocks noGrp="1"/>
          </p:cNvSpPr>
          <p:nvPr/>
        </p:nvSpPr>
        <p:spPr>
          <a:xfrm>
            <a:off x="4191000" y="1809750"/>
            <a:ext cx="276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50k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AAB958-A9EB-4077-A218-A0E109ED0588}"/>
              </a:ext>
            </a:extLst>
          </p:cNvPr>
          <p:cNvSpPr>
            <a:spLocks noGrp="1"/>
          </p:cNvSpPr>
          <p:nvPr/>
        </p:nvSpPr>
        <p:spPr>
          <a:xfrm>
            <a:off x="4191000" y="240030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LEAP-specific ball grasp states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660F4DC-BB26-4DA4-9142-9B481A26DAD4}"/>
              </a:ext>
            </a:extLst>
          </p:cNvPr>
          <p:cNvSpPr>
            <a:spLocks noGrp="1"/>
          </p:cNvSpPr>
          <p:nvPr/>
        </p:nvSpPr>
        <p:spPr>
          <a:xfrm>
            <a:off x="7486650" y="1619250"/>
            <a:ext cx="3143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60EC22-F72A-498F-892A-B48845F73F00}"/>
              </a:ext>
            </a:extLst>
          </p:cNvPr>
          <p:cNvSpPr>
            <a:spLocks noGrp="1"/>
          </p:cNvSpPr>
          <p:nvPr/>
        </p:nvSpPr>
        <p:spPr>
          <a:xfrm>
            <a:off x="7677150" y="1809750"/>
            <a:ext cx="2762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E2D7D1-A2BC-4C1B-8ABE-A4308687B34A}"/>
              </a:ext>
            </a:extLst>
          </p:cNvPr>
          <p:cNvSpPr>
            <a:spLocks noGrp="1"/>
          </p:cNvSpPr>
          <p:nvPr/>
        </p:nvSpPr>
        <p:spPr>
          <a:xfrm>
            <a:off x="7677150" y="2400300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976"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independently comparable cache tasks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80F3A3-F3F7-457D-A52D-4F4F03399F2A}"/>
              </a:ext>
            </a:extLst>
          </p:cNvPr>
          <p:cNvSpPr>
            <a:spLocks noGrp="1"/>
          </p:cNvSpPr>
          <p:nvPr/>
        </p:nvSpPr>
        <p:spPr>
          <a:xfrm>
            <a:off x="514350" y="3476625"/>
            <a:ext cx="76200" cy="3238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7CC7347-E821-4DF5-84D8-775F5331B22D}"/>
              </a:ext>
            </a:extLst>
          </p:cNvPr>
          <p:cNvSpPr>
            <a:spLocks noGrp="1"/>
          </p:cNvSpPr>
          <p:nvPr/>
        </p:nvSpPr>
        <p:spPr>
          <a:xfrm>
            <a:off x="742950" y="3495675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Core Deliverables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D87489-823B-4C49-91A1-3CEE2A62B03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 and Physics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ECE729-CDE2-4AEB-9DD2-0BE6E6B9AFD9}"/>
              </a:ext>
            </a:extLst>
          </p:cNvPr>
          <p:cNvSpPr>
            <a:spLocks noGrp="1"/>
          </p:cNvSpPr>
          <p:nvPr/>
        </p:nvSpPr>
        <p:spPr>
          <a:xfrm>
            <a:off x="742950" y="440055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Imported LEAP assets, dedicated ball/cube scenes, self-collision, and adjacent-link contact filtering.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BF5A32-9CDA-4B64-BB0F-4AFA6719E4E5}"/>
              </a:ext>
            </a:extLst>
          </p:cNvPr>
          <p:cNvSpPr>
            <a:spLocks noGrp="1"/>
          </p:cNvSpPr>
          <p:nvPr/>
        </p:nvSpPr>
        <p:spPr>
          <a:xfrm>
            <a:off x="4095750" y="40005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Reset Distribution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CF665E5-F99E-48D2-8DC8-9FE490724ECF}"/>
              </a:ext>
            </a:extLst>
          </p:cNvPr>
          <p:cNvSpPr>
            <a:spLocks noGrp="1"/>
          </p:cNvSpPr>
          <p:nvPr/>
        </p:nvSpPr>
        <p:spPr>
          <a:xfrm>
            <a:off x="4095750" y="440055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Identified the cube-cache mismatch, built a 50k ball-specific cache, and stored a per-reset anchor.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B56A53-5312-4526-AE2D-CC53B415DF42}"/>
              </a:ext>
            </a:extLst>
          </p:cNvPr>
          <p:cNvSpPr>
            <a:spLocks noGrp="1"/>
          </p:cNvSpPr>
          <p:nvPr/>
        </p:nvSpPr>
        <p:spPr>
          <a:xfrm>
            <a:off x="7448550" y="40005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Research Method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24ECEBB-75DC-4B7C-A2E1-015BD1608443}"/>
              </a:ext>
            </a:extLst>
          </p:cNvPr>
          <p:cNvSpPr>
            <a:spLocks noGrp="1"/>
          </p:cNvSpPr>
          <p:nvPr/>
        </p:nvSpPr>
        <p:spPr>
          <a:xfrm>
            <a:off x="7448550" y="4400550"/>
            <a:ext cx="3143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Used checkpoints, task diagnostics, the MuJoCo viewer, and RunIds for controlled reward and curriculum analysis.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DF3CE13-1C67-4D98-935C-B676031180DA}"/>
              </a:ext>
            </a:extLst>
          </p:cNvPr>
          <p:cNvSpPr>
            <a:spLocks noGrp="1"/>
          </p:cNvSpPr>
          <p:nvPr/>
        </p:nvSpPr>
        <p:spPr>
          <a:xfrm>
            <a:off x="514350" y="5829300"/>
            <a:ext cx="1076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66"/>
          </a:bodyPr>
          <a:lstStyle/>
          <a:p>
            <a:pPr algn="l">
              <a:buNone/>
              <a:defRPr sz="16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Sustained rotation is not yet claimed as solved; the ordering of acquisition, retention, and handoff is now measurable.</a:t>
            </a:r>
          </a:p>
        </p:txBody>
      </p:sp>
    </p:spTree>
    <p:extLst>
      <p:ext uri="{BB962C8B-B14F-4D97-AF65-F5344CB8AC3E}">
        <p14:creationId xmlns:p14="http://schemas.microsoft.com/office/powerpoint/2010/main" val="618769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D1410EF3-B165-4246-9FF6-0B76EFA581A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8B96E6-497E-4D17-816B-93A51BFA6CF6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Platform First, Then the Sustained-Rotation Bottleneck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8F7F40-FC2D-43BC-96B8-50B0E699AFA6}"/>
              </a:ext>
            </a:extLst>
          </p:cNvPr>
          <p:cNvSpPr>
            <a:spLocks noGrp="1"/>
          </p:cNvSpPr>
          <p:nvPr/>
        </p:nvSpPr>
        <p:spPr>
          <a:xfrm>
            <a:off x="9753600" y="6324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37" name="直線單箭頭接點 36"/>
          <p:cNvCxnSpPr/>
          <p:nvPr/>
        </p:nvCxnSpPr>
        <p:spPr>
          <a:xfrm>
            <a:off x="781050" y="2781300"/>
            <a:ext cx="10382250" cy="0"/>
          </a:xfrm>
          <a:prstGeom prst="straightConnector1">
            <a:avLst/>
          </a:prstGeom>
          <a:ln w="28575">
            <a:solidFill>
              <a:srgbClr val="D1D5DB"/>
            </a:solidFill>
            <a:prstDash val="solid"/>
          </a:ln>
        </p:spPr>
      </p:cxnSp>
      <p:sp>
        <p:nvSpPr>
          <p:cNvPr id="5" name="橢圓 4">
            <a:extLst>
              <a:ext uri="{FF2B5EF4-FFF2-40B4-BE49-F238E27FC236}">
                <a16:creationId xmlns:a16="http://schemas.microsoft.com/office/drawing/2014/main" id="{0B464171-9BFA-4271-99A4-C87C7A847763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114300" cy="11430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672718-1293-465F-B4D2-4767D3D87CD2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7/13–14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8E7463-3F8E-42D1-AE14-EBC8385F5513}"/>
              </a:ext>
            </a:extLst>
          </p:cNvPr>
          <p:cNvSpPr>
            <a:spLocks noGrp="1"/>
          </p:cNvSpPr>
          <p:nvPr/>
        </p:nvSpPr>
        <p:spPr>
          <a:xfrm>
            <a:off x="800100" y="2952750"/>
            <a:ext cx="177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7CBDE0-EEA8-4B82-BDBC-1A61E0B8040D}"/>
              </a:ext>
            </a:extLst>
          </p:cNvPr>
          <p:cNvSpPr>
            <a:spLocks noGrp="1"/>
          </p:cNvSpPr>
          <p:nvPr/>
        </p:nvSpPr>
        <p:spPr>
          <a:xfrm>
            <a:off x="800099" y="3467100"/>
            <a:ext cx="2026771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Windows 11 setup, </a:t>
            </a:r>
            <a:r>
              <a:rPr sz="1400" b="0" dirty="0" err="1">
                <a:solidFill>
                  <a:srgbClr val="5B6472"/>
                </a:solidFill>
                <a:latin typeface="Aptos"/>
                <a:ea typeface="Aptos"/>
                <a:cs typeface="Aptos"/>
              </a:rPr>
              <a:t>MuJoCo</a:t>
            </a:r>
            <a:r>
              <a:rPr sz="1400" b="0" dirty="0">
                <a:solidFill>
                  <a:srgbClr val="5B6472"/>
                </a:solidFill>
                <a:latin typeface="Aptos"/>
                <a:ea typeface="Aptos"/>
                <a:cs typeface="Aptos"/>
              </a:rPr>
              <a:t> smoke tests, </a:t>
            </a:r>
            <a:r>
              <a:rPr sz="1400" b="0" dirty="0" err="1">
                <a:solidFill>
                  <a:srgbClr val="5B6472"/>
                </a:solidFill>
                <a:latin typeface="Aptos"/>
                <a:ea typeface="Aptos"/>
                <a:cs typeface="Aptos"/>
              </a:rPr>
              <a:t>Motrix</a:t>
            </a:r>
            <a:r>
              <a:rPr sz="1400" b="0" dirty="0">
                <a:solidFill>
                  <a:srgbClr val="5B6472"/>
                </a:solidFill>
                <a:latin typeface="Aptos"/>
                <a:ea typeface="Aptos"/>
                <a:cs typeface="Aptos"/>
              </a:rPr>
              <a:t> training, and diagnosis of </a:t>
            </a:r>
            <a:r>
              <a:rPr sz="1400" b="0" dirty="0" err="1">
                <a:solidFill>
                  <a:srgbClr val="5B6472"/>
                </a:solidFill>
                <a:latin typeface="Aptos"/>
                <a:ea typeface="Aptos"/>
                <a:cs typeface="Aptos"/>
              </a:rPr>
              <a:t>wgpu</a:t>
            </a:r>
            <a:r>
              <a:rPr sz="1400" b="0" dirty="0">
                <a:solidFill>
                  <a:srgbClr val="5B6472"/>
                </a:solidFill>
                <a:latin typeface="Aptos"/>
                <a:ea typeface="Aptos"/>
                <a:cs typeface="Aptos"/>
              </a:rPr>
              <a:t> OOM recording failures.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D9B62FA5-BA68-4A43-8C6F-D2351AD48855}"/>
              </a:ext>
            </a:extLst>
          </p:cNvPr>
          <p:cNvSpPr>
            <a:spLocks noGrp="1"/>
          </p:cNvSpPr>
          <p:nvPr/>
        </p:nvSpPr>
        <p:spPr>
          <a:xfrm>
            <a:off x="3000375" y="2724150"/>
            <a:ext cx="114300" cy="114300"/>
          </a:xfrm>
          <a:prstGeom prst="ellipse">
            <a:avLst/>
          </a:prstGeom>
          <a:solidFill>
            <a:srgbClr val="0E749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A4B5C9-8F1B-4AE3-8409-C03A0C939860}"/>
              </a:ext>
            </a:extLst>
          </p:cNvPr>
          <p:cNvSpPr>
            <a:spLocks noGrp="1"/>
          </p:cNvSpPr>
          <p:nvPr/>
        </p:nvSpPr>
        <p:spPr>
          <a:xfrm>
            <a:off x="2924175" y="23050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7/14–17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6A85FE-F5B9-485D-A2F2-96C86D1BD35A}"/>
              </a:ext>
            </a:extLst>
          </p:cNvPr>
          <p:cNvSpPr>
            <a:spLocks noGrp="1"/>
          </p:cNvSpPr>
          <p:nvPr/>
        </p:nvSpPr>
        <p:spPr>
          <a:xfrm>
            <a:off x="2924175" y="2952750"/>
            <a:ext cx="177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LEAP Integration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D8761E-B9CD-4B10-858C-82DCA50F6DAC}"/>
              </a:ext>
            </a:extLst>
          </p:cNvPr>
          <p:cNvSpPr>
            <a:spLocks noGrp="1"/>
          </p:cNvSpPr>
          <p:nvPr/>
        </p:nvSpPr>
        <p:spPr>
          <a:xfrm>
            <a:off x="2924175" y="3467100"/>
            <a:ext cx="180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13"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Imported the hand and dedicated ball/cube assets; added in-hand rotation and toss tasks.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CB04FE0F-BDCD-443C-BF13-4EB3371FC379}"/>
              </a:ext>
            </a:extLst>
          </p:cNvPr>
          <p:cNvSpPr>
            <a:spLocks noGrp="1"/>
          </p:cNvSpPr>
          <p:nvPr/>
        </p:nvSpPr>
        <p:spPr>
          <a:xfrm>
            <a:off x="5124450" y="2724150"/>
            <a:ext cx="114300" cy="114300"/>
          </a:xfrm>
          <a:prstGeom prst="ellipse">
            <a:avLst/>
          </a:prstGeom>
          <a:solidFill>
            <a:srgbClr val="04785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2D37EA-0857-4627-9DA2-80353D9C1CEA}"/>
              </a:ext>
            </a:extLst>
          </p:cNvPr>
          <p:cNvSpPr>
            <a:spLocks noGrp="1"/>
          </p:cNvSpPr>
          <p:nvPr/>
        </p:nvSpPr>
        <p:spPr>
          <a:xfrm>
            <a:off x="5048250" y="23050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7/17–21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D111532-0B49-4A1B-8774-0E849949EDFA}"/>
              </a:ext>
            </a:extLst>
          </p:cNvPr>
          <p:cNvSpPr>
            <a:spLocks noGrp="1"/>
          </p:cNvSpPr>
          <p:nvPr/>
        </p:nvSpPr>
        <p:spPr>
          <a:xfrm>
            <a:off x="5048250" y="2952750"/>
            <a:ext cx="177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Physics and Cache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904AD11-E914-4AF9-92C6-74A55A4A73BC}"/>
              </a:ext>
            </a:extLst>
          </p:cNvPr>
          <p:cNvSpPr>
            <a:spLocks noGrp="1"/>
          </p:cNvSpPr>
          <p:nvPr/>
        </p:nvSpPr>
        <p:spPr>
          <a:xfrm>
            <a:off x="5048250" y="3467100"/>
            <a:ext cx="180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055"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Corrected penetration and self-collision behavior; produced the ball-specific 50k reset cache.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29AF4B9E-97A5-4047-97D3-171B2563916A}"/>
              </a:ext>
            </a:extLst>
          </p:cNvPr>
          <p:cNvSpPr>
            <a:spLocks noGrp="1"/>
          </p:cNvSpPr>
          <p:nvPr/>
        </p:nvSpPr>
        <p:spPr>
          <a:xfrm>
            <a:off x="7248525" y="2724150"/>
            <a:ext cx="114300" cy="114300"/>
          </a:xfrm>
          <a:prstGeom prst="ellipse">
            <a:avLst/>
          </a:prstGeom>
          <a:solidFill>
            <a:srgbClr val="B4530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A6D66D9-605D-4BD0-BF33-E84611694707}"/>
              </a:ext>
            </a:extLst>
          </p:cNvPr>
          <p:cNvSpPr>
            <a:spLocks noGrp="1"/>
          </p:cNvSpPr>
          <p:nvPr/>
        </p:nvSpPr>
        <p:spPr>
          <a:xfrm>
            <a:off x="7172325" y="23050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7/21–23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E0220B4-A87E-4BAC-A86F-04CEA78E8DE7}"/>
              </a:ext>
            </a:extLst>
          </p:cNvPr>
          <p:cNvSpPr>
            <a:spLocks noGrp="1"/>
          </p:cNvSpPr>
          <p:nvPr/>
        </p:nvSpPr>
        <p:spPr>
          <a:xfrm>
            <a:off x="7172325" y="2952750"/>
            <a:ext cx="177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Spin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5E1B786-8B3F-4A49-8E70-0975D564BB89}"/>
              </a:ext>
            </a:extLst>
          </p:cNvPr>
          <p:cNvSpPr>
            <a:spLocks noGrp="1"/>
          </p:cNvSpPr>
          <p:nvPr/>
        </p:nvSpPr>
        <p:spPr>
          <a:xfrm>
            <a:off x="7172325" y="3467100"/>
            <a:ext cx="180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Created sustained, retention, gaiting, and direct-rotation diagnostic branches.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808BAD8C-FEE9-444C-88D2-73E19F75C8A0}"/>
              </a:ext>
            </a:extLst>
          </p:cNvPr>
          <p:cNvSpPr>
            <a:spLocks noGrp="1"/>
          </p:cNvSpPr>
          <p:nvPr/>
        </p:nvSpPr>
        <p:spPr>
          <a:xfrm>
            <a:off x="9372600" y="2724150"/>
            <a:ext cx="114300" cy="114300"/>
          </a:xfrm>
          <a:prstGeom prst="ellipse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9796C9F-47EE-4637-9AFC-CB730A6D02EB}"/>
              </a:ext>
            </a:extLst>
          </p:cNvPr>
          <p:cNvSpPr>
            <a:spLocks noGrp="1"/>
          </p:cNvSpPr>
          <p:nvPr/>
        </p:nvSpPr>
        <p:spPr>
          <a:xfrm>
            <a:off x="9296400" y="23050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7/25–28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56A2D33-15D2-4EC1-80D9-3AA199D282D9}"/>
              </a:ext>
            </a:extLst>
          </p:cNvPr>
          <p:cNvSpPr>
            <a:spLocks noGrp="1"/>
          </p:cNvSpPr>
          <p:nvPr/>
        </p:nvSpPr>
        <p:spPr>
          <a:xfrm>
            <a:off x="9296400" y="2952750"/>
            <a:ext cx="1771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Simplification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491A4F9-CB51-4CD7-B85B-6E0EAFBE388E}"/>
              </a:ext>
            </a:extLst>
          </p:cNvPr>
          <p:cNvSpPr>
            <a:spLocks noGrp="1"/>
          </p:cNvSpPr>
          <p:nvPr/>
        </p:nvSpPr>
        <p:spPr>
          <a:xfrm>
            <a:off x="9296400" y="3467100"/>
            <a:ext cx="180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339"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Removed ineffective shaping and converged on the V3-A / V3-B cache-gaiting direction.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5CC6AC-8588-48CC-9A2C-707AEAF4AA0F}"/>
              </a:ext>
            </a:extLst>
          </p:cNvPr>
          <p:cNvSpPr>
            <a:spLocks noGrp="1"/>
          </p:cNvSpPr>
          <p:nvPr/>
        </p:nvSpPr>
        <p:spPr>
          <a:xfrm>
            <a:off x="514350" y="5562600"/>
            <a:ext cx="1076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993"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Experimental policy: integration smoke test → short diagnostic run → long training only after the direction is supported.</a:t>
            </a:r>
          </a:p>
        </p:txBody>
      </p:sp>
    </p:spTree>
    <p:extLst>
      <p:ext uri="{BB962C8B-B14F-4D97-AF65-F5344CB8AC3E}">
        <p14:creationId xmlns:p14="http://schemas.microsoft.com/office/powerpoint/2010/main" val="1485359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799C0103-CAD9-4D6C-B6E6-E9130DFCF4ED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760B6A-CAC8-4FFD-93FC-3E6ACB8C92A8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Both Backends Train; Rendering Reliability Differs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C4512E-C116-40B2-9928-F0456147365B}"/>
              </a:ext>
            </a:extLst>
          </p:cNvPr>
          <p:cNvSpPr>
            <a:spLocks noGrp="1"/>
          </p:cNvSpPr>
          <p:nvPr/>
        </p:nvSpPr>
        <p:spPr>
          <a:xfrm>
            <a:off x="9753600" y="6324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527B37-81EB-4F34-8A57-555CC814C1B9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4953000" cy="3619500"/>
          </a:xfrm>
          <a:prstGeom prst="rect">
            <a:avLst/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BCB8A3-A88D-4093-9777-BEBEF3020792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MuJoCo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1BB695-AD0F-470F-8F96-DED500FDBAF4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4095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PPO smoke and formal training run successfully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Native viewer supports checkpoint inspection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Strong XML, contact, and penetration diagnostics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Primary backend for current research decisions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BF9379-22CC-45C5-8776-D44AF42E96CE}"/>
              </a:ext>
            </a:extLst>
          </p:cNvPr>
          <p:cNvSpPr>
            <a:spLocks noGrp="1"/>
          </p:cNvSpPr>
          <p:nvPr/>
        </p:nvSpPr>
        <p:spPr>
          <a:xfrm>
            <a:off x="5962650" y="1524000"/>
            <a:ext cx="4953000" cy="3619500"/>
          </a:xfrm>
          <a:prstGeom prst="rect">
            <a:avLst/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6C91E0-5F92-414C-B58B-2D18472EBBEB}"/>
              </a:ext>
            </a:extLst>
          </p:cNvPr>
          <p:cNvSpPr>
            <a:spLocks noGrp="1"/>
          </p:cNvSpPr>
          <p:nvPr/>
        </p:nvSpPr>
        <p:spPr>
          <a:xfrm>
            <a:off x="6267450" y="18097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2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Motrix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C89D11-8C3E-43E3-B336-BA56B8974743}"/>
              </a:ext>
            </a:extLst>
          </p:cNvPr>
          <p:cNvSpPr>
            <a:spLocks noGrp="1"/>
          </p:cNvSpPr>
          <p:nvPr/>
        </p:nvSpPr>
        <p:spPr>
          <a:xfrm>
            <a:off x="6267450" y="2476500"/>
            <a:ext cx="4095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Training and interactive playback run successfully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Intel Arc recording triggered wgpu out-of-memory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Vulkan and DX12 both closed the render channel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Retained for backend-contract and performance checks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2E994-9AD1-404D-A1BB-B009C6038710}"/>
              </a:ext>
            </a:extLst>
          </p:cNvPr>
          <p:cNvSpPr>
            <a:spLocks noGrp="1"/>
          </p:cNvSpPr>
          <p:nvPr/>
        </p:nvSpPr>
        <p:spPr>
          <a:xfrm>
            <a:off x="514350" y="56388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Decision: use the native </a:t>
            </a:r>
            <a:r>
              <a:rPr sz="20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MuJoCo</a:t>
            </a:r>
            <a:r>
              <a:rPr sz="20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viewer for behavioral evidence; do not treat </a:t>
            </a:r>
            <a:r>
              <a:rPr sz="20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Motrix</a:t>
            </a:r>
            <a:r>
              <a:rPr sz="20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recording failures as training or physics failures.</a:t>
            </a:r>
          </a:p>
        </p:txBody>
      </p:sp>
    </p:spTree>
    <p:extLst>
      <p:ext uri="{BB962C8B-B14F-4D97-AF65-F5344CB8AC3E}">
        <p14:creationId xmlns:p14="http://schemas.microsoft.com/office/powerpoint/2010/main" val="87100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38501CDC-3E0B-4171-B4AF-9FAE0CDE9412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E98E47-46FF-4808-A2E8-C4EB96EAF89F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How the Verified 50k Ball Cache Is Generated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374AC1-DBBB-4AC3-A7F1-00D1FA3CA15A}"/>
              </a:ext>
            </a:extLst>
          </p:cNvPr>
          <p:cNvSpPr>
            <a:spLocks noGrp="1"/>
          </p:cNvSpPr>
          <p:nvPr/>
        </p:nvSpPr>
        <p:spPr>
          <a:xfrm>
            <a:off x="9753600" y="6324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C60B153-D6D7-4A38-992F-5B56FF5294C5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590550" cy="800100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18EB54-E636-4493-B2D9-ECFE6822D60F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590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8E15D7-84D0-441A-A79B-AC707561FCEB}"/>
              </a:ext>
            </a:extLst>
          </p:cNvPr>
          <p:cNvSpPr>
            <a:spLocks noGrp="1"/>
          </p:cNvSpPr>
          <p:nvPr/>
        </p:nvSpPr>
        <p:spPr>
          <a:xfrm>
            <a:off x="1352550" y="14287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Canonical seed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06071D-7C27-4318-9DD3-E8990D7BB312}"/>
              </a:ext>
            </a:extLst>
          </p:cNvPr>
          <p:cNvSpPr>
            <a:spLocks noGrp="1"/>
          </p:cNvSpPr>
          <p:nvPr/>
        </p:nvSpPr>
        <p:spPr>
          <a:xfrm>
            <a:off x="1352550" y="1771650"/>
            <a:ext cx="590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 the selected 23-value LEAP ball canonical seed. It survives the full 2.5 s diagnostic with index, ring, and thumb contact and &lt;1 mm penetration.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BEDCEB6-F106-483F-96F3-3BE2BE362C4E}"/>
              </a:ext>
            </a:extLst>
          </p:cNvPr>
          <p:cNvSpPr>
            <a:spLocks noGrp="1"/>
          </p:cNvSpPr>
          <p:nvPr/>
        </p:nvSpPr>
        <p:spPr>
          <a:xfrm>
            <a:off x="514350" y="2514600"/>
            <a:ext cx="590550" cy="800100"/>
          </a:xfrm>
          <a:prstGeom prst="roundRect">
            <a:avLst>
              <a:gd name="adj" fmla="val 12903"/>
            </a:avLst>
          </a:prstGeom>
          <a:solidFill>
            <a:srgbClr val="0E749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7591AD-5EE8-4DDA-A320-C57FC71DF643}"/>
              </a:ext>
            </a:extLst>
          </p:cNvPr>
          <p:cNvSpPr>
            <a:spLocks noGrp="1"/>
          </p:cNvSpPr>
          <p:nvPr/>
        </p:nvSpPr>
        <p:spPr>
          <a:xfrm>
            <a:off x="514350" y="2724150"/>
            <a:ext cx="590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2BAC90-3AFD-4D3F-9B7B-B487188935C5}"/>
              </a:ext>
            </a:extLst>
          </p:cNvPr>
          <p:cNvSpPr>
            <a:spLocks noGrp="1"/>
          </p:cNvSpPr>
          <p:nvPr/>
        </p:nvSpPr>
        <p:spPr>
          <a:xfrm>
            <a:off x="1352550" y="25336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Parallel proposals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829974-D8C7-4D17-973E-7B81A7DD3239}"/>
              </a:ext>
            </a:extLst>
          </p:cNvPr>
          <p:cNvSpPr>
            <a:spLocks noGrp="1"/>
          </p:cNvSpPr>
          <p:nvPr/>
        </p:nvSpPr>
        <p:spPr>
          <a:xfrm>
            <a:off x="1352550" y="2876550"/>
            <a:ext cx="590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466"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Run 1,024 MuJoCo environments. Sample all 16 hand joints within ±0.10 rad, clip to LEAP limits, keep ball-position noise at zero, and disable frontier refinement.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355D1A6-EFEE-435E-B583-2F7EC761DAA5}"/>
              </a:ext>
            </a:extLst>
          </p:cNvPr>
          <p:cNvSpPr>
            <a:spLocks noGrp="1"/>
          </p:cNvSpPr>
          <p:nvPr/>
        </p:nvSpPr>
        <p:spPr>
          <a:xfrm>
            <a:off x="514350" y="3619500"/>
            <a:ext cx="590550" cy="800100"/>
          </a:xfrm>
          <a:prstGeom prst="roundRect">
            <a:avLst>
              <a:gd name="adj" fmla="val 12903"/>
            </a:avLst>
          </a:prstGeom>
          <a:solidFill>
            <a:srgbClr val="B4530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CB91B50-27A4-4994-955B-10AC50700AFF}"/>
              </a:ext>
            </a:extLst>
          </p:cNvPr>
          <p:cNvSpPr>
            <a:spLocks noGrp="1"/>
          </p:cNvSpPr>
          <p:nvPr/>
        </p:nvSpPr>
        <p:spPr>
          <a:xfrm>
            <a:off x="514350" y="3829050"/>
            <a:ext cx="590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5F8823-75EF-4461-AB23-4936B850FBF2}"/>
              </a:ext>
            </a:extLst>
          </p:cNvPr>
          <p:cNvSpPr>
            <a:spLocks noGrp="1"/>
          </p:cNvSpPr>
          <p:nvPr/>
        </p:nvSpPr>
        <p:spPr>
          <a:xfrm>
            <a:off x="1352550" y="36385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Physics settling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9D673B-9F4F-4D6B-8397-8CBB5818EDE0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590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Ignore policy output and hold every sampled joint target with PD control for 2.5 s. Production quality gates become active after a 0.5 s warm-up.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3BA44921-7177-4BF2-AC0D-5D66A56795F8}"/>
              </a:ext>
            </a:extLst>
          </p:cNvPr>
          <p:cNvSpPr>
            <a:spLocks noGrp="1"/>
          </p:cNvSpPr>
          <p:nvPr/>
        </p:nvSpPr>
        <p:spPr>
          <a:xfrm>
            <a:off x="514350" y="4724400"/>
            <a:ext cx="590550" cy="800100"/>
          </a:xfrm>
          <a:prstGeom prst="roundRect">
            <a:avLst>
              <a:gd name="adj" fmla="val 12903"/>
            </a:avLst>
          </a:prstGeom>
          <a:solidFill>
            <a:srgbClr val="04785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79F335-D745-4E2A-857C-9A2929D9A62E}"/>
              </a:ext>
            </a:extLst>
          </p:cNvPr>
          <p:cNvSpPr>
            <a:spLocks noGrp="1"/>
          </p:cNvSpPr>
          <p:nvPr/>
        </p:nvSpPr>
        <p:spPr>
          <a:xfrm>
            <a:off x="514350" y="4933950"/>
            <a:ext cx="590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A271816-2A73-4121-A37E-CFF28A844FAC}"/>
              </a:ext>
            </a:extLst>
          </p:cNvPr>
          <p:cNvSpPr>
            <a:spLocks noGrp="1"/>
          </p:cNvSpPr>
          <p:nvPr/>
        </p:nvSpPr>
        <p:spPr>
          <a:xfrm>
            <a:off x="1352550" y="47434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Recheck and publish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64D35EF-86F1-4E2D-9500-3D1D77234008}"/>
              </a:ext>
            </a:extLst>
          </p:cNvPr>
          <p:cNvSpPr>
            <a:spLocks noGrp="1"/>
          </p:cNvSpPr>
          <p:nvPr/>
        </p:nvSpPr>
        <p:spPr>
          <a:xfrm>
            <a:off x="1352550" y="5086350"/>
            <a:ext cx="590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567"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Serialize survivors to float32, reconstruct and recheck them in MuJoCo, deduplicate reset identity at 1 mrad hand / 0.5 mm ball, ignore sphere quaternion, and atomically save exactly 50,000 rows.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D5159001-8272-4067-8F34-FBF2C8207EBD}"/>
              </a:ext>
            </a:extLst>
          </p:cNvPr>
          <p:cNvSpPr>
            <a:spLocks noGrp="1"/>
          </p:cNvSpPr>
          <p:nvPr/>
        </p:nvSpPr>
        <p:spPr>
          <a:xfrm>
            <a:off x="7810500" y="1409700"/>
            <a:ext cx="3333750" cy="419100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D23B2B1-C1F1-4EA8-94C5-3346AC94E319}"/>
              </a:ext>
            </a:extLst>
          </p:cNvPr>
          <p:cNvSpPr>
            <a:spLocks noGrp="1"/>
          </p:cNvSpPr>
          <p:nvPr/>
        </p:nvSpPr>
        <p:spPr>
          <a:xfrm>
            <a:off x="8077200" y="1676400"/>
            <a:ext cx="280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Production acceptance gates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BFE73D-A92A-4CDE-810B-A0F4153F44D1}"/>
              </a:ext>
            </a:extLst>
          </p:cNvPr>
          <p:cNvSpPr>
            <a:spLocks noGrp="1"/>
          </p:cNvSpPr>
          <p:nvPr/>
        </p:nvSpPr>
        <p:spPr>
          <a:xfrm>
            <a:off x="8077200" y="2362200"/>
            <a:ext cx="28003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Settling gates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finite, joint limits, and reset height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anchor drift ≤ 5 mm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all tip body origins ≤ 100 mm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≥ 2 contacts, including thumb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ball ≤ 0.05 m/s and 0.5 rad/s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joints ≤ 0.5 rad/s; |work| ≤ 0.25</a:t>
            </a:r>
          </a:p>
          <a:p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Serialized-row gates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contact + thumb repeated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every tip surface gap ≤ 9.95 mm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self/object penetration ≤ 1 mm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FA292BA-AF78-4D27-B139-D81800A2EA99}"/>
              </a:ext>
            </a:extLst>
          </p:cNvPr>
          <p:cNvSpPr>
            <a:spLocks noGrp="1"/>
          </p:cNvSpPr>
          <p:nvPr/>
        </p:nvSpPr>
        <p:spPr>
          <a:xfrm>
            <a:off x="514350" y="5953125"/>
            <a:ext cx="1057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Published: 50,000 × 23 float32 rows; 50,000/50,000 passed the final static and uniqueness audit.</a:t>
            </a:r>
          </a:p>
        </p:txBody>
      </p:sp>
    </p:spTree>
    <p:extLst>
      <p:ext uri="{BB962C8B-B14F-4D97-AF65-F5344CB8AC3E}">
        <p14:creationId xmlns:p14="http://schemas.microsoft.com/office/powerpoint/2010/main" val="2012545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80A0E8D-3273-4A91-910C-33CF05C7943B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C0403B-81FF-4336-AB38-621102F704B5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the Cache-Rotation Task Branched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0E1755-1545-4964-B518-4031E262F88D}"/>
              </a:ext>
            </a:extLst>
          </p:cNvPr>
          <p:cNvSpPr>
            <a:spLocks noGrp="1"/>
          </p:cNvSpPr>
          <p:nvPr/>
        </p:nvSpPr>
        <p:spPr>
          <a:xfrm>
            <a:off x="9753600" y="6324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494184"/>
            <a:ext cx="8447448" cy="475421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AACAFD4-CDE6-410F-9E51-73E533E83DE7}"/>
              </a:ext>
            </a:extLst>
          </p:cNvPr>
          <p:cNvSpPr>
            <a:spLocks noGrp="1"/>
          </p:cNvSpPr>
          <p:nvPr/>
        </p:nvSpPr>
        <p:spPr>
          <a:xfrm>
            <a:off x="8763000" y="1428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How to read the map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333693-A9BB-42F1-B271-FD849AF2210A}"/>
              </a:ext>
            </a:extLst>
          </p:cNvPr>
          <p:cNvSpPr>
            <a:spLocks noGrp="1"/>
          </p:cNvSpPr>
          <p:nvPr/>
        </p:nvSpPr>
        <p:spPr>
          <a:xfrm>
            <a:off x="8763000" y="1962150"/>
            <a:ext cx="28575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675" lnSpcReduction="10000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  Sustained Cache is the common multi-grasp rotation problem.</a:t>
            </a: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  Finger Gaiting tests whether the first spin stalls because the hand cannot change contacts.</a:t>
            </a: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 V3-A removes complex shaping and returns to an Allegro-style rotation objective.</a:t>
            </a: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  Direct Rotation is supporting evidence: positive rotation can be acquired without a handoff objective.</a:t>
            </a:r>
          </a:p>
          <a:p>
            <a:endParaRPr sz="1425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  Cache Gaiting V3-B recombines the simplified rotation base with constrained handoff.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C2395B-3A75-48B1-87A2-340B6E5EF5D6}"/>
              </a:ext>
            </a:extLst>
          </p:cNvPr>
          <p:cNvSpPr>
            <a:spLocks noGrp="1"/>
          </p:cNvSpPr>
          <p:nvPr/>
        </p:nvSpPr>
        <p:spPr>
          <a:xfrm>
            <a:off x="8763000" y="5314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77F294-7BC5-449C-885D-975663AD5DFF}"/>
              </a:ext>
            </a:extLst>
          </p:cNvPr>
          <p:cNvSpPr>
            <a:spLocks noGrp="1"/>
          </p:cNvSpPr>
          <p:nvPr/>
        </p:nvSpPr>
        <p:spPr>
          <a:xfrm>
            <a:off x="8763000" y="56769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719"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branches are controlled diagnostic experiments, not a linear sequence of task replacements.</a:t>
            </a:r>
          </a:p>
        </p:txBody>
      </p:sp>
    </p:spTree>
    <p:extLst>
      <p:ext uri="{BB962C8B-B14F-4D97-AF65-F5344CB8AC3E}">
        <p14:creationId xmlns:p14="http://schemas.microsoft.com/office/powerpoint/2010/main" val="532150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A866B702-95CD-44EC-9004-8F7ECC6C4BE8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FF0E67-3857-4826-8922-C42D1FA47DF4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Cache S1–S6: From Curriculum to Fixed Speed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EEA704-FDCE-4B93-A988-BE16D3AF0320}"/>
              </a:ext>
            </a:extLst>
          </p:cNvPr>
          <p:cNvSpPr>
            <a:spLocks noGrp="1"/>
          </p:cNvSpPr>
          <p:nvPr/>
        </p:nvSpPr>
        <p:spPr>
          <a:xfrm>
            <a:off x="9753600" y="6324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D26792-6C93-4286-9C2C-687706D468F4}"/>
              </a:ext>
            </a:extLst>
          </p:cNvPr>
          <p:cNvSpPr>
            <a:spLocks noGrp="1"/>
          </p:cNvSpPr>
          <p:nvPr/>
        </p:nvSpPr>
        <p:spPr>
          <a:xfrm>
            <a:off x="1130300" y="1352550"/>
            <a:ext cx="1000125" cy="5143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3B2581-C3B9-44E5-BC8D-F4E636803F86}"/>
              </a:ext>
            </a:extLst>
          </p:cNvPr>
          <p:cNvSpPr>
            <a:spLocks noGrp="1"/>
          </p:cNvSpPr>
          <p:nvPr/>
        </p:nvSpPr>
        <p:spPr>
          <a:xfrm>
            <a:off x="1130300" y="1476375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E247D8-947A-4A04-98AD-F1EEEDB0F999}"/>
              </a:ext>
            </a:extLst>
          </p:cNvPr>
          <p:cNvSpPr>
            <a:spLocks noGrp="1"/>
          </p:cNvSpPr>
          <p:nvPr/>
        </p:nvSpPr>
        <p:spPr>
          <a:xfrm>
            <a:off x="2387600" y="1390650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spin +1.5；retention +0.5；support +0.25；action -0.001；torque -0.005；work -0.05；failure -5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E0E095-9676-4527-963F-4692681A6AB9}"/>
              </a:ext>
            </a:extLst>
          </p:cNvPr>
          <p:cNvSpPr>
            <a:spLocks noGrp="1"/>
          </p:cNvSpPr>
          <p:nvPr/>
        </p:nvSpPr>
        <p:spPr>
          <a:xfrm>
            <a:off x="8636000" y="1438275"/>
            <a:ext cx="214555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2026-07-21_17-50-30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0EDAAF-B5B3-41D8-AE7F-72197FF3B3FA}"/>
              </a:ext>
            </a:extLst>
          </p:cNvPr>
          <p:cNvSpPr>
            <a:spLocks noGrp="1"/>
          </p:cNvSpPr>
          <p:nvPr/>
        </p:nvSpPr>
        <p:spPr>
          <a:xfrm>
            <a:off x="1130300" y="2000250"/>
            <a:ext cx="1000125" cy="514350"/>
          </a:xfrm>
          <a:prstGeom prst="rect">
            <a:avLst/>
          </a:prstGeom>
          <a:solidFill>
            <a:srgbClr val="04785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2753AE-B4C6-4DC5-A84C-DEDE6AAA2FEE}"/>
              </a:ext>
            </a:extLst>
          </p:cNvPr>
          <p:cNvSpPr>
            <a:spLocks noGrp="1"/>
          </p:cNvSpPr>
          <p:nvPr/>
        </p:nvSpPr>
        <p:spPr>
          <a:xfrm>
            <a:off x="1130300" y="2124075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075ACF-D89B-49EC-9282-E41DB24B69F7}"/>
              </a:ext>
            </a:extLst>
          </p:cNvPr>
          <p:cNvSpPr>
            <a:spLocks noGrp="1"/>
          </p:cNvSpPr>
          <p:nvPr/>
        </p:nvSpPr>
        <p:spPr>
          <a:xfrm>
            <a:off x="2387600" y="2038350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anchor_proximity 0.1 to pull the 15–30 mm grey zone back toward the cache anchor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53766B-7D4E-4239-8BF9-10723A7EBBC0}"/>
              </a:ext>
            </a:extLst>
          </p:cNvPr>
          <p:cNvSpPr>
            <a:spLocks noGrp="1"/>
          </p:cNvSpPr>
          <p:nvPr/>
        </p:nvSpPr>
        <p:spPr>
          <a:xfrm>
            <a:off x="8636000" y="2085975"/>
            <a:ext cx="214555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2026-07-21_22-47-15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8ECEF1-D703-4D05-985F-7940E507C114}"/>
              </a:ext>
            </a:extLst>
          </p:cNvPr>
          <p:cNvSpPr>
            <a:spLocks noGrp="1"/>
          </p:cNvSpPr>
          <p:nvPr/>
        </p:nvSpPr>
        <p:spPr>
          <a:xfrm>
            <a:off x="1130300" y="2647950"/>
            <a:ext cx="1000125" cy="514350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A37859-6A35-4E5F-B8F8-4520D690ACA0}"/>
              </a:ext>
            </a:extLst>
          </p:cNvPr>
          <p:cNvSpPr>
            <a:spLocks noGrp="1"/>
          </p:cNvSpPr>
          <p:nvPr/>
        </p:nvSpPr>
        <p:spPr>
          <a:xfrm>
            <a:off x="1130300" y="2771775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4CF01BE-D6E3-4D8A-90C2-A67C2C75094B}"/>
              </a:ext>
            </a:extLst>
          </p:cNvPr>
          <p:cNvSpPr>
            <a:spLocks noGrp="1"/>
          </p:cNvSpPr>
          <p:nvPr/>
        </p:nvSpPr>
        <p:spPr>
          <a:xfrm>
            <a:off x="2387600" y="2686050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Level-dependent positive-spin retention floor: L0–2=0.5, L3–7=0.25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AAB902-9BD3-49D5-BA97-7A9FA16F04E2}"/>
              </a:ext>
            </a:extLst>
          </p:cNvPr>
          <p:cNvSpPr>
            <a:spLocks noGrp="1"/>
          </p:cNvSpPr>
          <p:nvPr/>
        </p:nvSpPr>
        <p:spPr>
          <a:xfrm>
            <a:off x="8636000" y="2733675"/>
            <a:ext cx="214555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2026-07-22_02-36-35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FC1373-C852-485E-9E4F-1CE125891CA8}"/>
              </a:ext>
            </a:extLst>
          </p:cNvPr>
          <p:cNvSpPr>
            <a:spLocks noGrp="1"/>
          </p:cNvSpPr>
          <p:nvPr/>
        </p:nvSpPr>
        <p:spPr>
          <a:xfrm>
            <a:off x="1130300" y="3295650"/>
            <a:ext cx="1000125" cy="51435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DEF8F0-A161-42F5-BE60-7D9D9DDB7917}"/>
              </a:ext>
            </a:extLst>
          </p:cNvPr>
          <p:cNvSpPr>
            <a:spLocks noGrp="1"/>
          </p:cNvSpPr>
          <p:nvPr/>
        </p:nvSpPr>
        <p:spPr>
          <a:xfrm>
            <a:off x="1130300" y="3419475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2CA0CE8-B382-496A-AC1C-B9B96D9FA628}"/>
              </a:ext>
            </a:extLst>
          </p:cNvPr>
          <p:cNvSpPr>
            <a:spLocks noGrp="1"/>
          </p:cNvSpPr>
          <p:nvPr/>
        </p:nvSpPr>
        <p:spPr>
          <a:xfrm>
            <a:off x="2387600" y="3333750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Disable anchor reward; restore all floors to 0.5; enable direct_spin_reward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0D3D772-1FEA-47E5-8B9E-93AE789462A9}"/>
              </a:ext>
            </a:extLst>
          </p:cNvPr>
          <p:cNvSpPr>
            <a:spLocks noGrp="1"/>
          </p:cNvSpPr>
          <p:nvPr/>
        </p:nvSpPr>
        <p:spPr>
          <a:xfrm>
            <a:off x="8636000" y="3381375"/>
            <a:ext cx="214555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2026-07-22_23-04-12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5D7084-A28C-4B73-B36A-936BD05A9584}"/>
              </a:ext>
            </a:extLst>
          </p:cNvPr>
          <p:cNvSpPr>
            <a:spLocks noGrp="1"/>
          </p:cNvSpPr>
          <p:nvPr/>
        </p:nvSpPr>
        <p:spPr>
          <a:xfrm>
            <a:off x="1130300" y="3943350"/>
            <a:ext cx="1000125" cy="514350"/>
          </a:xfrm>
          <a:prstGeom prst="rect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1FF010-5B36-4EF7-B986-AC413534ED78}"/>
              </a:ext>
            </a:extLst>
          </p:cNvPr>
          <p:cNvSpPr>
            <a:spLocks noGrp="1"/>
          </p:cNvSpPr>
          <p:nvPr/>
        </p:nvSpPr>
        <p:spPr>
          <a:xfrm>
            <a:off x="1130300" y="4067175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9BFE7BC-EFEC-42AC-A066-26A6F85B3322}"/>
              </a:ext>
            </a:extLst>
          </p:cNvPr>
          <p:cNvSpPr>
            <a:spLocks noGrp="1"/>
          </p:cNvSpPr>
          <p:nvPr/>
        </p:nvSpPr>
        <p:spPr>
          <a:xfrm>
            <a:off x="2387600" y="3981450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Remove the eight-stage curriculum; fix target at 0.30 rad/s; spin=3.0; floor=1.0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1BCCBC6-D121-4B43-BEDE-245A1F4EB583}"/>
              </a:ext>
            </a:extLst>
          </p:cNvPr>
          <p:cNvSpPr>
            <a:spLocks noGrp="1"/>
          </p:cNvSpPr>
          <p:nvPr/>
        </p:nvSpPr>
        <p:spPr>
          <a:xfrm>
            <a:off x="8636000" y="4029075"/>
            <a:ext cx="214555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2026-07-23_00-19-50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0386741-BB0E-40E0-A7DA-196725F6E07E}"/>
              </a:ext>
            </a:extLst>
          </p:cNvPr>
          <p:cNvSpPr>
            <a:spLocks noGrp="1"/>
          </p:cNvSpPr>
          <p:nvPr/>
        </p:nvSpPr>
        <p:spPr>
          <a:xfrm>
            <a:off x="1130300" y="4591050"/>
            <a:ext cx="1000125" cy="5143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4D2A1BD-8487-4EDE-9FFB-7E7CF6F29995}"/>
              </a:ext>
            </a:extLst>
          </p:cNvPr>
          <p:cNvSpPr>
            <a:spLocks noGrp="1"/>
          </p:cNvSpPr>
          <p:nvPr/>
        </p:nvSpPr>
        <p:spPr>
          <a:xfrm>
            <a:off x="1130300" y="4714875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14D22D-8921-4957-B7BC-3BE4D29D4303}"/>
              </a:ext>
            </a:extLst>
          </p:cNvPr>
          <p:cNvSpPr>
            <a:spLocks noGrp="1"/>
          </p:cNvSpPr>
          <p:nvPr/>
        </p:nvSpPr>
        <p:spPr>
          <a:xfrm>
            <a:off x="2387600" y="4629150"/>
            <a:ext cx="600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spin_continuity -0.05 to address the policy stopping after the initial spin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EB1B747-7817-455F-B998-772E3E0B7B33}"/>
              </a:ext>
            </a:extLst>
          </p:cNvPr>
          <p:cNvSpPr>
            <a:spLocks noGrp="1"/>
          </p:cNvSpPr>
          <p:nvPr/>
        </p:nvSpPr>
        <p:spPr>
          <a:xfrm>
            <a:off x="8636000" y="4676775"/>
            <a:ext cx="214555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2026-07-23_02-11-05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0E500AD6-3264-40B7-BC50-7FF8976806FB}"/>
              </a:ext>
            </a:extLst>
          </p:cNvPr>
          <p:cNvSpPr>
            <a:spLocks noGrp="1"/>
          </p:cNvSpPr>
          <p:nvPr/>
        </p:nvSpPr>
        <p:spPr>
          <a:xfrm>
            <a:off x="849031" y="5210175"/>
            <a:ext cx="5105399" cy="1066800"/>
          </a:xfrm>
          <a:prstGeom prst="roundRect">
            <a:avLst>
              <a:gd name="adj" fmla="val 8163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 sz="16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027055-1C41-4742-9E92-219B9254D513}"/>
              </a:ext>
            </a:extLst>
          </p:cNvPr>
          <p:cNvSpPr>
            <a:spLocks noGrp="1"/>
          </p:cNvSpPr>
          <p:nvPr/>
        </p:nvSpPr>
        <p:spPr>
          <a:xfrm>
            <a:off x="1058582" y="5343525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Generation 1 · S1–S3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1EF8FD9-FC2C-480D-84CF-23911395781B}"/>
              </a:ext>
            </a:extLst>
          </p:cNvPr>
          <p:cNvSpPr>
            <a:spLocks noGrp="1"/>
          </p:cNvSpPr>
          <p:nvPr/>
        </p:nvSpPr>
        <p:spPr>
          <a:xfrm>
            <a:off x="1058582" y="566737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Hold → slow spin → faster spin. Retention and support could substitute for actual rotation.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214E760A-EE97-49E1-A9C6-242C69DDF474}"/>
              </a:ext>
            </a:extLst>
          </p:cNvPr>
          <p:cNvSpPr>
            <a:spLocks noGrp="1"/>
          </p:cNvSpPr>
          <p:nvPr/>
        </p:nvSpPr>
        <p:spPr>
          <a:xfrm>
            <a:off x="6096000" y="5210175"/>
            <a:ext cx="5154332" cy="1066800"/>
          </a:xfrm>
          <a:prstGeom prst="roundRect">
            <a:avLst>
              <a:gd name="adj" fmla="val 8163"/>
            </a:avLst>
          </a:prstGeom>
          <a:solidFill>
            <a:srgbClr val="FEF3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 sz="160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793F09-F5A6-42A7-AF6B-D8716692D864}"/>
              </a:ext>
            </a:extLst>
          </p:cNvPr>
          <p:cNvSpPr>
            <a:spLocks noGrp="1"/>
          </p:cNvSpPr>
          <p:nvPr/>
        </p:nvSpPr>
        <p:spPr>
          <a:xfrm>
            <a:off x="6354482" y="5343525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Generation 2 · S4–S6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847CD30-E042-4118-9632-E16C7A789D71}"/>
              </a:ext>
            </a:extLst>
          </p:cNvPr>
          <p:cNvSpPr>
            <a:spLocks noGrp="1"/>
          </p:cNvSpPr>
          <p:nvPr/>
        </p:nvSpPr>
        <p:spPr>
          <a:xfrm>
            <a:off x="6354482" y="56673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one fixed target speed and continuity pressure to isolate positive-rotation acquisition.</a:t>
            </a:r>
          </a:p>
        </p:txBody>
      </p:sp>
    </p:spTree>
    <p:extLst>
      <p:ext uri="{BB962C8B-B14F-4D97-AF65-F5344CB8AC3E}">
        <p14:creationId xmlns:p14="http://schemas.microsoft.com/office/powerpoint/2010/main" val="369049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ADDF229F-3A0E-4577-836F-D27F49280DC7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761E05-5DA4-4CB7-BFCB-F9F54196F248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Cache S7–S13: Converging on V3-A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A7B0C2-9335-497F-8B65-FFDD0CA0800A}"/>
              </a:ext>
            </a:extLst>
          </p:cNvPr>
          <p:cNvSpPr>
            <a:spLocks noGrp="1"/>
          </p:cNvSpPr>
          <p:nvPr/>
        </p:nvSpPr>
        <p:spPr>
          <a:xfrm>
            <a:off x="9753600" y="6324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206B72-A949-42E6-90DA-BD6F851DF7A2}"/>
              </a:ext>
            </a:extLst>
          </p:cNvPr>
          <p:cNvSpPr>
            <a:spLocks noGrp="1"/>
          </p:cNvSpPr>
          <p:nvPr/>
        </p:nvSpPr>
        <p:spPr>
          <a:xfrm>
            <a:off x="1008014" y="1203184"/>
            <a:ext cx="1000125" cy="5143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3CFDD0-13CF-43F8-93E2-E8BCD78691F2}"/>
              </a:ext>
            </a:extLst>
          </p:cNvPr>
          <p:cNvSpPr>
            <a:spLocks noGrp="1"/>
          </p:cNvSpPr>
          <p:nvPr/>
        </p:nvSpPr>
        <p:spPr>
          <a:xfrm>
            <a:off x="1008014" y="1327009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B81BA5-A3F2-4B66-BEB1-7A44B6652225}"/>
              </a:ext>
            </a:extLst>
          </p:cNvPr>
          <p:cNvSpPr>
            <a:spLocks noGrp="1"/>
          </p:cNvSpPr>
          <p:nvPr/>
        </p:nvSpPr>
        <p:spPr>
          <a:xfrm>
            <a:off x="2246087" y="1368564"/>
            <a:ext cx="868715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Disable old shaping; keep Allegro rotate +1.25; failure=0; allow 10 mm drop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804C09-6B1E-439B-B161-DD1D97C830E8}"/>
              </a:ext>
            </a:extLst>
          </p:cNvPr>
          <p:cNvSpPr>
            <a:spLocks noGrp="1"/>
          </p:cNvSpPr>
          <p:nvPr/>
        </p:nvSpPr>
        <p:spPr>
          <a:xfrm>
            <a:off x="9008443" y="1393684"/>
            <a:ext cx="192479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2026-07-23_03-57-44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D2FF21-1B26-4769-ABEA-169681A78906}"/>
              </a:ext>
            </a:extLst>
          </p:cNvPr>
          <p:cNvSpPr>
            <a:spLocks noGrp="1"/>
          </p:cNvSpPr>
          <p:nvPr/>
        </p:nvSpPr>
        <p:spPr>
          <a:xfrm>
            <a:off x="1008014" y="1793734"/>
            <a:ext cx="1000125" cy="514350"/>
          </a:xfrm>
          <a:prstGeom prst="rect">
            <a:avLst/>
          </a:prstGeom>
          <a:solidFill>
            <a:srgbClr val="0E749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B36C50-A7A1-4B65-A956-0ACD432F38B3}"/>
              </a:ext>
            </a:extLst>
          </p:cNvPr>
          <p:cNvSpPr>
            <a:spLocks noGrp="1"/>
          </p:cNvSpPr>
          <p:nvPr/>
        </p:nvSpPr>
        <p:spPr>
          <a:xfrm>
            <a:off x="1008014" y="1917559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S8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747BE1-61F3-4E77-B11D-6064B7376A01}"/>
              </a:ext>
            </a:extLst>
          </p:cNvPr>
          <p:cNvSpPr>
            <a:spLocks noGrp="1"/>
          </p:cNvSpPr>
          <p:nvPr/>
        </p:nvSpPr>
        <p:spPr>
          <a:xfrm>
            <a:off x="2246087" y="1959114"/>
            <a:ext cx="868715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</a:t>
            </a:r>
            <a:r>
              <a:rPr sz="1600" b="0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obj_linvel</a:t>
            </a:r>
            <a:r>
              <a:rPr sz="1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-0.3 to suppress whole-object translation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A2BEF99-7FB0-4026-B7C5-2D165E1FF036}"/>
              </a:ext>
            </a:extLst>
          </p:cNvPr>
          <p:cNvSpPr>
            <a:spLocks noGrp="1"/>
          </p:cNvSpPr>
          <p:nvPr/>
        </p:nvSpPr>
        <p:spPr>
          <a:xfrm>
            <a:off x="9008443" y="1984234"/>
            <a:ext cx="192479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2026-07-23_15-34-09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337EF1-D457-4FC2-85E3-59B0D85DD9F9}"/>
              </a:ext>
            </a:extLst>
          </p:cNvPr>
          <p:cNvSpPr>
            <a:spLocks noGrp="1"/>
          </p:cNvSpPr>
          <p:nvPr/>
        </p:nvSpPr>
        <p:spPr>
          <a:xfrm>
            <a:off x="1008014" y="2384284"/>
            <a:ext cx="1000125" cy="514350"/>
          </a:xfrm>
          <a:prstGeom prst="rect">
            <a:avLst/>
          </a:prstGeom>
          <a:solidFill>
            <a:srgbClr val="04785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D514A8-D1D6-47F5-ADB8-4407B70B7AE3}"/>
              </a:ext>
            </a:extLst>
          </p:cNvPr>
          <p:cNvSpPr>
            <a:spLocks noGrp="1"/>
          </p:cNvSpPr>
          <p:nvPr/>
        </p:nvSpPr>
        <p:spPr>
          <a:xfrm>
            <a:off x="1008014" y="2508109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S9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493C63-2ECE-4FA6-9AAA-0E3A8B198D4D}"/>
              </a:ext>
            </a:extLst>
          </p:cNvPr>
          <p:cNvSpPr>
            <a:spLocks noGrp="1"/>
          </p:cNvSpPr>
          <p:nvPr/>
        </p:nvSpPr>
        <p:spPr>
          <a:xfrm>
            <a:off x="2246087" y="2549664"/>
            <a:ext cx="868715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position_error -5; relax workspace termination to 50 mm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FE8F77-55CD-4699-99CD-FF4C3A18265F}"/>
              </a:ext>
            </a:extLst>
          </p:cNvPr>
          <p:cNvSpPr>
            <a:spLocks noGrp="1"/>
          </p:cNvSpPr>
          <p:nvPr/>
        </p:nvSpPr>
        <p:spPr>
          <a:xfrm>
            <a:off x="9008443" y="2574784"/>
            <a:ext cx="192479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2026-07-23_20-18-51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CCD173-ED87-433E-8968-B8D70E7F38CD}"/>
              </a:ext>
            </a:extLst>
          </p:cNvPr>
          <p:cNvSpPr>
            <a:spLocks noGrp="1"/>
          </p:cNvSpPr>
          <p:nvPr/>
        </p:nvSpPr>
        <p:spPr>
          <a:xfrm>
            <a:off x="1008014" y="2974834"/>
            <a:ext cx="1000125" cy="51435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B3CDC2-1554-4C1C-BEDA-1F8C5EE49F0F}"/>
              </a:ext>
            </a:extLst>
          </p:cNvPr>
          <p:cNvSpPr>
            <a:spLocks noGrp="1"/>
          </p:cNvSpPr>
          <p:nvPr/>
        </p:nvSpPr>
        <p:spPr>
          <a:xfrm>
            <a:off x="1008014" y="3098659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6DFD24B-DDBF-4E65-A8EA-C087A5F0003C}"/>
              </a:ext>
            </a:extLst>
          </p:cNvPr>
          <p:cNvSpPr>
            <a:spLocks noGrp="1"/>
          </p:cNvSpPr>
          <p:nvPr/>
        </p:nvSpPr>
        <p:spPr>
          <a:xfrm>
            <a:off x="2246087" y="3140214"/>
            <a:ext cx="868715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Contact-weighted rotation via base / index / middle: 0.25 / 0.375 / 0.375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76BAE2-984F-4605-990E-8CDD310AC420}"/>
              </a:ext>
            </a:extLst>
          </p:cNvPr>
          <p:cNvSpPr>
            <a:spLocks noGrp="1"/>
          </p:cNvSpPr>
          <p:nvPr/>
        </p:nvSpPr>
        <p:spPr>
          <a:xfrm>
            <a:off x="9008443" y="3165334"/>
            <a:ext cx="192479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2026-07-23_21-54-51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AB3680-8FD4-45DD-ABF6-A62BA3EB489A}"/>
              </a:ext>
            </a:extLst>
          </p:cNvPr>
          <p:cNvSpPr>
            <a:spLocks noGrp="1"/>
          </p:cNvSpPr>
          <p:nvPr/>
        </p:nvSpPr>
        <p:spPr>
          <a:xfrm>
            <a:off x="1008014" y="3565384"/>
            <a:ext cx="1000125" cy="514350"/>
          </a:xfrm>
          <a:prstGeom prst="rect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1A00D75-1318-4D4E-BAFF-C0E6FB86C945}"/>
              </a:ext>
            </a:extLst>
          </p:cNvPr>
          <p:cNvSpPr>
            <a:spLocks noGrp="1"/>
          </p:cNvSpPr>
          <p:nvPr/>
        </p:nvSpPr>
        <p:spPr>
          <a:xfrm>
            <a:off x="1008014" y="3689209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5F575A-0BE2-44D8-968D-ED945D035AFF}"/>
              </a:ext>
            </a:extLst>
          </p:cNvPr>
          <p:cNvSpPr>
            <a:spLocks noGrp="1"/>
          </p:cNvSpPr>
          <p:nvPr/>
        </p:nvSpPr>
        <p:spPr>
          <a:xfrm>
            <a:off x="2246087" y="3730764"/>
            <a:ext cx="868715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support-pose 0.25、opposition-progress 0.20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A0CC99B-EEE7-4109-9405-EF991A4FF8BF}"/>
              </a:ext>
            </a:extLst>
          </p:cNvPr>
          <p:cNvSpPr>
            <a:spLocks noGrp="1"/>
          </p:cNvSpPr>
          <p:nvPr/>
        </p:nvSpPr>
        <p:spPr>
          <a:xfrm>
            <a:off x="9008443" y="3755884"/>
            <a:ext cx="192479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2026-07-25_03-50-30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4D77B0-D4AC-4221-91A5-00EC2EFE463A}"/>
              </a:ext>
            </a:extLst>
          </p:cNvPr>
          <p:cNvSpPr>
            <a:spLocks noGrp="1"/>
          </p:cNvSpPr>
          <p:nvPr/>
        </p:nvSpPr>
        <p:spPr>
          <a:xfrm>
            <a:off x="1008014" y="4155934"/>
            <a:ext cx="1000125" cy="5143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06C8E75-2EEA-468D-AB8F-2E0B3FDBE9A4}"/>
              </a:ext>
            </a:extLst>
          </p:cNvPr>
          <p:cNvSpPr>
            <a:spLocks noGrp="1"/>
          </p:cNvSpPr>
          <p:nvPr/>
        </p:nvSpPr>
        <p:spPr>
          <a:xfrm>
            <a:off x="1008014" y="4279759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961012-8F9C-44F7-B186-E5FF59EF08D9}"/>
              </a:ext>
            </a:extLst>
          </p:cNvPr>
          <p:cNvSpPr>
            <a:spLocks noGrp="1"/>
          </p:cNvSpPr>
          <p:nvPr/>
        </p:nvSpPr>
        <p:spPr>
          <a:xfrm>
            <a:off x="2246087" y="4321314"/>
            <a:ext cx="868715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V3-A: remove pose shaping; position -5→-6; failure 0→-1; square the gate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839530C-D9C6-4D54-B559-3BD6526E26A8}"/>
              </a:ext>
            </a:extLst>
          </p:cNvPr>
          <p:cNvSpPr>
            <a:spLocks noGrp="1"/>
          </p:cNvSpPr>
          <p:nvPr/>
        </p:nvSpPr>
        <p:spPr>
          <a:xfrm>
            <a:off x="9008443" y="4346434"/>
            <a:ext cx="192479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2026-07-26_23-27-56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BABC8A0-980C-4198-BABD-1FA9D6CA2838}"/>
              </a:ext>
            </a:extLst>
          </p:cNvPr>
          <p:cNvSpPr>
            <a:spLocks noGrp="1"/>
          </p:cNvSpPr>
          <p:nvPr/>
        </p:nvSpPr>
        <p:spPr>
          <a:xfrm>
            <a:off x="1008014" y="4746484"/>
            <a:ext cx="1000125" cy="514350"/>
          </a:xfrm>
          <a:prstGeom prst="rect">
            <a:avLst/>
          </a:prstGeom>
          <a:solidFill>
            <a:srgbClr val="04785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4FBCA45-83D5-437D-84DF-1456C944E7D3}"/>
              </a:ext>
            </a:extLst>
          </p:cNvPr>
          <p:cNvSpPr>
            <a:spLocks noGrp="1"/>
          </p:cNvSpPr>
          <p:nvPr/>
        </p:nvSpPr>
        <p:spPr>
          <a:xfrm>
            <a:off x="1008014" y="4870309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S13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258370D-DF57-4515-A8C6-E3454F26E88B}"/>
              </a:ext>
            </a:extLst>
          </p:cNvPr>
          <p:cNvSpPr>
            <a:spLocks noGrp="1"/>
          </p:cNvSpPr>
          <p:nvPr/>
        </p:nvSpPr>
        <p:spPr>
          <a:xfrm>
            <a:off x="2246087" y="4911864"/>
            <a:ext cx="8687153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Current version: V3-A + position-gated spin_continuity -0.05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481FD9-6765-4BCA-BC54-7FB72039AD17}"/>
              </a:ext>
            </a:extLst>
          </p:cNvPr>
          <p:cNvSpPr>
            <a:spLocks noGrp="1"/>
          </p:cNvSpPr>
          <p:nvPr/>
        </p:nvSpPr>
        <p:spPr>
          <a:xfrm>
            <a:off x="9008443" y="4936984"/>
            <a:ext cx="192479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2026-07-27_00-36-25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F5848BF-388C-4B0D-82AE-630AF99B186C}"/>
              </a:ext>
            </a:extLst>
          </p:cNvPr>
          <p:cNvSpPr>
            <a:spLocks noGrp="1"/>
          </p:cNvSpPr>
          <p:nvPr/>
        </p:nvSpPr>
        <p:spPr>
          <a:xfrm>
            <a:off x="514350" y="5822389"/>
            <a:ext cx="161850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047857"/>
                </a:solidFill>
                <a:latin typeface="Aptos"/>
                <a:ea typeface="Aptos"/>
                <a:cs typeface="Aptos"/>
              </a:rPr>
              <a:t>Current formula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8835A2D-7594-4FEA-900D-D344F0BBAB35}"/>
              </a:ext>
            </a:extLst>
          </p:cNvPr>
          <p:cNvSpPr>
            <a:spLocks noGrp="1"/>
          </p:cNvSpPr>
          <p:nvPr/>
        </p:nvSpPr>
        <p:spPr>
          <a:xfrm>
            <a:off x="2418603" y="5375554"/>
            <a:ext cx="9715500" cy="500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e=‖ball-anchor‖；p=clip(</a:t>
            </a:r>
            <a:r>
              <a:rPr sz="1600" b="0" dirty="0" err="1">
                <a:solidFill>
                  <a:srgbClr val="5B6472"/>
                </a:solidFill>
                <a:latin typeface="Aptos"/>
                <a:ea typeface="Aptos"/>
                <a:cs typeface="Aptos"/>
              </a:rPr>
              <a:t>axis_speed</a:t>
            </a:r>
            <a:r>
              <a:rPr sz="1600" b="0" dirty="0">
                <a:solidFill>
                  <a:srgbClr val="5B6472"/>
                </a:solidFill>
                <a:latin typeface="Aptos"/>
                <a:ea typeface="Aptos"/>
                <a:cs typeface="Aptos"/>
              </a:rPr>
              <a:t>/0.30,-1,1)；purity=exp(-(</a:t>
            </a:r>
            <a:r>
              <a:rPr sz="1600" b="0" dirty="0" err="1">
                <a:solidFill>
                  <a:srgbClr val="5B6472"/>
                </a:solidFill>
                <a:latin typeface="Aptos"/>
                <a:ea typeface="Aptos"/>
                <a:cs typeface="Aptos"/>
              </a:rPr>
              <a:t>orth_speed</a:t>
            </a:r>
            <a:r>
              <a:rPr sz="1600" b="0" dirty="0">
                <a:solidFill>
                  <a:srgbClr val="5B6472"/>
                </a:solidFill>
                <a:latin typeface="Aptos"/>
                <a:ea typeface="Aptos"/>
                <a:cs typeface="Aptos"/>
              </a:rPr>
              <a:t>/0.10)²)；gate=</a:t>
            </a:r>
            <a:r>
              <a:rPr sz="1600" b="0" dirty="0" err="1">
                <a:solidFill>
                  <a:srgbClr val="5B6472"/>
                </a:solidFill>
                <a:latin typeface="Aptos"/>
                <a:ea typeface="Aptos"/>
                <a:cs typeface="Aptos"/>
              </a:rPr>
              <a:t>position_gate</a:t>
            </a:r>
            <a:r>
              <a:rPr sz="1600" b="0" dirty="0">
                <a:solidFill>
                  <a:srgbClr val="5B6472"/>
                </a:solidFill>
                <a:latin typeface="Aptos"/>
                <a:ea typeface="Aptos"/>
                <a:cs typeface="Aptos"/>
              </a:rPr>
              <a:t>(e)²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FBF32F8-5EE5-41E6-8559-545FC303FA92}"/>
              </a:ext>
            </a:extLst>
          </p:cNvPr>
          <p:cNvSpPr>
            <a:spLocks noGrp="1"/>
          </p:cNvSpPr>
          <p:nvPr/>
        </p:nvSpPr>
        <p:spPr>
          <a:xfrm>
            <a:off x="2418603" y="5714999"/>
            <a:ext cx="9429750" cy="500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rotate: forward=1.25×0.30×clip(p,0,1)×</a:t>
            </a:r>
            <a:r>
              <a:rPr sz="1600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purity×gate</a:t>
            </a:r>
            <a:r>
              <a:rPr sz="16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; reverse=1.25×0.30×clip(p,-1,0)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02B9485-7FE1-44B2-B8C0-B8FDE771596D}"/>
              </a:ext>
            </a:extLst>
          </p:cNvPr>
          <p:cNvSpPr>
            <a:spLocks noGrp="1"/>
          </p:cNvSpPr>
          <p:nvPr/>
        </p:nvSpPr>
        <p:spPr>
          <a:xfrm>
            <a:off x="2418603" y="6019799"/>
            <a:ext cx="9429750" cy="500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reward=dt×(rotate-0.3‖v‖₁-6e-0.05×gate×(1-clip(p,0,1)))-failure;</a:t>
            </a:r>
            <a:endParaRPr lang="en-US" sz="16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gate=1 within 15 mm; terminate beyond 50 mm</a:t>
            </a:r>
          </a:p>
        </p:txBody>
      </p:sp>
    </p:spTree>
    <p:extLst>
      <p:ext uri="{BB962C8B-B14F-4D97-AF65-F5344CB8AC3E}">
        <p14:creationId xmlns:p14="http://schemas.microsoft.com/office/powerpoint/2010/main" val="1304165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>
            <a:extLst>
              <a:ext uri="{FF2B5EF4-FFF2-40B4-BE49-F238E27FC236}">
                <a16:creationId xmlns:a16="http://schemas.microsoft.com/office/drawing/2014/main" id="{1C0A29D8-0C85-4808-ADD6-867AC2C84BC1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C8A99A-07B7-45D7-B83F-3ACFB9B8C8D3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Anchor Proximity Improved Retention, Not Sustained Rotation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7A683B-21E0-4CDD-9AAC-3EFD4DF8DE62}"/>
              </a:ext>
            </a:extLst>
          </p:cNvPr>
          <p:cNvSpPr>
            <a:spLocks noGrp="1"/>
          </p:cNvSpPr>
          <p:nvPr/>
        </p:nvSpPr>
        <p:spPr>
          <a:xfrm>
            <a:off x="9753600" y="6324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8057D9-A73E-44DD-8958-F42F4FF178A7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  Baseline  2026-07-21_18-22-39_mujoco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086885-B1E8-4979-B81E-2F4A41E2ABB0}"/>
              </a:ext>
            </a:extLst>
          </p:cNvPr>
          <p:cNvSpPr>
            <a:spLocks noGrp="1"/>
          </p:cNvSpPr>
          <p:nvPr/>
        </p:nvSpPr>
        <p:spPr>
          <a:xfrm>
            <a:off x="6191250" y="13144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RUN  Grey-zone  2026-07-21_22-58-39_mujoco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863848-20FC-4CE2-9795-37FDFE0A9876}"/>
              </a:ext>
            </a:extLst>
          </p:cNvPr>
          <p:cNvSpPr>
            <a:spLocks noGrp="1"/>
          </p:cNvSpPr>
          <p:nvPr/>
        </p:nvSpPr>
        <p:spPr>
          <a:xfrm>
            <a:off x="514350" y="1809750"/>
            <a:ext cx="2819400" cy="476250"/>
          </a:xfrm>
          <a:prstGeom prst="rect">
            <a:avLst/>
          </a:prstGeom>
          <a:solidFill>
            <a:srgbClr val="11182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BEE9B3-7926-4A0C-8B87-3C504198CFCF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Diagnostic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AE0B26-7A8E-4016-A8CD-BDB1F2BDDD9B}"/>
              </a:ext>
            </a:extLst>
          </p:cNvPr>
          <p:cNvSpPr>
            <a:spLocks noGrp="1"/>
          </p:cNvSpPr>
          <p:nvPr/>
        </p:nvSpPr>
        <p:spPr>
          <a:xfrm>
            <a:off x="3333750" y="1809750"/>
            <a:ext cx="1905000" cy="476250"/>
          </a:xfrm>
          <a:prstGeom prst="rect">
            <a:avLst/>
          </a:prstGeom>
          <a:solidFill>
            <a:srgbClr val="11182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BD6957-6073-4465-A13C-F6C7D41E5FB1}"/>
              </a:ext>
            </a:extLst>
          </p:cNvPr>
          <p:cNvSpPr>
            <a:spLocks noGrp="1"/>
          </p:cNvSpPr>
          <p:nvPr/>
        </p:nvSpPr>
        <p:spPr>
          <a:xfrm>
            <a:off x="3429000" y="19050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8EF6C9-8F7C-48C5-AC3C-E7194D81990E}"/>
              </a:ext>
            </a:extLst>
          </p:cNvPr>
          <p:cNvSpPr>
            <a:spLocks noGrp="1"/>
          </p:cNvSpPr>
          <p:nvPr/>
        </p:nvSpPr>
        <p:spPr>
          <a:xfrm>
            <a:off x="5238750" y="1809750"/>
            <a:ext cx="1905000" cy="476250"/>
          </a:xfrm>
          <a:prstGeom prst="rect">
            <a:avLst/>
          </a:prstGeom>
          <a:solidFill>
            <a:srgbClr val="11182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858F48-94B1-4253-BBB1-7EEF432D67B2}"/>
              </a:ext>
            </a:extLst>
          </p:cNvPr>
          <p:cNvSpPr>
            <a:spLocks noGrp="1"/>
          </p:cNvSpPr>
          <p:nvPr/>
        </p:nvSpPr>
        <p:spPr>
          <a:xfrm>
            <a:off x="5334000" y="19050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anchor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999B78-8E58-43D7-AF95-6BC577719EC4}"/>
              </a:ext>
            </a:extLst>
          </p:cNvPr>
          <p:cNvSpPr>
            <a:spLocks noGrp="1"/>
          </p:cNvSpPr>
          <p:nvPr/>
        </p:nvSpPr>
        <p:spPr>
          <a:xfrm>
            <a:off x="7143750" y="1809750"/>
            <a:ext cx="4095750" cy="476250"/>
          </a:xfrm>
          <a:prstGeom prst="rect">
            <a:avLst/>
          </a:prstGeom>
          <a:solidFill>
            <a:srgbClr val="11182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60707C-E62E-42F2-8704-5B4734DB1780}"/>
              </a:ext>
            </a:extLst>
          </p:cNvPr>
          <p:cNvSpPr>
            <a:spLocks noGrp="1"/>
          </p:cNvSpPr>
          <p:nvPr/>
        </p:nvSpPr>
        <p:spPr>
          <a:xfrm>
            <a:off x="7239000" y="19050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58D3E8-F491-450E-8ADA-9CE9E1819EEE}"/>
              </a:ext>
            </a:extLst>
          </p:cNvPr>
          <p:cNvSpPr>
            <a:spLocks noGrp="1"/>
          </p:cNvSpPr>
          <p:nvPr/>
        </p:nvSpPr>
        <p:spPr>
          <a:xfrm>
            <a:off x="514350" y="2286000"/>
            <a:ext cx="28194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2E801C-E532-4D93-AAD3-5ED2EFFF321B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anchor position error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277362-2540-4D06-816C-4912186C4FB9}"/>
              </a:ext>
            </a:extLst>
          </p:cNvPr>
          <p:cNvSpPr>
            <a:spLocks noGrp="1"/>
          </p:cNvSpPr>
          <p:nvPr/>
        </p:nvSpPr>
        <p:spPr>
          <a:xfrm>
            <a:off x="3333750" y="2286000"/>
            <a:ext cx="1905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D386D59-166F-4976-AA1B-DD72EBEDD912}"/>
              </a:ext>
            </a:extLst>
          </p:cNvPr>
          <p:cNvSpPr>
            <a:spLocks noGrp="1"/>
          </p:cNvSpPr>
          <p:nvPr/>
        </p:nvSpPr>
        <p:spPr>
          <a:xfrm>
            <a:off x="3429000" y="23812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23.35 mm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5C6E32-4DE1-4408-8475-30214F20ADF1}"/>
              </a:ext>
            </a:extLst>
          </p:cNvPr>
          <p:cNvSpPr>
            <a:spLocks noGrp="1"/>
          </p:cNvSpPr>
          <p:nvPr/>
        </p:nvSpPr>
        <p:spPr>
          <a:xfrm>
            <a:off x="5238750" y="2286000"/>
            <a:ext cx="1905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DA43BC-11C8-43E8-B647-9F1A0E09DE0A}"/>
              </a:ext>
            </a:extLst>
          </p:cNvPr>
          <p:cNvSpPr>
            <a:spLocks noGrp="1"/>
          </p:cNvSpPr>
          <p:nvPr/>
        </p:nvSpPr>
        <p:spPr>
          <a:xfrm>
            <a:off x="5334000" y="23812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20.09 mm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DA11D03-38BB-4E54-B941-FD0C8353474B}"/>
              </a:ext>
            </a:extLst>
          </p:cNvPr>
          <p:cNvSpPr>
            <a:spLocks noGrp="1"/>
          </p:cNvSpPr>
          <p:nvPr/>
        </p:nvSpPr>
        <p:spPr>
          <a:xfrm>
            <a:off x="7143750" y="2286000"/>
            <a:ext cx="40957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4769A30-F03D-4F6E-9B91-4EBC19C7F743}"/>
              </a:ext>
            </a:extLst>
          </p:cNvPr>
          <p:cNvSpPr>
            <a:spLocks noGrp="1"/>
          </p:cNvSpPr>
          <p:nvPr/>
        </p:nvSpPr>
        <p:spPr>
          <a:xfrm>
            <a:off x="7239000" y="23812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14% lower; object stays closer to reset anchor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A39A39-12FD-4F5E-8F85-FEBFC8221C5E}"/>
              </a:ext>
            </a:extLst>
          </p:cNvPr>
          <p:cNvSpPr>
            <a:spLocks noGrp="1"/>
          </p:cNvSpPr>
          <p:nvPr/>
        </p:nvSpPr>
        <p:spPr>
          <a:xfrm>
            <a:off x="514350" y="2762250"/>
            <a:ext cx="2819400" cy="4762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26AEA64-F270-4279-96E6-94E95DB72235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fingertip contacts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6B123FE-3A41-4F5B-B0D4-915133B97BB4}"/>
              </a:ext>
            </a:extLst>
          </p:cNvPr>
          <p:cNvSpPr>
            <a:spLocks noGrp="1"/>
          </p:cNvSpPr>
          <p:nvPr/>
        </p:nvSpPr>
        <p:spPr>
          <a:xfrm>
            <a:off x="3333750" y="2762250"/>
            <a:ext cx="1905000" cy="4762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315FA43-6C5F-4788-8724-BC9E70568277}"/>
              </a:ext>
            </a:extLst>
          </p:cNvPr>
          <p:cNvSpPr>
            <a:spLocks noGrp="1"/>
          </p:cNvSpPr>
          <p:nvPr/>
        </p:nvSpPr>
        <p:spPr>
          <a:xfrm>
            <a:off x="3429000" y="28575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2.15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8DCBA3-C500-4ED9-9C18-68FE723B3655}"/>
              </a:ext>
            </a:extLst>
          </p:cNvPr>
          <p:cNvSpPr>
            <a:spLocks noGrp="1"/>
          </p:cNvSpPr>
          <p:nvPr/>
        </p:nvSpPr>
        <p:spPr>
          <a:xfrm>
            <a:off x="5238750" y="2762250"/>
            <a:ext cx="1905000" cy="4762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B7A0BB2-C958-41B3-8C19-17E946A24319}"/>
              </a:ext>
            </a:extLst>
          </p:cNvPr>
          <p:cNvSpPr>
            <a:spLocks noGrp="1"/>
          </p:cNvSpPr>
          <p:nvPr/>
        </p:nvSpPr>
        <p:spPr>
          <a:xfrm>
            <a:off x="5334000" y="28575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3.00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8CDCB6F-3900-42AB-88C7-54885FE26AEB}"/>
              </a:ext>
            </a:extLst>
          </p:cNvPr>
          <p:cNvSpPr>
            <a:spLocks noGrp="1"/>
          </p:cNvSpPr>
          <p:nvPr/>
        </p:nvSpPr>
        <p:spPr>
          <a:xfrm>
            <a:off x="7143750" y="2762250"/>
            <a:ext cx="4095750" cy="4762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2E90EFA-A48D-4510-84E2-8EC3EC806732}"/>
              </a:ext>
            </a:extLst>
          </p:cNvPr>
          <p:cNvSpPr>
            <a:spLocks noGrp="1"/>
          </p:cNvSpPr>
          <p:nvPr/>
        </p:nvSpPr>
        <p:spPr>
          <a:xfrm>
            <a:off x="7239000" y="28575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Stronger enclosure and retention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9DD1B44-704B-4653-9E23-6113D4B4C8C4}"/>
              </a:ext>
            </a:extLst>
          </p:cNvPr>
          <p:cNvSpPr>
            <a:spLocks noGrp="1"/>
          </p:cNvSpPr>
          <p:nvPr/>
        </p:nvSpPr>
        <p:spPr>
          <a:xfrm>
            <a:off x="514350" y="3238500"/>
            <a:ext cx="28194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932D3F5-D6D3-45D0-9F30-A780391177A1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stage-valid fraction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4EABD9C-5955-4D17-9236-28F4B1FBFADC}"/>
              </a:ext>
            </a:extLst>
          </p:cNvPr>
          <p:cNvSpPr>
            <a:spLocks noGrp="1"/>
          </p:cNvSpPr>
          <p:nvPr/>
        </p:nvSpPr>
        <p:spPr>
          <a:xfrm>
            <a:off x="3333750" y="3238500"/>
            <a:ext cx="1905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051DE53-38FC-4BE9-BFE3-893FA5BD8B94}"/>
              </a:ext>
            </a:extLst>
          </p:cNvPr>
          <p:cNvSpPr>
            <a:spLocks noGrp="1"/>
          </p:cNvSpPr>
          <p:nvPr/>
        </p:nvSpPr>
        <p:spPr>
          <a:xfrm>
            <a:off x="3429000" y="33337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10.96%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EF9C6E-CA60-4240-8538-9820255FE61D}"/>
              </a:ext>
            </a:extLst>
          </p:cNvPr>
          <p:cNvSpPr>
            <a:spLocks noGrp="1"/>
          </p:cNvSpPr>
          <p:nvPr/>
        </p:nvSpPr>
        <p:spPr>
          <a:xfrm>
            <a:off x="5238750" y="3238500"/>
            <a:ext cx="1905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72253BF-A278-4D7A-85C0-400F67F1C8A1}"/>
              </a:ext>
            </a:extLst>
          </p:cNvPr>
          <p:cNvSpPr>
            <a:spLocks noGrp="1"/>
          </p:cNvSpPr>
          <p:nvPr/>
        </p:nvSpPr>
        <p:spPr>
          <a:xfrm>
            <a:off x="5334000" y="33337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16.22%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2C9B3CF-449A-426D-9441-9B39450652DE}"/>
              </a:ext>
            </a:extLst>
          </p:cNvPr>
          <p:cNvSpPr>
            <a:spLocks noGrp="1"/>
          </p:cNvSpPr>
          <p:nvPr/>
        </p:nvSpPr>
        <p:spPr>
          <a:xfrm>
            <a:off x="7143750" y="3238500"/>
            <a:ext cx="40957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BFAF73-D016-497D-A503-B2A45F46886C}"/>
              </a:ext>
            </a:extLst>
          </p:cNvPr>
          <p:cNvSpPr>
            <a:spLocks noGrp="1"/>
          </p:cNvSpPr>
          <p:nvPr/>
        </p:nvSpPr>
        <p:spPr>
          <a:xfrm>
            <a:off x="7239000" y="33337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+5.26 percentage points of valid states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32F34DE-A4F3-44A8-919A-9577E7CCA1D1}"/>
              </a:ext>
            </a:extLst>
          </p:cNvPr>
          <p:cNvSpPr>
            <a:spLocks noGrp="1"/>
          </p:cNvSpPr>
          <p:nvPr/>
        </p:nvSpPr>
        <p:spPr>
          <a:xfrm>
            <a:off x="514350" y="3714750"/>
            <a:ext cx="2819400" cy="4762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27C7968-0715-4E97-B4EE-A82168161DF8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axis-speed EMA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2131211-8DBF-41F4-9BC9-32D6EE193E69}"/>
              </a:ext>
            </a:extLst>
          </p:cNvPr>
          <p:cNvSpPr>
            <a:spLocks noGrp="1"/>
          </p:cNvSpPr>
          <p:nvPr/>
        </p:nvSpPr>
        <p:spPr>
          <a:xfrm>
            <a:off x="3333750" y="3714750"/>
            <a:ext cx="1905000" cy="4762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8B685A3-F329-417B-B463-EE04044850A8}"/>
              </a:ext>
            </a:extLst>
          </p:cNvPr>
          <p:cNvSpPr>
            <a:spLocks noGrp="1"/>
          </p:cNvSpPr>
          <p:nvPr/>
        </p:nvSpPr>
        <p:spPr>
          <a:xfrm>
            <a:off x="3429000" y="38100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+0.010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0DAF288-EB9E-4906-B559-C9C95C99C701}"/>
              </a:ext>
            </a:extLst>
          </p:cNvPr>
          <p:cNvSpPr>
            <a:spLocks noGrp="1"/>
          </p:cNvSpPr>
          <p:nvPr/>
        </p:nvSpPr>
        <p:spPr>
          <a:xfrm>
            <a:off x="5238750" y="3714750"/>
            <a:ext cx="1905000" cy="4762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3A3408C-1B9D-4595-BBD9-6793AA7F5E02}"/>
              </a:ext>
            </a:extLst>
          </p:cNvPr>
          <p:cNvSpPr>
            <a:spLocks noGrp="1"/>
          </p:cNvSpPr>
          <p:nvPr/>
        </p:nvSpPr>
        <p:spPr>
          <a:xfrm>
            <a:off x="5334000" y="38100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+0.013 rad/s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2072B45-28CA-472E-A91E-BC3CC2D7CCFB}"/>
              </a:ext>
            </a:extLst>
          </p:cNvPr>
          <p:cNvSpPr>
            <a:spLocks noGrp="1"/>
          </p:cNvSpPr>
          <p:nvPr/>
        </p:nvSpPr>
        <p:spPr>
          <a:xfrm>
            <a:off x="7143750" y="3714750"/>
            <a:ext cx="4095750" cy="4762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6B7A340-6D48-40DF-9FA5-9B6A8CCEE375}"/>
              </a:ext>
            </a:extLst>
          </p:cNvPr>
          <p:cNvSpPr>
            <a:spLocks noGrp="1"/>
          </p:cNvSpPr>
          <p:nvPr/>
        </p:nvSpPr>
        <p:spPr>
          <a:xfrm>
            <a:off x="7239000" y="38100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Only a small gain; still far below target speed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3176517-C843-4F26-A13D-4066E1C93AB2}"/>
              </a:ext>
            </a:extLst>
          </p:cNvPr>
          <p:cNvSpPr>
            <a:spLocks noGrp="1"/>
          </p:cNvSpPr>
          <p:nvPr/>
        </p:nvSpPr>
        <p:spPr>
          <a:xfrm>
            <a:off x="514350" y="4191000"/>
            <a:ext cx="28194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BD9A801-22C2-48A9-9A5B-3AE5E85F47F7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≥2 s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5F8B67B-62B8-4F04-BB19-49CEDB8CBFFD}"/>
              </a:ext>
            </a:extLst>
          </p:cNvPr>
          <p:cNvSpPr>
            <a:spLocks noGrp="1"/>
          </p:cNvSpPr>
          <p:nvPr/>
        </p:nvSpPr>
        <p:spPr>
          <a:xfrm>
            <a:off x="3333750" y="4191000"/>
            <a:ext cx="1905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95195E8-6CBA-482F-8CC2-8C16BD61F27F}"/>
              </a:ext>
            </a:extLst>
          </p:cNvPr>
          <p:cNvSpPr>
            <a:spLocks noGrp="1"/>
          </p:cNvSpPr>
          <p:nvPr/>
        </p:nvSpPr>
        <p:spPr>
          <a:xfrm>
            <a:off x="3429000" y="42862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0.45%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9C1422E-83FA-4FA0-9A7D-72A11CC1C2F4}"/>
              </a:ext>
            </a:extLst>
          </p:cNvPr>
          <p:cNvSpPr>
            <a:spLocks noGrp="1"/>
          </p:cNvSpPr>
          <p:nvPr/>
        </p:nvSpPr>
        <p:spPr>
          <a:xfrm>
            <a:off x="5238750" y="4191000"/>
            <a:ext cx="1905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99FFC98-4BCB-4FDE-AE04-12C15443C57A}"/>
              </a:ext>
            </a:extLst>
          </p:cNvPr>
          <p:cNvSpPr>
            <a:spLocks noGrp="1"/>
          </p:cNvSpPr>
          <p:nvPr/>
        </p:nvSpPr>
        <p:spPr>
          <a:xfrm>
            <a:off x="5334000" y="42862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2.16%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BEB01E1-1ADB-4152-A135-CDF86D0494EB}"/>
              </a:ext>
            </a:extLst>
          </p:cNvPr>
          <p:cNvSpPr>
            <a:spLocks noGrp="1"/>
          </p:cNvSpPr>
          <p:nvPr/>
        </p:nvSpPr>
        <p:spPr>
          <a:xfrm>
            <a:off x="7143750" y="4191000"/>
            <a:ext cx="40957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50A8BCF-DF75-47BA-AAFF-3C49626DBCE6}"/>
              </a:ext>
            </a:extLst>
          </p:cNvPr>
          <p:cNvSpPr>
            <a:spLocks noGrp="1"/>
          </p:cNvSpPr>
          <p:nvPr/>
        </p:nvSpPr>
        <p:spPr>
          <a:xfrm>
            <a:off x="7239000" y="42862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Short successes increased but remained rare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EF7ED53-574D-476D-850C-AEBF157C354A}"/>
              </a:ext>
            </a:extLst>
          </p:cNvPr>
          <p:cNvSpPr>
            <a:spLocks noGrp="1"/>
          </p:cNvSpPr>
          <p:nvPr/>
        </p:nvSpPr>
        <p:spPr>
          <a:xfrm>
            <a:off x="514350" y="4667250"/>
            <a:ext cx="2819400" cy="4762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3D6F3AE-CDD0-43D6-835C-5CCD95CB9319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≥5 / 10 s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86817E9-28AA-45B5-9E66-0351605EA6D6}"/>
              </a:ext>
            </a:extLst>
          </p:cNvPr>
          <p:cNvSpPr>
            <a:spLocks noGrp="1"/>
          </p:cNvSpPr>
          <p:nvPr/>
        </p:nvSpPr>
        <p:spPr>
          <a:xfrm>
            <a:off x="3333750" y="4667250"/>
            <a:ext cx="1905000" cy="4762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E68E972-B2B7-4C99-BA6B-30EB067406EA}"/>
              </a:ext>
            </a:extLst>
          </p:cNvPr>
          <p:cNvSpPr>
            <a:spLocks noGrp="1"/>
          </p:cNvSpPr>
          <p:nvPr/>
        </p:nvSpPr>
        <p:spPr>
          <a:xfrm>
            <a:off x="3429000" y="47625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0% / 0%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8CF77A2-D901-44D5-849A-8FE35D13846C}"/>
              </a:ext>
            </a:extLst>
          </p:cNvPr>
          <p:cNvSpPr>
            <a:spLocks noGrp="1"/>
          </p:cNvSpPr>
          <p:nvPr/>
        </p:nvSpPr>
        <p:spPr>
          <a:xfrm>
            <a:off x="5238750" y="4667250"/>
            <a:ext cx="1905000" cy="4762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67FE975-FE1F-46D7-BDBC-9F61B8561349}"/>
              </a:ext>
            </a:extLst>
          </p:cNvPr>
          <p:cNvSpPr>
            <a:spLocks noGrp="1"/>
          </p:cNvSpPr>
          <p:nvPr/>
        </p:nvSpPr>
        <p:spPr>
          <a:xfrm>
            <a:off x="5334000" y="47625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0% / 0%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F451FDE-401D-46E3-BF0A-4B0CA661A8AA}"/>
              </a:ext>
            </a:extLst>
          </p:cNvPr>
          <p:cNvSpPr>
            <a:spLocks noGrp="1"/>
          </p:cNvSpPr>
          <p:nvPr/>
        </p:nvSpPr>
        <p:spPr>
          <a:xfrm>
            <a:off x="7143750" y="4667250"/>
            <a:ext cx="4095750" cy="4762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7B3CBFB-8EE6-4793-BD94-C160FD97A7C6}"/>
              </a:ext>
            </a:extLst>
          </p:cNvPr>
          <p:cNvSpPr>
            <a:spLocks noGrp="1"/>
          </p:cNvSpPr>
          <p:nvPr/>
        </p:nvSpPr>
        <p:spPr>
          <a:xfrm>
            <a:off x="7239000" y="47625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sustained rotation was acquired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E7176A7-73D6-4FD5-9DE0-2A20C5CB5539}"/>
              </a:ext>
            </a:extLst>
          </p:cNvPr>
          <p:cNvSpPr>
            <a:spLocks noGrp="1"/>
          </p:cNvSpPr>
          <p:nvPr/>
        </p:nvSpPr>
        <p:spPr>
          <a:xfrm>
            <a:off x="514350" y="5143500"/>
            <a:ext cx="28194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A755C90-4CA4-4B9E-AD5C-C2F8F07250A7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2628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survival seconds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AB69E77-BC0D-481F-AED1-A9C9C676E15B}"/>
              </a:ext>
            </a:extLst>
          </p:cNvPr>
          <p:cNvSpPr>
            <a:spLocks noGrp="1"/>
          </p:cNvSpPr>
          <p:nvPr/>
        </p:nvSpPr>
        <p:spPr>
          <a:xfrm>
            <a:off x="3333750" y="5143500"/>
            <a:ext cx="1905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F045DE1-F63C-4705-95D6-32DF39F8A404}"/>
              </a:ext>
            </a:extLst>
          </p:cNvPr>
          <p:cNvSpPr>
            <a:spLocks noGrp="1"/>
          </p:cNvSpPr>
          <p:nvPr/>
        </p:nvSpPr>
        <p:spPr>
          <a:xfrm>
            <a:off x="3429000" y="52387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13.11 s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4795439-1DB8-45B9-88BF-275A33F3080B}"/>
              </a:ext>
            </a:extLst>
          </p:cNvPr>
          <p:cNvSpPr>
            <a:spLocks noGrp="1"/>
          </p:cNvSpPr>
          <p:nvPr/>
        </p:nvSpPr>
        <p:spPr>
          <a:xfrm>
            <a:off x="5238750" y="5143500"/>
            <a:ext cx="1905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750F9FBB-5375-4E28-A0AB-AA8ABF5538F5}"/>
              </a:ext>
            </a:extLst>
          </p:cNvPr>
          <p:cNvSpPr>
            <a:spLocks noGrp="1"/>
          </p:cNvSpPr>
          <p:nvPr/>
        </p:nvSpPr>
        <p:spPr>
          <a:xfrm>
            <a:off x="5334000" y="52387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12.78 s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12EF5FE-C294-4BB3-A533-0E60137247EE}"/>
              </a:ext>
            </a:extLst>
          </p:cNvPr>
          <p:cNvSpPr>
            <a:spLocks noGrp="1"/>
          </p:cNvSpPr>
          <p:nvPr/>
        </p:nvSpPr>
        <p:spPr>
          <a:xfrm>
            <a:off x="7143750" y="5143500"/>
            <a:ext cx="40957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0BA13C9-D067-4C48-A281-0041C7040C99}"/>
              </a:ext>
            </a:extLst>
          </p:cNvPr>
          <p:cNvSpPr>
            <a:spLocks noGrp="1"/>
          </p:cNvSpPr>
          <p:nvPr/>
        </p:nvSpPr>
        <p:spPr>
          <a:xfrm>
            <a:off x="7239000" y="52387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survival improvement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E63190A-6652-4AA0-8C7E-3603763F2D64}"/>
              </a:ext>
            </a:extLst>
          </p:cNvPr>
          <p:cNvSpPr>
            <a:spLocks noGrp="1"/>
          </p:cNvSpPr>
          <p:nvPr/>
        </p:nvSpPr>
        <p:spPr>
          <a:xfrm>
            <a:off x="514350" y="5810250"/>
            <a:ext cx="10763250" cy="7195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B42318"/>
                </a:solidFill>
                <a:latin typeface="Aptos"/>
                <a:ea typeface="Aptos"/>
                <a:cs typeface="Aptos"/>
              </a:rPr>
              <a:t>Conclusion: anchor proximity repaired the 15–30 mm grey zone and improved contact retention, but it did not create long-duration positive angular speed or finger switching.</a:t>
            </a:r>
          </a:p>
        </p:txBody>
      </p:sp>
    </p:spTree>
    <p:extLst>
      <p:ext uri="{BB962C8B-B14F-4D97-AF65-F5344CB8AC3E}">
        <p14:creationId xmlns:p14="http://schemas.microsoft.com/office/powerpoint/2010/main" val="217410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917E4524-1CEB-4830-A054-0985E9A3A62B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51F446-81FB-4A5D-A336-57E0FDD050BB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 Gaiting: Testing Contact Switching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4072AB-DD1F-4EA9-9325-33A19A04F329}"/>
              </a:ext>
            </a:extLst>
          </p:cNvPr>
          <p:cNvSpPr>
            <a:spLocks noGrp="1"/>
          </p:cNvSpPr>
          <p:nvPr/>
        </p:nvSpPr>
        <p:spPr>
          <a:xfrm>
            <a:off x="9753600" y="6324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A032AE-001F-404D-A601-DA60AEC8C975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Observed failure sequence</a:t>
            </a:r>
          </a:p>
        </p:txBody>
      </p:sp>
      <p:cxnSp>
        <p:nvCxnSpPr>
          <p:cNvPr id="63" name="直線單箭頭接點 62"/>
          <p:cNvCxnSpPr/>
          <p:nvPr/>
        </p:nvCxnSpPr>
        <p:spPr>
          <a:xfrm>
            <a:off x="1619250" y="2333625"/>
            <a:ext cx="781050" cy="0"/>
          </a:xfrm>
          <a:prstGeom prst="straightConnector1">
            <a:avLst/>
          </a:prstGeom>
          <a:ln w="28575">
            <a:solidFill>
              <a:srgbClr val="B42318"/>
            </a:solidFill>
            <a:prstDash val="solid"/>
          </a:ln>
        </p:spPr>
      </p:cxn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63C32D0-A13D-447B-9C3D-B1A110FF7A6F}"/>
              </a:ext>
            </a:extLst>
          </p:cNvPr>
          <p:cNvSpPr>
            <a:spLocks noGrp="1"/>
          </p:cNvSpPr>
          <p:nvPr/>
        </p:nvSpPr>
        <p:spPr>
          <a:xfrm>
            <a:off x="514350" y="1952625"/>
            <a:ext cx="1857375" cy="762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9A0E98-E60F-4514-815B-E25BCDA5E050}"/>
              </a:ext>
            </a:extLst>
          </p:cNvPr>
          <p:cNvSpPr>
            <a:spLocks noGrp="1"/>
          </p:cNvSpPr>
          <p:nvPr/>
        </p:nvSpPr>
        <p:spPr>
          <a:xfrm>
            <a:off x="666750" y="2181225"/>
            <a:ext cx="1552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Initial push</a:t>
            </a:r>
          </a:p>
        </p:txBody>
      </p:sp>
      <p:cxnSp>
        <p:nvCxnSpPr>
          <p:cNvPr id="66" name="直線單箭頭接點 65"/>
          <p:cNvCxnSpPr/>
          <p:nvPr/>
        </p:nvCxnSpPr>
        <p:spPr>
          <a:xfrm>
            <a:off x="4238625" y="2333625"/>
            <a:ext cx="781050" cy="0"/>
          </a:xfrm>
          <a:prstGeom prst="straightConnector1">
            <a:avLst/>
          </a:prstGeom>
          <a:ln w="28575">
            <a:solidFill>
              <a:srgbClr val="B42318"/>
            </a:solidFill>
            <a:prstDash val="solid"/>
          </a:ln>
        </p:spPr>
      </p:cxn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250AD1B-9715-45D3-8688-1FD9E88B2EE0}"/>
              </a:ext>
            </a:extLst>
          </p:cNvPr>
          <p:cNvSpPr>
            <a:spLocks noGrp="1"/>
          </p:cNvSpPr>
          <p:nvPr/>
        </p:nvSpPr>
        <p:spPr>
          <a:xfrm>
            <a:off x="3133725" y="1952625"/>
            <a:ext cx="1857375" cy="762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79C105-784A-4AEE-B8D7-234B69A3A2F0}"/>
              </a:ext>
            </a:extLst>
          </p:cNvPr>
          <p:cNvSpPr>
            <a:spLocks noGrp="1"/>
          </p:cNvSpPr>
          <p:nvPr/>
        </p:nvSpPr>
        <p:spPr>
          <a:xfrm>
            <a:off x="3286125" y="2181225"/>
            <a:ext cx="1552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Brief +Z spin</a:t>
            </a:r>
          </a:p>
        </p:txBody>
      </p:sp>
      <p:cxnSp>
        <p:nvCxnSpPr>
          <p:cNvPr id="69" name="直線單箭頭接點 68"/>
          <p:cNvCxnSpPr/>
          <p:nvPr/>
        </p:nvCxnSpPr>
        <p:spPr>
          <a:xfrm>
            <a:off x="6858000" y="2333625"/>
            <a:ext cx="781050" cy="0"/>
          </a:xfrm>
          <a:prstGeom prst="straightConnector1">
            <a:avLst/>
          </a:prstGeom>
          <a:ln w="28575">
            <a:solidFill>
              <a:srgbClr val="B42318"/>
            </a:solidFill>
            <a:prstDash val="solid"/>
          </a:ln>
        </p:spPr>
      </p:cxn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151304D-28D0-4F93-A1FA-6C23170027E8}"/>
              </a:ext>
            </a:extLst>
          </p:cNvPr>
          <p:cNvSpPr>
            <a:spLocks noGrp="1"/>
          </p:cNvSpPr>
          <p:nvPr/>
        </p:nvSpPr>
        <p:spPr>
          <a:xfrm>
            <a:off x="5753100" y="1952625"/>
            <a:ext cx="1857375" cy="762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82A05F-59D3-49DC-86B7-FB640E64205C}"/>
              </a:ext>
            </a:extLst>
          </p:cNvPr>
          <p:cNvSpPr>
            <a:spLocks noGrp="1"/>
          </p:cNvSpPr>
          <p:nvPr/>
        </p:nvSpPr>
        <p:spPr>
          <a:xfrm>
            <a:off x="5905500" y="2181225"/>
            <a:ext cx="1552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Contacts freeze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37C3CB6F-9A37-4A21-AC24-F02070CC257B}"/>
              </a:ext>
            </a:extLst>
          </p:cNvPr>
          <p:cNvSpPr>
            <a:spLocks noGrp="1"/>
          </p:cNvSpPr>
          <p:nvPr/>
        </p:nvSpPr>
        <p:spPr>
          <a:xfrm>
            <a:off x="8372475" y="1952625"/>
            <a:ext cx="1857375" cy="762000"/>
          </a:xfrm>
          <a:prstGeom prst="roundRect">
            <a:avLst>
              <a:gd name="adj" fmla="val 10000"/>
            </a:avLst>
          </a:prstGeom>
          <a:solidFill>
            <a:srgbClr val="FEE4E2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4C1901-A7A0-4AD3-B773-333613E3FF1F}"/>
              </a:ext>
            </a:extLst>
          </p:cNvPr>
          <p:cNvSpPr>
            <a:spLocks noGrp="1"/>
          </p:cNvSpPr>
          <p:nvPr/>
        </p:nvSpPr>
        <p:spPr>
          <a:xfrm>
            <a:off x="8524875" y="2181225"/>
            <a:ext cx="1552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266"/>
          </a:bodyPr>
          <a:lstStyle/>
          <a:p>
            <a:pPr algn="ct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Speed decays to zero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6E71BE-C463-4CE1-B01D-2A36B6291957}"/>
              </a:ext>
            </a:extLst>
          </p:cNvPr>
          <p:cNvSpPr>
            <a:spLocks noGrp="1"/>
          </p:cNvSpPr>
          <p:nvPr/>
        </p:nvSpPr>
        <p:spPr>
          <a:xfrm>
            <a:off x="514350" y="3333750"/>
            <a:ext cx="76200" cy="323850"/>
          </a:xfrm>
          <a:prstGeom prst="rect">
            <a:avLst/>
          </a:prstGeom>
          <a:solidFill>
            <a:srgbClr val="B45309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1D18A3-C0E1-4EDE-AA55-4F44475CF248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Added rewards and gates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FEFF97-C034-4D32-A9AB-41080F475DB6}"/>
              </a:ext>
            </a:extLst>
          </p:cNvPr>
          <p:cNvSpPr>
            <a:spLocks noGrp="1"/>
          </p:cNvSpPr>
          <p:nvPr/>
        </p:nvSpPr>
        <p:spPr>
          <a:xfrm>
            <a:off x="514350" y="3886200"/>
            <a:ext cx="2520315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6212A9-6D38-41B7-A84F-E76E6EF21E47}"/>
              </a:ext>
            </a:extLst>
          </p:cNvPr>
          <p:cNvSpPr>
            <a:spLocks noGrp="1"/>
          </p:cNvSpPr>
          <p:nvPr/>
        </p:nvSpPr>
        <p:spPr>
          <a:xfrm>
            <a:off x="3034665" y="3886200"/>
            <a:ext cx="2146935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6D2D90-BFEC-4F4F-B292-BAE72C077689}"/>
              </a:ext>
            </a:extLst>
          </p:cNvPr>
          <p:cNvSpPr>
            <a:spLocks noGrp="1"/>
          </p:cNvSpPr>
          <p:nvPr/>
        </p:nvSpPr>
        <p:spPr>
          <a:xfrm>
            <a:off x="628650" y="3971925"/>
            <a:ext cx="229171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Gaiting term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26F90B0-1634-448F-AAAA-9F939365ABD5}"/>
              </a:ext>
            </a:extLst>
          </p:cNvPr>
          <p:cNvSpPr>
            <a:spLocks noGrp="1"/>
          </p:cNvSpPr>
          <p:nvPr/>
        </p:nvSpPr>
        <p:spPr>
          <a:xfrm>
            <a:off x="3148965" y="3971925"/>
            <a:ext cx="19183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F8C59F-69A9-44B9-9A5E-A77CED9D6A27}"/>
              </a:ext>
            </a:extLst>
          </p:cNvPr>
          <p:cNvSpPr>
            <a:spLocks noGrp="1"/>
          </p:cNvSpPr>
          <p:nvPr/>
        </p:nvSpPr>
        <p:spPr>
          <a:xfrm>
            <a:off x="514350" y="4343400"/>
            <a:ext cx="252031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0EF0B73-7388-42A2-80A6-21150F703F71}"/>
              </a:ext>
            </a:extLst>
          </p:cNvPr>
          <p:cNvSpPr>
            <a:spLocks noGrp="1"/>
          </p:cNvSpPr>
          <p:nvPr/>
        </p:nvSpPr>
        <p:spPr>
          <a:xfrm>
            <a:off x="3034665" y="4343400"/>
            <a:ext cx="214693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382CF71-BA1A-4220-9972-0AB464F8CF96}"/>
              </a:ext>
            </a:extLst>
          </p:cNvPr>
          <p:cNvSpPr>
            <a:spLocks noGrp="1"/>
          </p:cNvSpPr>
          <p:nvPr/>
        </p:nvSpPr>
        <p:spPr>
          <a:xfrm>
            <a:off x="628650" y="4429125"/>
            <a:ext cx="229171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stable_support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D7259D8-9AF9-4A66-9FC3-E0C8B91EA825}"/>
              </a:ext>
            </a:extLst>
          </p:cNvPr>
          <p:cNvSpPr>
            <a:spLocks noGrp="1"/>
          </p:cNvSpPr>
          <p:nvPr/>
        </p:nvSpPr>
        <p:spPr>
          <a:xfrm>
            <a:off x="3148965" y="4429125"/>
            <a:ext cx="19183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+0.20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386E1A7-212C-4A8E-AAE9-FCBC649B4C1C}"/>
              </a:ext>
            </a:extLst>
          </p:cNvPr>
          <p:cNvSpPr>
            <a:spLocks noGrp="1"/>
          </p:cNvSpPr>
          <p:nvPr/>
        </p:nvSpPr>
        <p:spPr>
          <a:xfrm>
            <a:off x="514350" y="4800600"/>
            <a:ext cx="2520315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4C13DDB-9894-411D-89FE-25E4791B28ED}"/>
              </a:ext>
            </a:extLst>
          </p:cNvPr>
          <p:cNvSpPr>
            <a:spLocks noGrp="1"/>
          </p:cNvSpPr>
          <p:nvPr/>
        </p:nvSpPr>
        <p:spPr>
          <a:xfrm>
            <a:off x="3034665" y="4800600"/>
            <a:ext cx="2146935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752385B-618D-4274-834B-8AD1A9A700C3}"/>
              </a:ext>
            </a:extLst>
          </p:cNvPr>
          <p:cNvSpPr>
            <a:spLocks noGrp="1"/>
          </p:cNvSpPr>
          <p:nvPr/>
        </p:nvSpPr>
        <p:spPr>
          <a:xfrm>
            <a:off x="628650" y="4886325"/>
            <a:ext cx="229171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release_progress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D3AE5EF-E45F-4F8F-B1C8-6BA515F00294}"/>
              </a:ext>
            </a:extLst>
          </p:cNvPr>
          <p:cNvSpPr>
            <a:spLocks noGrp="1"/>
          </p:cNvSpPr>
          <p:nvPr/>
        </p:nvSpPr>
        <p:spPr>
          <a:xfrm>
            <a:off x="3148965" y="4886325"/>
            <a:ext cx="19183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+0.05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400E191-4D33-4ACC-A481-89E22BD05BDC}"/>
              </a:ext>
            </a:extLst>
          </p:cNvPr>
          <p:cNvSpPr>
            <a:spLocks noGrp="1"/>
          </p:cNvSpPr>
          <p:nvPr/>
        </p:nvSpPr>
        <p:spPr>
          <a:xfrm>
            <a:off x="514350" y="5257800"/>
            <a:ext cx="252031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107D94-A67C-431B-9665-30F1AFCD4040}"/>
              </a:ext>
            </a:extLst>
          </p:cNvPr>
          <p:cNvSpPr>
            <a:spLocks noGrp="1"/>
          </p:cNvSpPr>
          <p:nvPr/>
        </p:nvSpPr>
        <p:spPr>
          <a:xfrm>
            <a:off x="3034665" y="5257800"/>
            <a:ext cx="214693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43CC24E-53F3-4FB9-87C6-74C96062DB3C}"/>
              </a:ext>
            </a:extLst>
          </p:cNvPr>
          <p:cNvSpPr>
            <a:spLocks noGrp="1"/>
          </p:cNvSpPr>
          <p:nvPr/>
        </p:nvSpPr>
        <p:spPr>
          <a:xfrm>
            <a:off x="628650" y="5343525"/>
            <a:ext cx="229171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qualified_handoff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387F445-4B00-4BA8-80A1-025ED626E400}"/>
              </a:ext>
            </a:extLst>
          </p:cNvPr>
          <p:cNvSpPr>
            <a:spLocks noGrp="1"/>
          </p:cNvSpPr>
          <p:nvPr/>
        </p:nvSpPr>
        <p:spPr>
          <a:xfrm>
            <a:off x="3148965" y="5343525"/>
            <a:ext cx="19183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+0.25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E3FFEB2-89EC-447F-81CB-FAC8590CB7AF}"/>
              </a:ext>
            </a:extLst>
          </p:cNvPr>
          <p:cNvSpPr>
            <a:spLocks noGrp="1"/>
          </p:cNvSpPr>
          <p:nvPr/>
        </p:nvSpPr>
        <p:spPr>
          <a:xfrm>
            <a:off x="5905500" y="38862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qualified handoff requires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38416E1-058C-46BB-AB49-F30E7B3A6999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476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one finger released for at least 2 control steps</a:t>
            </a:r>
          </a:p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at least 2 other fingertips remain in contact</a:t>
            </a:r>
          </a:p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object stays inside the retention gate with no palm contact</a:t>
            </a:r>
          </a:p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released finger reconnects before timeout and speed recovers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726B4F-9D20-49C2-9C75-7AE5D79BA35F}"/>
              </a:ext>
            </a:extLst>
          </p:cNvPr>
          <p:cNvSpPr>
            <a:spLocks noGrp="1"/>
          </p:cNvSpPr>
          <p:nvPr/>
        </p:nvSpPr>
        <p:spPr>
          <a:xfrm>
            <a:off x="514350" y="596265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RUN  V1  12-19-14 / 12-36-43     V2  14-58-36 / 15-47-22</a:t>
            </a:r>
          </a:p>
        </p:txBody>
      </p:sp>
    </p:spTree>
    <p:extLst>
      <p:ext uri="{BB962C8B-B14F-4D97-AF65-F5344CB8AC3E}">
        <p14:creationId xmlns:p14="http://schemas.microsoft.com/office/powerpoint/2010/main" val="654649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FD4346AD-F36E-47AE-82D6-CA0D81A8951D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A974F1-9483-418E-90FB-E76A2674EDA4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 Gaiting Exposed Positive Rotation as the Bottleneck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B2AB89-0B09-4561-9DEB-D7A9A723E504}"/>
              </a:ext>
            </a:extLst>
          </p:cNvPr>
          <p:cNvSpPr>
            <a:spLocks noGrp="1"/>
          </p:cNvSpPr>
          <p:nvPr/>
        </p:nvSpPr>
        <p:spPr>
          <a:xfrm>
            <a:off x="9753600" y="6324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F277F9-C7D8-42D5-A0E3-F042786CB0D8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  2026-07-22_15-47-22_mujoco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6D19E94-EDCC-480C-A957-B9E3358EB645}"/>
              </a:ext>
            </a:extLst>
          </p:cNvPr>
          <p:cNvSpPr>
            <a:spLocks noGrp="1"/>
          </p:cNvSpPr>
          <p:nvPr/>
        </p:nvSpPr>
        <p:spPr>
          <a:xfrm>
            <a:off x="514350" y="1828800"/>
            <a:ext cx="2381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C15105-59BA-45DC-8C80-0D9DCCE0F286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22.33 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41ED10-7A96-4572-B988-651A4C02EA05}"/>
              </a:ext>
            </a:extLst>
          </p:cNvPr>
          <p:cNvSpPr>
            <a:spLocks noGrp="1"/>
          </p:cNvSpPr>
          <p:nvPr/>
        </p:nvSpPr>
        <p:spPr>
          <a:xfrm>
            <a:off x="704850" y="26098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survival time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4EEAC03-808A-4029-A701-093AAC0F5AB1}"/>
              </a:ext>
            </a:extLst>
          </p:cNvPr>
          <p:cNvSpPr>
            <a:spLocks noGrp="1"/>
          </p:cNvSpPr>
          <p:nvPr/>
        </p:nvSpPr>
        <p:spPr>
          <a:xfrm>
            <a:off x="3143250" y="1828800"/>
            <a:ext cx="2381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12E977-37CE-444A-B103-FA32AD7A4507}"/>
              </a:ext>
            </a:extLst>
          </p:cNvPr>
          <p:cNvSpPr>
            <a:spLocks noGrp="1"/>
          </p:cNvSpPr>
          <p:nvPr/>
        </p:nvSpPr>
        <p:spPr>
          <a:xfrm>
            <a:off x="3333750" y="20193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10.48 mm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477567-4F2D-4108-B76D-75D8285B061B}"/>
              </a:ext>
            </a:extLst>
          </p:cNvPr>
          <p:cNvSpPr>
            <a:spLocks noGrp="1"/>
          </p:cNvSpPr>
          <p:nvPr/>
        </p:nvSpPr>
        <p:spPr>
          <a:xfrm>
            <a:off x="3333750" y="26098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anchor error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A5D77A2-542F-45B3-9035-41165732D739}"/>
              </a:ext>
            </a:extLst>
          </p:cNvPr>
          <p:cNvSpPr>
            <a:spLocks noGrp="1"/>
          </p:cNvSpPr>
          <p:nvPr/>
        </p:nvSpPr>
        <p:spPr>
          <a:xfrm>
            <a:off x="5772150" y="1828800"/>
            <a:ext cx="2381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CE0E4D-1E1B-4C98-944D-34CDD545E6D0}"/>
              </a:ext>
            </a:extLst>
          </p:cNvPr>
          <p:cNvSpPr>
            <a:spLocks noGrp="1"/>
          </p:cNvSpPr>
          <p:nvPr/>
        </p:nvSpPr>
        <p:spPr>
          <a:xfrm>
            <a:off x="5962650" y="20193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2.12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5928E4-A06C-4888-9D77-9985920C36FD}"/>
              </a:ext>
            </a:extLst>
          </p:cNvPr>
          <p:cNvSpPr>
            <a:spLocks noGrp="1"/>
          </p:cNvSpPr>
          <p:nvPr/>
        </p:nvSpPr>
        <p:spPr>
          <a:xfrm>
            <a:off x="5962650" y="26098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fingertip contacts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C65BFC1-0923-4478-94D1-623C9043F73C}"/>
              </a:ext>
            </a:extLst>
          </p:cNvPr>
          <p:cNvSpPr>
            <a:spLocks noGrp="1"/>
          </p:cNvSpPr>
          <p:nvPr/>
        </p:nvSpPr>
        <p:spPr>
          <a:xfrm>
            <a:off x="8401050" y="1828800"/>
            <a:ext cx="2381250" cy="133350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00A0BB2-631E-4B83-A611-7830E676EFC4}"/>
              </a:ext>
            </a:extLst>
          </p:cNvPr>
          <p:cNvSpPr>
            <a:spLocks noGrp="1"/>
          </p:cNvSpPr>
          <p:nvPr/>
        </p:nvSpPr>
        <p:spPr>
          <a:xfrm>
            <a:off x="8591550" y="20193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0.055%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87AC0EF-FCE0-4077-9B4C-AA7F74FE8AAD}"/>
              </a:ext>
            </a:extLst>
          </p:cNvPr>
          <p:cNvSpPr>
            <a:spLocks noGrp="1"/>
          </p:cNvSpPr>
          <p:nvPr/>
        </p:nvSpPr>
        <p:spPr>
          <a:xfrm>
            <a:off x="8591550" y="26098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termination rate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5F7CEF-ABC4-4E7A-9846-E597AD8F470A}"/>
              </a:ext>
            </a:extLst>
          </p:cNvPr>
          <p:cNvSpPr>
            <a:spLocks noGrp="1"/>
          </p:cNvSpPr>
          <p:nvPr/>
        </p:nvSpPr>
        <p:spPr>
          <a:xfrm>
            <a:off x="514350" y="3619500"/>
            <a:ext cx="76200" cy="323850"/>
          </a:xfrm>
          <a:prstGeom prst="rect">
            <a:avLst/>
          </a:prstGeom>
          <a:solidFill>
            <a:srgbClr val="B42318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9A1BFD-BE6E-476E-B146-4F5E020BE0CA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gates that actually failed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95F7EC-A717-40DD-9732-38BA9BA8240B}"/>
              </a:ext>
            </a:extLst>
          </p:cNvPr>
          <p:cNvSpPr>
            <a:spLocks noGrp="1"/>
          </p:cNvSpPr>
          <p:nvPr/>
        </p:nvSpPr>
        <p:spPr>
          <a:xfrm>
            <a:off x="742950" y="4114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speed gate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4618197-07E7-48A0-9E51-6565D135B01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1.97%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777A394-FAAE-4C81-A269-6E487A9B4114}"/>
              </a:ext>
            </a:extLst>
          </p:cNvPr>
          <p:cNvSpPr>
            <a:spLocks noGrp="1"/>
          </p:cNvSpPr>
          <p:nvPr/>
        </p:nvSpPr>
        <p:spPr>
          <a:xfrm>
            <a:off x="4095750" y="4114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Qualified handoff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55FFB4-87DA-453D-B323-8663E6828A1E}"/>
              </a:ext>
            </a:extLst>
          </p:cNvPr>
          <p:cNvSpPr>
            <a:spLocks noGrp="1"/>
          </p:cNvSpPr>
          <p:nvPr/>
        </p:nvSpPr>
        <p:spPr>
          <a:xfrm>
            <a:off x="4095750" y="45720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&lt; 0.11%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138EBA1-B79C-4720-B325-C39DF78A08FD}"/>
              </a:ext>
            </a:extLst>
          </p:cNvPr>
          <p:cNvSpPr>
            <a:spLocks noGrp="1"/>
          </p:cNvSpPr>
          <p:nvPr/>
        </p:nvSpPr>
        <p:spPr>
          <a:xfrm>
            <a:off x="7448550" y="4114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2s / 5s / 10s success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DDAAFA1-814F-4FBA-8FD1-6501EF163EEE}"/>
              </a:ext>
            </a:extLst>
          </p:cNvPr>
          <p:cNvSpPr>
            <a:spLocks noGrp="1"/>
          </p:cNvSpPr>
          <p:nvPr/>
        </p:nvSpPr>
        <p:spPr>
          <a:xfrm>
            <a:off x="7448550" y="457200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all zero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BC96552-0863-4774-B651-2F35620A7378}"/>
              </a:ext>
            </a:extLst>
          </p:cNvPr>
          <p:cNvSpPr>
            <a:spLocks noGrp="1"/>
          </p:cNvSpPr>
          <p:nvPr/>
        </p:nvSpPr>
        <p:spPr>
          <a:xfrm>
            <a:off x="514350" y="5810250"/>
            <a:ext cx="1076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Interpretation: forcing handoff before reliable positive rotation makes an already sparse exploration problem even harder.</a:t>
            </a:r>
          </a:p>
        </p:txBody>
      </p:sp>
    </p:spTree>
    <p:extLst>
      <p:ext uri="{BB962C8B-B14F-4D97-AF65-F5344CB8AC3E}">
        <p14:creationId xmlns:p14="http://schemas.microsoft.com/office/powerpoint/2010/main" val="159653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B4116FDB-6AA2-429B-9C5E-5147462D71C4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C0A7E9-ADA6-46FF-8987-5E0E0F59120A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Rotation Isolates Basic +Z Acquisition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5BA39F-5404-45C5-8CB5-1C1BE91888E1}"/>
              </a:ext>
            </a:extLst>
          </p:cNvPr>
          <p:cNvSpPr>
            <a:spLocks noGrp="1"/>
          </p:cNvSpPr>
          <p:nvPr/>
        </p:nvSpPr>
        <p:spPr>
          <a:xfrm>
            <a:off x="9753600" y="6324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A735FE-F238-4099-9C6F-28096930BCD0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Fixed target: world +Z · 0.30 rad/s · cache reset · 25-second episode · no handoff objective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C9D510-3A69-466F-B00B-135D58A1DB48}"/>
              </a:ext>
            </a:extLst>
          </p:cNvPr>
          <p:cNvSpPr>
            <a:spLocks noGrp="1"/>
          </p:cNvSpPr>
          <p:nvPr/>
        </p:nvSpPr>
        <p:spPr>
          <a:xfrm>
            <a:off x="514350" y="1809750"/>
            <a:ext cx="257175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4ECDEC-8583-4B4B-84AC-E42837400BAD}"/>
              </a:ext>
            </a:extLst>
          </p:cNvPr>
          <p:cNvSpPr>
            <a:spLocks noGrp="1"/>
          </p:cNvSpPr>
          <p:nvPr/>
        </p:nvSpPr>
        <p:spPr>
          <a:xfrm>
            <a:off x="3086100" y="1809750"/>
            <a:ext cx="219075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24A103-D179-49C6-936B-3C0A924B5DB2}"/>
              </a:ext>
            </a:extLst>
          </p:cNvPr>
          <p:cNvSpPr>
            <a:spLocks noGrp="1"/>
          </p:cNvSpPr>
          <p:nvPr/>
        </p:nvSpPr>
        <p:spPr>
          <a:xfrm>
            <a:off x="628650" y="1895475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term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840941-3486-47E4-BA32-8CBDE7930318}"/>
              </a:ext>
            </a:extLst>
          </p:cNvPr>
          <p:cNvSpPr>
            <a:spLocks noGrp="1"/>
          </p:cNvSpPr>
          <p:nvPr/>
        </p:nvSpPr>
        <p:spPr>
          <a:xfrm>
            <a:off x="3200400" y="1895475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A63261-EE8C-4890-8A61-752A4452F345}"/>
              </a:ext>
            </a:extLst>
          </p:cNvPr>
          <p:cNvSpPr>
            <a:spLocks noGrp="1"/>
          </p:cNvSpPr>
          <p:nvPr/>
        </p:nvSpPr>
        <p:spPr>
          <a:xfrm>
            <a:off x="514350" y="2266950"/>
            <a:ext cx="2571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C34B4B-7A3D-4D72-A7C8-75BC32AF462B}"/>
              </a:ext>
            </a:extLst>
          </p:cNvPr>
          <p:cNvSpPr>
            <a:spLocks noGrp="1"/>
          </p:cNvSpPr>
          <p:nvPr/>
        </p:nvSpPr>
        <p:spPr>
          <a:xfrm>
            <a:off x="3086100" y="2266950"/>
            <a:ext cx="2190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12148C-A7F0-4888-8C96-6A782CA5C785}"/>
              </a:ext>
            </a:extLst>
          </p:cNvPr>
          <p:cNvSpPr>
            <a:spLocks noGrp="1"/>
          </p:cNvSpPr>
          <p:nvPr/>
        </p:nvSpPr>
        <p:spPr>
          <a:xfrm>
            <a:off x="628650" y="2352675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stable_rotation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8042F5-F63F-49DB-82C1-E7CEC5BB54A6}"/>
              </a:ext>
            </a:extLst>
          </p:cNvPr>
          <p:cNvSpPr>
            <a:spLocks noGrp="1"/>
          </p:cNvSpPr>
          <p:nvPr/>
        </p:nvSpPr>
        <p:spPr>
          <a:xfrm>
            <a:off x="3200400" y="2352675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+6.0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5D203A-05D8-4853-B26D-9D0A94A50058}"/>
              </a:ext>
            </a:extLst>
          </p:cNvPr>
          <p:cNvSpPr>
            <a:spLocks noGrp="1"/>
          </p:cNvSpPr>
          <p:nvPr/>
        </p:nvSpPr>
        <p:spPr>
          <a:xfrm>
            <a:off x="514350" y="2724150"/>
            <a:ext cx="257175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BDC327-0988-47DC-A018-C4BF8168AA87}"/>
              </a:ext>
            </a:extLst>
          </p:cNvPr>
          <p:cNvSpPr>
            <a:spLocks noGrp="1"/>
          </p:cNvSpPr>
          <p:nvPr/>
        </p:nvSpPr>
        <p:spPr>
          <a:xfrm>
            <a:off x="3086100" y="2724150"/>
            <a:ext cx="219075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4DF776-14DF-4271-9A9D-B04CAF3E03DE}"/>
              </a:ext>
            </a:extLst>
          </p:cNvPr>
          <p:cNvSpPr>
            <a:spLocks noGrp="1"/>
          </p:cNvSpPr>
          <p:nvPr/>
        </p:nvSpPr>
        <p:spPr>
          <a:xfrm>
            <a:off x="628650" y="2809875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rotation_streak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BB664C-6B9E-4888-BD85-B3FB3AF4058D}"/>
              </a:ext>
            </a:extLst>
          </p:cNvPr>
          <p:cNvSpPr>
            <a:spLocks noGrp="1"/>
          </p:cNvSpPr>
          <p:nvPr/>
        </p:nvSpPr>
        <p:spPr>
          <a:xfrm>
            <a:off x="3200400" y="2809875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163410-5E4F-4FFD-AF1A-873287B8BB3F}"/>
              </a:ext>
            </a:extLst>
          </p:cNvPr>
          <p:cNvSpPr>
            <a:spLocks noGrp="1"/>
          </p:cNvSpPr>
          <p:nvPr/>
        </p:nvSpPr>
        <p:spPr>
          <a:xfrm>
            <a:off x="514350" y="3181350"/>
            <a:ext cx="2571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30ABB60-2B32-4E28-A7D2-42BA2CD4DDAA}"/>
              </a:ext>
            </a:extLst>
          </p:cNvPr>
          <p:cNvSpPr>
            <a:spLocks noGrp="1"/>
          </p:cNvSpPr>
          <p:nvPr/>
        </p:nvSpPr>
        <p:spPr>
          <a:xfrm>
            <a:off x="3086100" y="3181350"/>
            <a:ext cx="2190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901AD5-54CC-4521-ADD0-B8BA07B27377}"/>
              </a:ext>
            </a:extLst>
          </p:cNvPr>
          <p:cNvSpPr>
            <a:spLocks noGrp="1"/>
          </p:cNvSpPr>
          <p:nvPr/>
        </p:nvSpPr>
        <p:spPr>
          <a:xfrm>
            <a:off x="628650" y="3267075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thumb_contact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278A1FA-4A55-45D4-ACFE-5E6AA315D8AE}"/>
              </a:ext>
            </a:extLst>
          </p:cNvPr>
          <p:cNvSpPr>
            <a:spLocks noGrp="1"/>
          </p:cNvSpPr>
          <p:nvPr/>
        </p:nvSpPr>
        <p:spPr>
          <a:xfrm>
            <a:off x="3200400" y="3267075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1495F3-46DF-4C41-BB5E-EB9B257B006E}"/>
              </a:ext>
            </a:extLst>
          </p:cNvPr>
          <p:cNvSpPr>
            <a:spLocks noGrp="1"/>
          </p:cNvSpPr>
          <p:nvPr/>
        </p:nvSpPr>
        <p:spPr>
          <a:xfrm>
            <a:off x="514350" y="3638550"/>
            <a:ext cx="257175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650E23A-849B-475C-AD5A-67112DEEA12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219075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59183A5-3E90-429F-B69E-A34CB6B99E9F}"/>
              </a:ext>
            </a:extLst>
          </p:cNvPr>
          <p:cNvSpPr>
            <a:spLocks noGrp="1"/>
          </p:cNvSpPr>
          <p:nvPr/>
        </p:nvSpPr>
        <p:spPr>
          <a:xfrm>
            <a:off x="628650" y="3724275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fingertip_support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C69051D-2A7C-42E7-AC10-6E42DDEE1944}"/>
              </a:ext>
            </a:extLst>
          </p:cNvPr>
          <p:cNvSpPr>
            <a:spLocks noGrp="1"/>
          </p:cNvSpPr>
          <p:nvPr/>
        </p:nvSpPr>
        <p:spPr>
          <a:xfrm>
            <a:off x="3200400" y="3724275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+0.15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2A5AEB-0E99-4139-B6B6-3C8A0BBA679C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2571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80306A-1E84-479B-A5C0-B58C3FB0A0C8}"/>
              </a:ext>
            </a:extLst>
          </p:cNvPr>
          <p:cNvSpPr>
            <a:spLocks noGrp="1"/>
          </p:cNvSpPr>
          <p:nvPr/>
        </p:nvSpPr>
        <p:spPr>
          <a:xfrm>
            <a:off x="3086100" y="4095750"/>
            <a:ext cx="2190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66A9D7-8C08-4989-9DBD-21EB26009156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center_recovery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356FB57-0361-4DD3-92DF-6365BBBA4256}"/>
              </a:ext>
            </a:extLst>
          </p:cNvPr>
          <p:cNvSpPr>
            <a:spLocks noGrp="1"/>
          </p:cNvSpPr>
          <p:nvPr/>
        </p:nvSpPr>
        <p:spPr>
          <a:xfrm>
            <a:off x="3200400" y="4181475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+1.0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61C7260-75AB-49DE-B503-C9C3EC50C6CD}"/>
              </a:ext>
            </a:extLst>
          </p:cNvPr>
          <p:cNvSpPr>
            <a:spLocks noGrp="1"/>
          </p:cNvSpPr>
          <p:nvPr/>
        </p:nvSpPr>
        <p:spPr>
          <a:xfrm>
            <a:off x="5905500" y="1809750"/>
            <a:ext cx="277749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5A0946E-9072-4913-A13D-5B24681FAF99}"/>
              </a:ext>
            </a:extLst>
          </p:cNvPr>
          <p:cNvSpPr>
            <a:spLocks noGrp="1"/>
          </p:cNvSpPr>
          <p:nvPr/>
        </p:nvSpPr>
        <p:spPr>
          <a:xfrm>
            <a:off x="8682990" y="1809750"/>
            <a:ext cx="236601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6EE01CE-F485-4411-A602-623D2274FE29}"/>
              </a:ext>
            </a:extLst>
          </p:cNvPr>
          <p:cNvSpPr>
            <a:spLocks noGrp="1"/>
          </p:cNvSpPr>
          <p:nvPr/>
        </p:nvSpPr>
        <p:spPr>
          <a:xfrm>
            <a:off x="6019800" y="18954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Cost / penalty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611D7BD-14BD-4750-9FCC-AE17BCBC35C1}"/>
              </a:ext>
            </a:extLst>
          </p:cNvPr>
          <p:cNvSpPr>
            <a:spLocks noGrp="1"/>
          </p:cNvSpPr>
          <p:nvPr/>
        </p:nvSpPr>
        <p:spPr>
          <a:xfrm>
            <a:off x="8797290" y="18954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41B1096-E241-4AF6-BAB4-7BB0C66378FE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77749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EAFF04-34B4-4423-8163-C77FEF14C6E8}"/>
              </a:ext>
            </a:extLst>
          </p:cNvPr>
          <p:cNvSpPr>
            <a:spLocks noGrp="1"/>
          </p:cNvSpPr>
          <p:nvPr/>
        </p:nvSpPr>
        <p:spPr>
          <a:xfrm>
            <a:off x="8682990" y="2266950"/>
            <a:ext cx="236601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3765045-B18E-4F95-9798-EB9B6B89F5DC}"/>
              </a:ext>
            </a:extLst>
          </p:cNvPr>
          <p:cNvSpPr>
            <a:spLocks noGrp="1"/>
          </p:cNvSpPr>
          <p:nvPr/>
        </p:nvSpPr>
        <p:spPr>
          <a:xfrm>
            <a:off x="6019800" y="23526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stall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D5A609C-7290-4FEF-AFA1-CC6FC6766CE8}"/>
              </a:ext>
            </a:extLst>
          </p:cNvPr>
          <p:cNvSpPr>
            <a:spLocks noGrp="1"/>
          </p:cNvSpPr>
          <p:nvPr/>
        </p:nvSpPr>
        <p:spPr>
          <a:xfrm>
            <a:off x="8797290" y="23526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-1.0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7EA975A-553C-465D-903C-5D006359DACF}"/>
              </a:ext>
            </a:extLst>
          </p:cNvPr>
          <p:cNvSpPr>
            <a:spLocks noGrp="1"/>
          </p:cNvSpPr>
          <p:nvPr/>
        </p:nvSpPr>
        <p:spPr>
          <a:xfrm>
            <a:off x="5905500" y="2724150"/>
            <a:ext cx="277749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C7B3A29-41C9-4A0B-A832-2ECC65AD9521}"/>
              </a:ext>
            </a:extLst>
          </p:cNvPr>
          <p:cNvSpPr>
            <a:spLocks noGrp="1"/>
          </p:cNvSpPr>
          <p:nvPr/>
        </p:nvSpPr>
        <p:spPr>
          <a:xfrm>
            <a:off x="8682990" y="2724150"/>
            <a:ext cx="236601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E56B1EA-6997-418A-B4CF-29D2E38DA9C3}"/>
              </a:ext>
            </a:extLst>
          </p:cNvPr>
          <p:cNvSpPr>
            <a:spLocks noGrp="1"/>
          </p:cNvSpPr>
          <p:nvPr/>
        </p:nvSpPr>
        <p:spPr>
          <a:xfrm>
            <a:off x="6019800" y="28098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reverse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A0678-4918-4C18-B932-DE6C76B612D0}"/>
              </a:ext>
            </a:extLst>
          </p:cNvPr>
          <p:cNvSpPr>
            <a:spLocks noGrp="1"/>
          </p:cNvSpPr>
          <p:nvPr/>
        </p:nvSpPr>
        <p:spPr>
          <a:xfrm>
            <a:off x="8797290" y="28098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-4.0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CFB3DEF-5023-4611-82C7-1B69F1EA0584}"/>
              </a:ext>
            </a:extLst>
          </p:cNvPr>
          <p:cNvSpPr>
            <a:spLocks noGrp="1"/>
          </p:cNvSpPr>
          <p:nvPr/>
        </p:nvSpPr>
        <p:spPr>
          <a:xfrm>
            <a:off x="5905500" y="3181350"/>
            <a:ext cx="277749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D5447AA-906D-489D-8073-D2129FF0B10B}"/>
              </a:ext>
            </a:extLst>
          </p:cNvPr>
          <p:cNvSpPr>
            <a:spLocks noGrp="1"/>
          </p:cNvSpPr>
          <p:nvPr/>
        </p:nvSpPr>
        <p:spPr>
          <a:xfrm>
            <a:off x="8682990" y="3181350"/>
            <a:ext cx="236601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7646A74-9800-46AD-B887-6246943DB885}"/>
              </a:ext>
            </a:extLst>
          </p:cNvPr>
          <p:cNvSpPr>
            <a:spLocks noGrp="1"/>
          </p:cNvSpPr>
          <p:nvPr/>
        </p:nvSpPr>
        <p:spPr>
          <a:xfrm>
            <a:off x="6019800" y="32670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object_center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BF5F161-5D72-4B50-AF3D-401ADB691CE5}"/>
              </a:ext>
            </a:extLst>
          </p:cNvPr>
          <p:cNvSpPr>
            <a:spLocks noGrp="1"/>
          </p:cNvSpPr>
          <p:nvPr/>
        </p:nvSpPr>
        <p:spPr>
          <a:xfrm>
            <a:off x="8797290" y="32670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-2.5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A56752D-AE99-4CD3-99DE-DE360B44460C}"/>
              </a:ext>
            </a:extLst>
          </p:cNvPr>
          <p:cNvSpPr>
            <a:spLocks noGrp="1"/>
          </p:cNvSpPr>
          <p:nvPr/>
        </p:nvSpPr>
        <p:spPr>
          <a:xfrm>
            <a:off x="5905500" y="3638550"/>
            <a:ext cx="277749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571BF9D-1220-430E-8FBC-DF2C8A7B3B7A}"/>
              </a:ext>
            </a:extLst>
          </p:cNvPr>
          <p:cNvSpPr>
            <a:spLocks noGrp="1"/>
          </p:cNvSpPr>
          <p:nvPr/>
        </p:nvSpPr>
        <p:spPr>
          <a:xfrm>
            <a:off x="8682990" y="3638550"/>
            <a:ext cx="236601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EEA348C-4A0A-4FBF-97F5-DA0443D40076}"/>
              </a:ext>
            </a:extLst>
          </p:cNvPr>
          <p:cNvSpPr>
            <a:spLocks noGrp="1"/>
          </p:cNvSpPr>
          <p:nvPr/>
        </p:nvSpPr>
        <p:spPr>
          <a:xfrm>
            <a:off x="6019800" y="37242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object_linear_velocity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64F4315-CB63-457E-B7EA-98517D09B318}"/>
              </a:ext>
            </a:extLst>
          </p:cNvPr>
          <p:cNvSpPr>
            <a:spLocks noGrp="1"/>
          </p:cNvSpPr>
          <p:nvPr/>
        </p:nvSpPr>
        <p:spPr>
          <a:xfrm>
            <a:off x="8797290" y="37242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-0.4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C83280C-1546-4C42-9081-A9EA74C50194}"/>
              </a:ext>
            </a:extLst>
          </p:cNvPr>
          <p:cNvSpPr>
            <a:spLocks noGrp="1"/>
          </p:cNvSpPr>
          <p:nvPr/>
        </p:nvSpPr>
        <p:spPr>
          <a:xfrm>
            <a:off x="5905500" y="4095750"/>
            <a:ext cx="277749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2655C9E-BBC1-4D84-A654-7FFC96EB68D9}"/>
              </a:ext>
            </a:extLst>
          </p:cNvPr>
          <p:cNvSpPr>
            <a:spLocks noGrp="1"/>
          </p:cNvSpPr>
          <p:nvPr/>
        </p:nvSpPr>
        <p:spPr>
          <a:xfrm>
            <a:off x="8682990" y="4095750"/>
            <a:ext cx="236601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FA9E5C3-1A36-4E9D-B989-4A568B597ECD}"/>
              </a:ext>
            </a:extLst>
          </p:cNvPr>
          <p:cNvSpPr>
            <a:spLocks noGrp="1"/>
          </p:cNvSpPr>
          <p:nvPr/>
        </p:nvSpPr>
        <p:spPr>
          <a:xfrm>
            <a:off x="6019800" y="41814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palm_contact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17C599D-63D3-4CB9-AC9C-9815B9FAEEDE}"/>
              </a:ext>
            </a:extLst>
          </p:cNvPr>
          <p:cNvSpPr>
            <a:spLocks noGrp="1"/>
          </p:cNvSpPr>
          <p:nvPr/>
        </p:nvSpPr>
        <p:spPr>
          <a:xfrm>
            <a:off x="8797290" y="41814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-1.0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BDFCEB8-3E40-4ABB-9CC0-89195A32DC25}"/>
              </a:ext>
            </a:extLst>
          </p:cNvPr>
          <p:cNvSpPr>
            <a:spLocks noGrp="1"/>
          </p:cNvSpPr>
          <p:nvPr/>
        </p:nvSpPr>
        <p:spPr>
          <a:xfrm>
            <a:off x="5905500" y="4552950"/>
            <a:ext cx="277749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E70B3A3-310C-4F69-BE6B-44FE23433BFF}"/>
              </a:ext>
            </a:extLst>
          </p:cNvPr>
          <p:cNvSpPr>
            <a:spLocks noGrp="1"/>
          </p:cNvSpPr>
          <p:nvPr/>
        </p:nvSpPr>
        <p:spPr>
          <a:xfrm>
            <a:off x="8682990" y="4552950"/>
            <a:ext cx="2366010" cy="457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4018C70-DF09-43A4-A960-344BD035E447}"/>
              </a:ext>
            </a:extLst>
          </p:cNvPr>
          <p:cNvSpPr>
            <a:spLocks noGrp="1"/>
          </p:cNvSpPr>
          <p:nvPr/>
        </p:nvSpPr>
        <p:spPr>
          <a:xfrm>
            <a:off x="6019800" y="46386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orthogonal_speed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37B6215-01BB-4357-9460-A6DB04700045}"/>
              </a:ext>
            </a:extLst>
          </p:cNvPr>
          <p:cNvSpPr>
            <a:spLocks noGrp="1"/>
          </p:cNvSpPr>
          <p:nvPr/>
        </p:nvSpPr>
        <p:spPr>
          <a:xfrm>
            <a:off x="8797290" y="46386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-0.25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331C100-D7C6-4E37-9CE3-A03A59996AD5}"/>
              </a:ext>
            </a:extLst>
          </p:cNvPr>
          <p:cNvSpPr>
            <a:spLocks noGrp="1"/>
          </p:cNvSpPr>
          <p:nvPr/>
        </p:nvSpPr>
        <p:spPr>
          <a:xfrm>
            <a:off x="5905500" y="5010150"/>
            <a:ext cx="277749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30AFA6E-D3D5-4D3E-B829-1E9CD5F6C2D2}"/>
              </a:ext>
            </a:extLst>
          </p:cNvPr>
          <p:cNvSpPr>
            <a:spLocks noGrp="1"/>
          </p:cNvSpPr>
          <p:nvPr/>
        </p:nvSpPr>
        <p:spPr>
          <a:xfrm>
            <a:off x="8682990" y="5010150"/>
            <a:ext cx="236601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DFC77D1-AF61-4514-A426-E6AEC766C328}"/>
              </a:ext>
            </a:extLst>
          </p:cNvPr>
          <p:cNvSpPr>
            <a:spLocks noGrp="1"/>
          </p:cNvSpPr>
          <p:nvPr/>
        </p:nvSpPr>
        <p:spPr>
          <a:xfrm>
            <a:off x="6019800" y="5095875"/>
            <a:ext cx="25488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failure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5491838-CE22-4885-AEE6-548CFE4BE39D}"/>
              </a:ext>
            </a:extLst>
          </p:cNvPr>
          <p:cNvSpPr>
            <a:spLocks noGrp="1"/>
          </p:cNvSpPr>
          <p:nvPr/>
        </p:nvSpPr>
        <p:spPr>
          <a:xfrm>
            <a:off x="8797290" y="5095875"/>
            <a:ext cx="21374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-5.0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DC36A30-DCE9-4CF9-AB4D-A4FDA5FC1862}"/>
              </a:ext>
            </a:extLst>
          </p:cNvPr>
          <p:cNvSpPr>
            <a:spLocks noGrp="1"/>
          </p:cNvSpPr>
          <p:nvPr/>
        </p:nvSpPr>
        <p:spPr>
          <a:xfrm>
            <a:off x="514350" y="5905500"/>
            <a:ext cx="1057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B42318"/>
                </a:solidFill>
                <a:latin typeface="Aptos"/>
                <a:ea typeface="Aptos"/>
                <a:cs typeface="Aptos"/>
              </a:rPr>
              <a:t>Direct uses a different reward scale; aggregate return is comparable only among checkpoints from this task.</a:t>
            </a:r>
          </a:p>
        </p:txBody>
      </p:sp>
    </p:spTree>
    <p:extLst>
      <p:ext uri="{BB962C8B-B14F-4D97-AF65-F5344CB8AC3E}">
        <p14:creationId xmlns:p14="http://schemas.microsoft.com/office/powerpoint/2010/main" val="1405131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A9B203D7-D40F-48F8-83FE-CA980B478166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F2AB91-0B07-478B-B5F9-DF33BB09ADA2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Acquired Forward Spin, Not Sustained Motion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D9ED60-A0B4-46E2-BAAD-F143ED2CA2EF}"/>
              </a:ext>
            </a:extLst>
          </p:cNvPr>
          <p:cNvSpPr>
            <a:spLocks noGrp="1"/>
          </p:cNvSpPr>
          <p:nvPr/>
        </p:nvSpPr>
        <p:spPr>
          <a:xfrm>
            <a:off x="9753600" y="6324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CF02B6-E02A-4AC6-8CD3-024AB90BDE48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  2026-07-22_21-27-39_mujoco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3B442E-D183-4D04-98ED-421704AAC9E8}"/>
              </a:ext>
            </a:extLst>
          </p:cNvPr>
          <p:cNvSpPr>
            <a:spLocks noGrp="1"/>
          </p:cNvSpPr>
          <p:nvPr/>
        </p:nvSpPr>
        <p:spPr>
          <a:xfrm>
            <a:off x="514350" y="19050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Rotation acquisition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DBC5CB-25E4-4BA8-BD67-F653CF2BD5F6}"/>
              </a:ext>
            </a:extLst>
          </p:cNvPr>
          <p:cNvSpPr>
            <a:spLocks noGrp="1"/>
          </p:cNvSpPr>
          <p:nvPr/>
        </p:nvSpPr>
        <p:spPr>
          <a:xfrm>
            <a:off x="514350" y="2343150"/>
            <a:ext cx="2777490" cy="4381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11539B-D80E-4E6B-B2AD-1C283434997A}"/>
              </a:ext>
            </a:extLst>
          </p:cNvPr>
          <p:cNvSpPr>
            <a:spLocks noGrp="1"/>
          </p:cNvSpPr>
          <p:nvPr/>
        </p:nvSpPr>
        <p:spPr>
          <a:xfrm>
            <a:off x="3291840" y="2343150"/>
            <a:ext cx="2366010" cy="4381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15971B-ECF2-42A3-9384-86C30583C5EE}"/>
              </a:ext>
            </a:extLst>
          </p:cNvPr>
          <p:cNvSpPr>
            <a:spLocks noGrp="1"/>
          </p:cNvSpPr>
          <p:nvPr/>
        </p:nvSpPr>
        <p:spPr>
          <a:xfrm>
            <a:off x="628650" y="2428875"/>
            <a:ext cx="254889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metric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A93F0E-EAE8-40F2-86A3-6E50DD73EA3A}"/>
              </a:ext>
            </a:extLst>
          </p:cNvPr>
          <p:cNvSpPr>
            <a:spLocks noGrp="1"/>
          </p:cNvSpPr>
          <p:nvPr/>
        </p:nvSpPr>
        <p:spPr>
          <a:xfrm>
            <a:off x="3406140" y="2428875"/>
            <a:ext cx="213741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value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596E72-47F8-493E-879B-C35BBC8727E7}"/>
              </a:ext>
            </a:extLst>
          </p:cNvPr>
          <p:cNvSpPr>
            <a:spLocks noGrp="1"/>
          </p:cNvSpPr>
          <p:nvPr/>
        </p:nvSpPr>
        <p:spPr>
          <a:xfrm>
            <a:off x="514350" y="2781300"/>
            <a:ext cx="277749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5049CD-2A0C-4EF1-BDBF-BB7FD9D580F9}"/>
              </a:ext>
            </a:extLst>
          </p:cNvPr>
          <p:cNvSpPr>
            <a:spLocks noGrp="1"/>
          </p:cNvSpPr>
          <p:nvPr/>
        </p:nvSpPr>
        <p:spPr>
          <a:xfrm>
            <a:off x="3291840" y="2781300"/>
            <a:ext cx="236601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48FF3D-C13D-4E34-B87A-6097FE057CE5}"/>
              </a:ext>
            </a:extLst>
          </p:cNvPr>
          <p:cNvSpPr>
            <a:spLocks noGrp="1"/>
          </p:cNvSpPr>
          <p:nvPr/>
        </p:nvSpPr>
        <p:spPr>
          <a:xfrm>
            <a:off x="628650" y="2867025"/>
            <a:ext cx="254889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 +Z speed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A07BCD-213D-4660-900D-C9C298EDFCAB}"/>
              </a:ext>
            </a:extLst>
          </p:cNvPr>
          <p:cNvSpPr>
            <a:spLocks noGrp="1"/>
          </p:cNvSpPr>
          <p:nvPr/>
        </p:nvSpPr>
        <p:spPr>
          <a:xfrm>
            <a:off x="3406140" y="2867025"/>
            <a:ext cx="213741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0.300 rad/s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0D3554-14E1-449A-B77D-92D1251BA588}"/>
              </a:ext>
            </a:extLst>
          </p:cNvPr>
          <p:cNvSpPr>
            <a:spLocks noGrp="1"/>
          </p:cNvSpPr>
          <p:nvPr/>
        </p:nvSpPr>
        <p:spPr>
          <a:xfrm>
            <a:off x="514350" y="3219450"/>
            <a:ext cx="2777490" cy="4381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729C733-D46A-4617-AA51-B23C7D0BE360}"/>
              </a:ext>
            </a:extLst>
          </p:cNvPr>
          <p:cNvSpPr>
            <a:spLocks noGrp="1"/>
          </p:cNvSpPr>
          <p:nvPr/>
        </p:nvSpPr>
        <p:spPr>
          <a:xfrm>
            <a:off x="3291840" y="3219450"/>
            <a:ext cx="2366010" cy="4381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77706F-4821-45FE-B08F-E4630BCAF252}"/>
              </a:ext>
            </a:extLst>
          </p:cNvPr>
          <p:cNvSpPr>
            <a:spLocks noGrp="1"/>
          </p:cNvSpPr>
          <p:nvPr/>
        </p:nvSpPr>
        <p:spPr>
          <a:xfrm>
            <a:off x="628650" y="3305175"/>
            <a:ext cx="254889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axis-speed EMA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08B684-D3E2-4946-BD5A-4A5BFB6D65B1}"/>
              </a:ext>
            </a:extLst>
          </p:cNvPr>
          <p:cNvSpPr>
            <a:spLocks noGrp="1"/>
          </p:cNvSpPr>
          <p:nvPr/>
        </p:nvSpPr>
        <p:spPr>
          <a:xfrm>
            <a:off x="3406140" y="3305175"/>
            <a:ext cx="213741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+0.246 rad/s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19A410-40AC-4242-A11D-AA778DD12AFF}"/>
              </a:ext>
            </a:extLst>
          </p:cNvPr>
          <p:cNvSpPr>
            <a:spLocks noGrp="1"/>
          </p:cNvSpPr>
          <p:nvPr/>
        </p:nvSpPr>
        <p:spPr>
          <a:xfrm>
            <a:off x="514350" y="3657600"/>
            <a:ext cx="277749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3A96959-3F3F-4E0C-BC6A-CB29700AD580}"/>
              </a:ext>
            </a:extLst>
          </p:cNvPr>
          <p:cNvSpPr>
            <a:spLocks noGrp="1"/>
          </p:cNvSpPr>
          <p:nvPr/>
        </p:nvSpPr>
        <p:spPr>
          <a:xfrm>
            <a:off x="3291840" y="3657600"/>
            <a:ext cx="236601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9698A4E-8F9F-4909-A972-39ADA2953DDD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254889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 purity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E08E0E6-6495-454D-BFA6-C80495CA10EA}"/>
              </a:ext>
            </a:extLst>
          </p:cNvPr>
          <p:cNvSpPr>
            <a:spLocks noGrp="1"/>
          </p:cNvSpPr>
          <p:nvPr/>
        </p:nvSpPr>
        <p:spPr>
          <a:xfrm>
            <a:off x="3406140" y="3743325"/>
            <a:ext cx="213741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84.3%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562D6C-703C-4573-8C4A-67DD27B36C47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2777490" cy="4381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5585F2-ED3A-421B-B3F6-2096EC2990D1}"/>
              </a:ext>
            </a:extLst>
          </p:cNvPr>
          <p:cNvSpPr>
            <a:spLocks noGrp="1"/>
          </p:cNvSpPr>
          <p:nvPr/>
        </p:nvSpPr>
        <p:spPr>
          <a:xfrm>
            <a:off x="3291840" y="4095750"/>
            <a:ext cx="2366010" cy="4381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4049B1-9DB8-4829-9192-C1642C264B84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254889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 anchor error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09E8102-16C9-43ED-8A32-C68820E12E7B}"/>
              </a:ext>
            </a:extLst>
          </p:cNvPr>
          <p:cNvSpPr>
            <a:spLocks noGrp="1"/>
          </p:cNvSpPr>
          <p:nvPr/>
        </p:nvSpPr>
        <p:spPr>
          <a:xfrm>
            <a:off x="3406140" y="4181475"/>
            <a:ext cx="213741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14.7 mm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1F0ED73-B3C9-44D8-B3FE-F7F3203D90EC}"/>
              </a:ext>
            </a:extLst>
          </p:cNvPr>
          <p:cNvSpPr>
            <a:spLocks noGrp="1"/>
          </p:cNvSpPr>
          <p:nvPr/>
        </p:nvSpPr>
        <p:spPr>
          <a:xfrm>
            <a:off x="514350" y="4533900"/>
            <a:ext cx="277749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D2DC0C-D2AF-43E7-BA35-96D83C0CB09F}"/>
              </a:ext>
            </a:extLst>
          </p:cNvPr>
          <p:cNvSpPr>
            <a:spLocks noGrp="1"/>
          </p:cNvSpPr>
          <p:nvPr/>
        </p:nvSpPr>
        <p:spPr>
          <a:xfrm>
            <a:off x="3291840" y="4533900"/>
            <a:ext cx="236601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C1F84D1-AB84-493C-A2D7-679B8C352B70}"/>
              </a:ext>
            </a:extLst>
          </p:cNvPr>
          <p:cNvSpPr>
            <a:spLocks noGrp="1"/>
          </p:cNvSpPr>
          <p:nvPr/>
        </p:nvSpPr>
        <p:spPr>
          <a:xfrm>
            <a:off x="628650" y="4619625"/>
            <a:ext cx="254889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 fingertip contacts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67FD3F-5D06-42E7-8B98-A08CC4F85517}"/>
              </a:ext>
            </a:extLst>
          </p:cNvPr>
          <p:cNvSpPr>
            <a:spLocks noGrp="1"/>
          </p:cNvSpPr>
          <p:nvPr/>
        </p:nvSpPr>
        <p:spPr>
          <a:xfrm>
            <a:off x="3406140" y="4619625"/>
            <a:ext cx="213741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2.47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A2AA2E6-B7DD-427E-B68A-3491FD8956C7}"/>
              </a:ext>
            </a:extLst>
          </p:cNvPr>
          <p:cNvSpPr>
            <a:spLocks noGrp="1"/>
          </p:cNvSpPr>
          <p:nvPr/>
        </p:nvSpPr>
        <p:spPr>
          <a:xfrm>
            <a:off x="514350" y="4972050"/>
            <a:ext cx="2777490" cy="4381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09B627F-42C1-4DCF-88DA-CA7F2BC82EA3}"/>
              </a:ext>
            </a:extLst>
          </p:cNvPr>
          <p:cNvSpPr>
            <a:spLocks noGrp="1"/>
          </p:cNvSpPr>
          <p:nvPr/>
        </p:nvSpPr>
        <p:spPr>
          <a:xfrm>
            <a:off x="3291840" y="4972050"/>
            <a:ext cx="2366010" cy="4381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0D8A410-06F8-4D9C-8621-E5E932309951}"/>
              </a:ext>
            </a:extLst>
          </p:cNvPr>
          <p:cNvSpPr>
            <a:spLocks noGrp="1"/>
          </p:cNvSpPr>
          <p:nvPr/>
        </p:nvSpPr>
        <p:spPr>
          <a:xfrm>
            <a:off x="628650" y="5057775"/>
            <a:ext cx="254889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palm contact rate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4ADF76C-E66D-4992-B89D-40409263A20A}"/>
              </a:ext>
            </a:extLst>
          </p:cNvPr>
          <p:cNvSpPr>
            <a:spLocks noGrp="1"/>
          </p:cNvSpPr>
          <p:nvPr/>
        </p:nvSpPr>
        <p:spPr>
          <a:xfrm>
            <a:off x="3406140" y="5057775"/>
            <a:ext cx="213741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BB97BA-4FC1-4299-A704-587B6143C913}"/>
              </a:ext>
            </a:extLst>
          </p:cNvPr>
          <p:cNvSpPr>
            <a:spLocks noGrp="1"/>
          </p:cNvSpPr>
          <p:nvPr/>
        </p:nvSpPr>
        <p:spPr>
          <a:xfrm>
            <a:off x="6191250" y="19050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Sustainability check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5C518BB-29CE-4FF7-B055-D094E1207A18}"/>
              </a:ext>
            </a:extLst>
          </p:cNvPr>
          <p:cNvSpPr>
            <a:spLocks noGrp="1"/>
          </p:cNvSpPr>
          <p:nvPr/>
        </p:nvSpPr>
        <p:spPr>
          <a:xfrm>
            <a:off x="6191250" y="2343150"/>
            <a:ext cx="2571750" cy="4381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9344268-8FEE-4DE8-B1A1-75C905B9F494}"/>
              </a:ext>
            </a:extLst>
          </p:cNvPr>
          <p:cNvSpPr>
            <a:spLocks noGrp="1"/>
          </p:cNvSpPr>
          <p:nvPr/>
        </p:nvSpPr>
        <p:spPr>
          <a:xfrm>
            <a:off x="8763000" y="2343150"/>
            <a:ext cx="2190750" cy="4381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F25ADDF-96F0-4BED-B3CC-CE834285B75B}"/>
              </a:ext>
            </a:extLst>
          </p:cNvPr>
          <p:cNvSpPr>
            <a:spLocks noGrp="1"/>
          </p:cNvSpPr>
          <p:nvPr/>
        </p:nvSpPr>
        <p:spPr>
          <a:xfrm>
            <a:off x="6305550" y="2428875"/>
            <a:ext cx="2343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Success gate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C988239-8E62-426C-B65A-5EC21AD1FA29}"/>
              </a:ext>
            </a:extLst>
          </p:cNvPr>
          <p:cNvSpPr>
            <a:spLocks noGrp="1"/>
          </p:cNvSpPr>
          <p:nvPr/>
        </p:nvSpPr>
        <p:spPr>
          <a:xfrm>
            <a:off x="8877300" y="2428875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Observed fraction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5FD435E-1AE5-4421-9C5D-D2F6A8C8776F}"/>
              </a:ext>
            </a:extLst>
          </p:cNvPr>
          <p:cNvSpPr>
            <a:spLocks noGrp="1"/>
          </p:cNvSpPr>
          <p:nvPr/>
        </p:nvSpPr>
        <p:spPr>
          <a:xfrm>
            <a:off x="6191250" y="2781300"/>
            <a:ext cx="2571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99D7AC7-D0C4-4194-A059-59C237E4CEAC}"/>
              </a:ext>
            </a:extLst>
          </p:cNvPr>
          <p:cNvSpPr>
            <a:spLocks noGrp="1"/>
          </p:cNvSpPr>
          <p:nvPr/>
        </p:nvSpPr>
        <p:spPr>
          <a:xfrm>
            <a:off x="8763000" y="2781300"/>
            <a:ext cx="2190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4AD1E20-9A0B-4CBF-B916-5904FC43458B}"/>
              </a:ext>
            </a:extLst>
          </p:cNvPr>
          <p:cNvSpPr>
            <a:spLocks noGrp="1"/>
          </p:cNvSpPr>
          <p:nvPr/>
        </p:nvSpPr>
        <p:spPr>
          <a:xfrm>
            <a:off x="6305550" y="2867025"/>
            <a:ext cx="2343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continuous spin ≥ 2 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978AED5-5B9C-4175-A95A-B9250F75DD63}"/>
              </a:ext>
            </a:extLst>
          </p:cNvPr>
          <p:cNvSpPr>
            <a:spLocks noGrp="1"/>
          </p:cNvSpPr>
          <p:nvPr/>
        </p:nvSpPr>
        <p:spPr>
          <a:xfrm>
            <a:off x="8877300" y="2867025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0.012%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63B0A75-C5C7-47E2-B76E-89AE1DE90E4E}"/>
              </a:ext>
            </a:extLst>
          </p:cNvPr>
          <p:cNvSpPr>
            <a:spLocks noGrp="1"/>
          </p:cNvSpPr>
          <p:nvPr/>
        </p:nvSpPr>
        <p:spPr>
          <a:xfrm>
            <a:off x="6191250" y="3219450"/>
            <a:ext cx="2571750" cy="4381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3D3A995-5B53-4B7B-95B2-7B6D0E6030E4}"/>
              </a:ext>
            </a:extLst>
          </p:cNvPr>
          <p:cNvSpPr>
            <a:spLocks noGrp="1"/>
          </p:cNvSpPr>
          <p:nvPr/>
        </p:nvSpPr>
        <p:spPr>
          <a:xfrm>
            <a:off x="8763000" y="3219450"/>
            <a:ext cx="2190750" cy="4381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6CE7CE4-A4BE-4974-80DF-8E10943E748B}"/>
              </a:ext>
            </a:extLst>
          </p:cNvPr>
          <p:cNvSpPr>
            <a:spLocks noGrp="1"/>
          </p:cNvSpPr>
          <p:nvPr/>
        </p:nvSpPr>
        <p:spPr>
          <a:xfrm>
            <a:off x="6305550" y="3305175"/>
            <a:ext cx="2343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continuous spin ≥ 5 s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440ACA8-7D5D-4B89-BD94-6530B54FAE70}"/>
              </a:ext>
            </a:extLst>
          </p:cNvPr>
          <p:cNvSpPr>
            <a:spLocks noGrp="1"/>
          </p:cNvSpPr>
          <p:nvPr/>
        </p:nvSpPr>
        <p:spPr>
          <a:xfrm>
            <a:off x="8877300" y="3305175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A7FD757-835C-434C-AC99-36C4A75989C3}"/>
              </a:ext>
            </a:extLst>
          </p:cNvPr>
          <p:cNvSpPr>
            <a:spLocks noGrp="1"/>
          </p:cNvSpPr>
          <p:nvPr/>
        </p:nvSpPr>
        <p:spPr>
          <a:xfrm>
            <a:off x="6191250" y="3657600"/>
            <a:ext cx="2571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53C5AF5-2298-414C-BBA6-04D6DCD62918}"/>
              </a:ext>
            </a:extLst>
          </p:cNvPr>
          <p:cNvSpPr>
            <a:spLocks noGrp="1"/>
          </p:cNvSpPr>
          <p:nvPr/>
        </p:nvSpPr>
        <p:spPr>
          <a:xfrm>
            <a:off x="8763000" y="3657600"/>
            <a:ext cx="2190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F5C82D1-26C3-4874-BCFC-9A66B3CA96FF}"/>
              </a:ext>
            </a:extLst>
          </p:cNvPr>
          <p:cNvSpPr>
            <a:spLocks noGrp="1"/>
          </p:cNvSpPr>
          <p:nvPr/>
        </p:nvSpPr>
        <p:spPr>
          <a:xfrm>
            <a:off x="6305550" y="3743325"/>
            <a:ext cx="2343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continuous spin ≥ 10 s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B5AF65E-0791-46B0-8918-00EA9E89FF34}"/>
              </a:ext>
            </a:extLst>
          </p:cNvPr>
          <p:cNvSpPr>
            <a:spLocks noGrp="1"/>
          </p:cNvSpPr>
          <p:nvPr/>
        </p:nvSpPr>
        <p:spPr>
          <a:xfrm>
            <a:off x="8877300" y="3743325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BD50229-FC11-47F3-A372-AFCF73DC8069}"/>
              </a:ext>
            </a:extLst>
          </p:cNvPr>
          <p:cNvSpPr>
            <a:spLocks noGrp="1"/>
          </p:cNvSpPr>
          <p:nvPr/>
        </p:nvSpPr>
        <p:spPr>
          <a:xfrm>
            <a:off x="6191250" y="4095750"/>
            <a:ext cx="2571750" cy="4381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0C424DC-80B0-46EE-BACD-C93963E4CBED}"/>
              </a:ext>
            </a:extLst>
          </p:cNvPr>
          <p:cNvSpPr>
            <a:spLocks noGrp="1"/>
          </p:cNvSpPr>
          <p:nvPr/>
        </p:nvSpPr>
        <p:spPr>
          <a:xfrm>
            <a:off x="8763000" y="4095750"/>
            <a:ext cx="2190750" cy="4381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6107720-3293-4777-94BA-CB9ADEB9F4AD}"/>
              </a:ext>
            </a:extLst>
          </p:cNvPr>
          <p:cNvSpPr>
            <a:spLocks noGrp="1"/>
          </p:cNvSpPr>
          <p:nvPr/>
        </p:nvSpPr>
        <p:spPr>
          <a:xfrm>
            <a:off x="6305550" y="4181475"/>
            <a:ext cx="2343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natural handoff rate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054A550-994B-46FD-8D96-14296153E514}"/>
              </a:ext>
            </a:extLst>
          </p:cNvPr>
          <p:cNvSpPr>
            <a:spLocks noGrp="1"/>
          </p:cNvSpPr>
          <p:nvPr/>
        </p:nvSpPr>
        <p:spPr>
          <a:xfrm>
            <a:off x="8877300" y="4181475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0.061%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C6A6B5E-196F-4F1F-B776-D17E0DF484D8}"/>
              </a:ext>
            </a:extLst>
          </p:cNvPr>
          <p:cNvSpPr>
            <a:spLocks noGrp="1"/>
          </p:cNvSpPr>
          <p:nvPr/>
        </p:nvSpPr>
        <p:spPr>
          <a:xfrm>
            <a:off x="6191250" y="4533900"/>
            <a:ext cx="2571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5396027-925D-47FD-BBD4-5C4D4E9E7D6B}"/>
              </a:ext>
            </a:extLst>
          </p:cNvPr>
          <p:cNvSpPr>
            <a:spLocks noGrp="1"/>
          </p:cNvSpPr>
          <p:nvPr/>
        </p:nvSpPr>
        <p:spPr>
          <a:xfrm>
            <a:off x="8763000" y="4533900"/>
            <a:ext cx="2190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63DB295-F143-41B0-85A9-461C62531369}"/>
              </a:ext>
            </a:extLst>
          </p:cNvPr>
          <p:cNvSpPr>
            <a:spLocks noGrp="1"/>
          </p:cNvSpPr>
          <p:nvPr/>
        </p:nvSpPr>
        <p:spPr>
          <a:xfrm>
            <a:off x="6305550" y="4619625"/>
            <a:ext cx="2343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success fraction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DF695F2-B10D-4AFF-BCE0-210340BA1154}"/>
              </a:ext>
            </a:extLst>
          </p:cNvPr>
          <p:cNvSpPr>
            <a:spLocks noGrp="1"/>
          </p:cNvSpPr>
          <p:nvPr/>
        </p:nvSpPr>
        <p:spPr>
          <a:xfrm>
            <a:off x="8877300" y="4619625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0.061%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89643BE-408F-4018-A956-28FC412F825E}"/>
              </a:ext>
            </a:extLst>
          </p:cNvPr>
          <p:cNvSpPr>
            <a:spLocks noGrp="1"/>
          </p:cNvSpPr>
          <p:nvPr/>
        </p:nvSpPr>
        <p:spPr>
          <a:xfrm>
            <a:off x="514350" y="5905500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Conclusion: the policy can generate positive +Z rotation, but it cannot maintain the motion, switch contacts, or complete multiple turns.</a:t>
            </a:r>
          </a:p>
        </p:txBody>
      </p:sp>
    </p:spTree>
    <p:extLst>
      <p:ext uri="{BB962C8B-B14F-4D97-AF65-F5344CB8AC3E}">
        <p14:creationId xmlns:p14="http://schemas.microsoft.com/office/powerpoint/2010/main" val="969534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50751C09-4979-4C32-B6C4-C4A157D97E8C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75489F-8970-4862-90F4-27E38904ED2A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Gaiting Held Position but Did Not Spin or Handoff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D492BA-AB55-4EB2-9E9B-27AF3BA737FC}"/>
              </a:ext>
            </a:extLst>
          </p:cNvPr>
          <p:cNvSpPr>
            <a:spLocks noGrp="1"/>
          </p:cNvSpPr>
          <p:nvPr/>
        </p:nvSpPr>
        <p:spPr>
          <a:xfrm>
            <a:off x="9753600" y="6324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04BCAD5-592D-4665-8EA4-28AACD92F9E5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4762500" cy="266700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3D345D-CEC5-4EA4-B5A9-2961C908FFB3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V1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9C993B7-21F6-47EE-8BDB-4EC52F29B3CB}"/>
              </a:ext>
            </a:extLst>
          </p:cNvPr>
          <p:cNvSpPr>
            <a:spLocks noGrp="1"/>
          </p:cNvSpPr>
          <p:nvPr/>
        </p:nvSpPr>
        <p:spPr>
          <a:xfrm>
            <a:off x="800100" y="2324100"/>
            <a:ext cx="3905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Combined the simplified rotation objective with stable-support, release-progress, and handoff shaping.</a:t>
            </a:r>
          </a:p>
          <a:p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Problem: gaiting pressure increased exploration cost before stable rotation existed.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C5EA35-5C00-46B5-B7BB-E031E11AB479}"/>
              </a:ext>
            </a:extLst>
          </p:cNvPr>
          <p:cNvSpPr>
            <a:spLocks noGrp="1"/>
          </p:cNvSpPr>
          <p:nvPr/>
        </p:nvSpPr>
        <p:spPr>
          <a:xfrm>
            <a:off x="800100" y="37338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RUN  2026-07-27_12-09-05_mujoco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BC332FA-CD29-4DBB-A43F-74B0DD8B7033}"/>
              </a:ext>
            </a:extLst>
          </p:cNvPr>
          <p:cNvSpPr>
            <a:spLocks noGrp="1"/>
          </p:cNvSpPr>
          <p:nvPr/>
        </p:nvSpPr>
        <p:spPr>
          <a:xfrm>
            <a:off x="5962650" y="1428750"/>
            <a:ext cx="4953000" cy="2667000"/>
          </a:xfrm>
          <a:prstGeom prst="roundRect">
            <a:avLst>
              <a:gd name="adj" fmla="val 2857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80CDAF-9366-4A6E-A565-0E2704520698}"/>
              </a:ext>
            </a:extLst>
          </p:cNvPr>
          <p:cNvSpPr>
            <a:spLocks noGrp="1"/>
          </p:cNvSpPr>
          <p:nvPr/>
        </p:nvSpPr>
        <p:spPr>
          <a:xfrm>
            <a:off x="6248400" y="1790700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V2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7C53DA-6B41-4E94-B659-8D27A3C7EBA1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409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Kept the rotation objective, removed stable/release shaping, reduced handoff influence, and allowed release only for non-thumb fingers.</a:t>
            </a:r>
          </a:p>
          <a:p>
            <a:endParaRPr sz="1425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Goal: acquire rotation first, then require contact switching.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C077E7-C4EA-4FF8-8BDF-BD6C3329E452}"/>
              </a:ext>
            </a:extLst>
          </p:cNvPr>
          <p:cNvSpPr>
            <a:spLocks noGrp="1"/>
          </p:cNvSpPr>
          <p:nvPr/>
        </p:nvSpPr>
        <p:spPr>
          <a:xfrm>
            <a:off x="6248400" y="37338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RUN  2026-07-27_12-26-57_mujoco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CA6342-653C-4396-95AA-55367767086F}"/>
              </a:ext>
            </a:extLst>
          </p:cNvPr>
          <p:cNvSpPr>
            <a:spLocks noGrp="1"/>
          </p:cNvSpPr>
          <p:nvPr/>
        </p:nvSpPr>
        <p:spPr>
          <a:xfrm>
            <a:off x="514350" y="4476750"/>
            <a:ext cx="3806190" cy="2857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F9D6E0-5422-48B5-92CE-3C432DDA937B}"/>
              </a:ext>
            </a:extLst>
          </p:cNvPr>
          <p:cNvSpPr>
            <a:spLocks noGrp="1"/>
          </p:cNvSpPr>
          <p:nvPr/>
        </p:nvSpPr>
        <p:spPr>
          <a:xfrm>
            <a:off x="4320540" y="4476750"/>
            <a:ext cx="3242310" cy="2857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94B7D08-0C8E-4323-90BB-21B14BF85913}"/>
              </a:ext>
            </a:extLst>
          </p:cNvPr>
          <p:cNvSpPr>
            <a:spLocks noGrp="1"/>
          </p:cNvSpPr>
          <p:nvPr/>
        </p:nvSpPr>
        <p:spPr>
          <a:xfrm>
            <a:off x="628650" y="4562475"/>
            <a:ext cx="357759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175"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Latest task metric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97D91C-80F3-49A4-B7D5-4601AC437B99}"/>
              </a:ext>
            </a:extLst>
          </p:cNvPr>
          <p:cNvSpPr>
            <a:spLocks noGrp="1"/>
          </p:cNvSpPr>
          <p:nvPr/>
        </p:nvSpPr>
        <p:spPr>
          <a:xfrm>
            <a:off x="4434840" y="4562475"/>
            <a:ext cx="301371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175"/>
          </a:bodyPr>
          <a:lstStyle/>
          <a:p>
            <a:pPr algn="r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Observed value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276F12-5E96-4EA0-837F-43B7C2665AE7}"/>
              </a:ext>
            </a:extLst>
          </p:cNvPr>
          <p:cNvSpPr>
            <a:spLocks noGrp="1"/>
          </p:cNvSpPr>
          <p:nvPr/>
        </p:nvSpPr>
        <p:spPr>
          <a:xfrm>
            <a:off x="514350" y="4762500"/>
            <a:ext cx="380619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CD1E385-2715-49CF-BEAC-8B889CD5A009}"/>
              </a:ext>
            </a:extLst>
          </p:cNvPr>
          <p:cNvSpPr>
            <a:spLocks noGrp="1"/>
          </p:cNvSpPr>
          <p:nvPr/>
        </p:nvSpPr>
        <p:spPr>
          <a:xfrm>
            <a:off x="4320540" y="4762500"/>
            <a:ext cx="324231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DD75AC-F721-414A-97EB-1BFE268DEBF8}"/>
              </a:ext>
            </a:extLst>
          </p:cNvPr>
          <p:cNvSpPr>
            <a:spLocks noGrp="1"/>
          </p:cNvSpPr>
          <p:nvPr/>
        </p:nvSpPr>
        <p:spPr>
          <a:xfrm>
            <a:off x="628650" y="4848225"/>
            <a:ext cx="357759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175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position gate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26D37B5-5779-48F1-91E1-D78491B0CEB9}"/>
              </a:ext>
            </a:extLst>
          </p:cNvPr>
          <p:cNvSpPr>
            <a:spLocks noGrp="1"/>
          </p:cNvSpPr>
          <p:nvPr/>
        </p:nvSpPr>
        <p:spPr>
          <a:xfrm>
            <a:off x="4434840" y="4848225"/>
            <a:ext cx="301371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175"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98.8%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5794D7-1F29-43D8-9F49-321D17ED9D4F}"/>
              </a:ext>
            </a:extLst>
          </p:cNvPr>
          <p:cNvSpPr>
            <a:spLocks noGrp="1"/>
          </p:cNvSpPr>
          <p:nvPr/>
        </p:nvSpPr>
        <p:spPr>
          <a:xfrm>
            <a:off x="514350" y="5048250"/>
            <a:ext cx="3806190" cy="2857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ECCF3FF-C4BF-4812-9D93-B7AD6DF5042D}"/>
              </a:ext>
            </a:extLst>
          </p:cNvPr>
          <p:cNvSpPr>
            <a:spLocks noGrp="1"/>
          </p:cNvSpPr>
          <p:nvPr/>
        </p:nvSpPr>
        <p:spPr>
          <a:xfrm>
            <a:off x="4320540" y="5048250"/>
            <a:ext cx="3242310" cy="2857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5101CC-B385-4332-94DB-677D0AD72FE9}"/>
              </a:ext>
            </a:extLst>
          </p:cNvPr>
          <p:cNvSpPr>
            <a:spLocks noGrp="1"/>
          </p:cNvSpPr>
          <p:nvPr/>
        </p:nvSpPr>
        <p:spPr>
          <a:xfrm>
            <a:off x="628650" y="5133975"/>
            <a:ext cx="357759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175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 purity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95EEC27-0728-4E75-890C-580D413AE1C6}"/>
              </a:ext>
            </a:extLst>
          </p:cNvPr>
          <p:cNvSpPr>
            <a:spLocks noGrp="1"/>
          </p:cNvSpPr>
          <p:nvPr/>
        </p:nvSpPr>
        <p:spPr>
          <a:xfrm>
            <a:off x="4434840" y="5133975"/>
            <a:ext cx="301371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175"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95.1%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6F86BE2-A937-445C-B56E-AC9F7298B04F}"/>
              </a:ext>
            </a:extLst>
          </p:cNvPr>
          <p:cNvSpPr>
            <a:spLocks noGrp="1"/>
          </p:cNvSpPr>
          <p:nvPr/>
        </p:nvSpPr>
        <p:spPr>
          <a:xfrm>
            <a:off x="514350" y="5334000"/>
            <a:ext cx="380619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F34DB7-8A0D-449A-B371-101B604F4134}"/>
              </a:ext>
            </a:extLst>
          </p:cNvPr>
          <p:cNvSpPr>
            <a:spLocks noGrp="1"/>
          </p:cNvSpPr>
          <p:nvPr/>
        </p:nvSpPr>
        <p:spPr>
          <a:xfrm>
            <a:off x="4320540" y="5334000"/>
            <a:ext cx="324231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BD44356-DC82-493B-8A72-25E32E5056E8}"/>
              </a:ext>
            </a:extLst>
          </p:cNvPr>
          <p:cNvSpPr>
            <a:spLocks noGrp="1"/>
          </p:cNvSpPr>
          <p:nvPr/>
        </p:nvSpPr>
        <p:spPr>
          <a:xfrm>
            <a:off x="628650" y="5419725"/>
            <a:ext cx="357759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175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 speed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0902185-1A8A-46F8-950F-66B91F544FBD}"/>
              </a:ext>
            </a:extLst>
          </p:cNvPr>
          <p:cNvSpPr>
            <a:spLocks noGrp="1"/>
          </p:cNvSpPr>
          <p:nvPr/>
        </p:nvSpPr>
        <p:spPr>
          <a:xfrm>
            <a:off x="4434840" y="5419725"/>
            <a:ext cx="301371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175"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+0.001 rad/s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E76DB8D-BF09-4BC4-8264-143B10FC1B37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3806190" cy="2857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DDE9D0F-E03C-400C-9E2B-CAB37EB84C20}"/>
              </a:ext>
            </a:extLst>
          </p:cNvPr>
          <p:cNvSpPr>
            <a:spLocks noGrp="1"/>
          </p:cNvSpPr>
          <p:nvPr/>
        </p:nvSpPr>
        <p:spPr>
          <a:xfrm>
            <a:off x="4320540" y="5619750"/>
            <a:ext cx="3242310" cy="2857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4961322-EBE1-434A-A467-D61E6015E5EF}"/>
              </a:ext>
            </a:extLst>
          </p:cNvPr>
          <p:cNvSpPr>
            <a:spLocks noGrp="1"/>
          </p:cNvSpPr>
          <p:nvPr/>
        </p:nvSpPr>
        <p:spPr>
          <a:xfrm>
            <a:off x="628650" y="5705475"/>
            <a:ext cx="357759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175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net turns / episode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AFB36AE-08D0-49BF-8795-88A74F5A392F}"/>
              </a:ext>
            </a:extLst>
          </p:cNvPr>
          <p:cNvSpPr>
            <a:spLocks noGrp="1"/>
          </p:cNvSpPr>
          <p:nvPr/>
        </p:nvSpPr>
        <p:spPr>
          <a:xfrm>
            <a:off x="4434840" y="5705475"/>
            <a:ext cx="301371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175"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0.0069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B453D63-6F10-40A6-9BF7-380DD46D1DBE}"/>
              </a:ext>
            </a:extLst>
          </p:cNvPr>
          <p:cNvSpPr>
            <a:spLocks noGrp="1"/>
          </p:cNvSpPr>
          <p:nvPr/>
        </p:nvSpPr>
        <p:spPr>
          <a:xfrm>
            <a:off x="514350" y="5905500"/>
            <a:ext cx="380619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04CCDC8-F460-4568-99F3-C66628848539}"/>
              </a:ext>
            </a:extLst>
          </p:cNvPr>
          <p:cNvSpPr>
            <a:spLocks noGrp="1"/>
          </p:cNvSpPr>
          <p:nvPr/>
        </p:nvSpPr>
        <p:spPr>
          <a:xfrm>
            <a:off x="4320540" y="5905500"/>
            <a:ext cx="324231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B72B2F4-0BB5-4842-8041-680EFD67824E}"/>
              </a:ext>
            </a:extLst>
          </p:cNvPr>
          <p:cNvSpPr>
            <a:spLocks noGrp="1"/>
          </p:cNvSpPr>
          <p:nvPr/>
        </p:nvSpPr>
        <p:spPr>
          <a:xfrm>
            <a:off x="628650" y="5991225"/>
            <a:ext cx="357759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175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speed &gt; 0.10 rad/s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E1A7C16-568C-4F95-8258-92ED2BF2D261}"/>
              </a:ext>
            </a:extLst>
          </p:cNvPr>
          <p:cNvSpPr>
            <a:spLocks noGrp="1"/>
          </p:cNvSpPr>
          <p:nvPr/>
        </p:nvSpPr>
        <p:spPr>
          <a:xfrm>
            <a:off x="4434840" y="5991225"/>
            <a:ext cx="301371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175"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0.73%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0B46395-47C5-4418-9369-9AA051C18A37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3806190" cy="2857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8074815-FDA0-4ACD-AC40-CCE440FAC88E}"/>
              </a:ext>
            </a:extLst>
          </p:cNvPr>
          <p:cNvSpPr>
            <a:spLocks noGrp="1"/>
          </p:cNvSpPr>
          <p:nvPr/>
        </p:nvSpPr>
        <p:spPr>
          <a:xfrm>
            <a:off x="4320540" y="6191250"/>
            <a:ext cx="3242310" cy="2857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5752BBC-9A04-4DE7-A3C5-055BCB6661E6}"/>
              </a:ext>
            </a:extLst>
          </p:cNvPr>
          <p:cNvSpPr>
            <a:spLocks noGrp="1"/>
          </p:cNvSpPr>
          <p:nvPr/>
        </p:nvSpPr>
        <p:spPr>
          <a:xfrm>
            <a:off x="628650" y="6276975"/>
            <a:ext cx="357759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175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qualified handoff rate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0EACE10-8EDF-4461-BA8F-9B24EB28878F}"/>
              </a:ext>
            </a:extLst>
          </p:cNvPr>
          <p:cNvSpPr>
            <a:spLocks noGrp="1"/>
          </p:cNvSpPr>
          <p:nvPr/>
        </p:nvSpPr>
        <p:spPr>
          <a:xfrm>
            <a:off x="4434840" y="6276975"/>
            <a:ext cx="301371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175"/>
          </a:bodyPr>
          <a:lstStyle/>
          <a:p>
            <a:pPr algn="r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0.006%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655B86A-2CEB-45A4-8C30-EE5D0A784BA1}"/>
              </a:ext>
            </a:extLst>
          </p:cNvPr>
          <p:cNvSpPr>
            <a:spLocks noGrp="1"/>
          </p:cNvSpPr>
          <p:nvPr/>
        </p:nvSpPr>
        <p:spPr>
          <a:xfrm>
            <a:off x="8191500" y="4514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5DDC38F-BED4-424C-936E-2473A6D207EB}"/>
              </a:ext>
            </a:extLst>
          </p:cNvPr>
          <p:cNvSpPr>
            <a:spLocks noGrp="1"/>
          </p:cNvSpPr>
          <p:nvPr/>
        </p:nvSpPr>
        <p:spPr>
          <a:xfrm>
            <a:off x="8191500" y="4991100"/>
            <a:ext cx="2762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329"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object stayed near its anchor and the rotation axis was clean, but axis speed and qualified handoffs were almost zero.</a:t>
            </a:r>
          </a:p>
          <a:p>
            <a:endParaRPr sz="1425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is not sustained rotation.</a:t>
            </a:r>
          </a:p>
        </p:txBody>
      </p:sp>
    </p:spTree>
    <p:extLst>
      <p:ext uri="{BB962C8B-B14F-4D97-AF65-F5344CB8AC3E}">
        <p14:creationId xmlns:p14="http://schemas.microsoft.com/office/powerpoint/2010/main" val="1039081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>
            <a:extLst>
              <a:ext uri="{FF2B5EF4-FFF2-40B4-BE49-F238E27FC236}">
                <a16:creationId xmlns:a16="http://schemas.microsoft.com/office/drawing/2014/main" id="{4E6E2C1F-E8D2-44E0-8A40-B244D4D5803B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423A7E-5FF7-4A61-AC8F-F1B16B19C76B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Each Task Answers a Different Diagnostic Question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21C310-B3FB-4B67-A847-EAA232475BA5}"/>
              </a:ext>
            </a:extLst>
          </p:cNvPr>
          <p:cNvSpPr>
            <a:spLocks noGrp="1"/>
          </p:cNvSpPr>
          <p:nvPr/>
        </p:nvSpPr>
        <p:spPr>
          <a:xfrm>
            <a:off x="9753600" y="6324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6CFA71-E354-4333-AFBF-AA3D0E417658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2190750" cy="4572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CB9138-1456-4418-ACF2-57E674A42532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6A9734-17FE-48AA-B272-469C58468B03}"/>
              </a:ext>
            </a:extLst>
          </p:cNvPr>
          <p:cNvSpPr>
            <a:spLocks noGrp="1"/>
          </p:cNvSpPr>
          <p:nvPr/>
        </p:nvSpPr>
        <p:spPr>
          <a:xfrm>
            <a:off x="2705100" y="1428750"/>
            <a:ext cx="2486025" cy="4572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A47A75-ACAE-4E80-B1F3-F9BE13A9377B}"/>
              </a:ext>
            </a:extLst>
          </p:cNvPr>
          <p:cNvSpPr>
            <a:spLocks noGrp="1"/>
          </p:cNvSpPr>
          <p:nvPr/>
        </p:nvSpPr>
        <p:spPr>
          <a:xfrm>
            <a:off x="2800350" y="1552575"/>
            <a:ext cx="2295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Representative RunId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081EDE-701E-4406-835D-82A7D374B9FD}"/>
              </a:ext>
            </a:extLst>
          </p:cNvPr>
          <p:cNvSpPr>
            <a:spLocks noGrp="1"/>
          </p:cNvSpPr>
          <p:nvPr/>
        </p:nvSpPr>
        <p:spPr>
          <a:xfrm>
            <a:off x="5191125" y="1428750"/>
            <a:ext cx="2524125" cy="4572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FCC464-D4A7-4736-8109-FAA27ED3747E}"/>
              </a:ext>
            </a:extLst>
          </p:cNvPr>
          <p:cNvSpPr>
            <a:spLocks noGrp="1"/>
          </p:cNvSpPr>
          <p:nvPr/>
        </p:nvSpPr>
        <p:spPr>
          <a:xfrm>
            <a:off x="5286375" y="1552575"/>
            <a:ext cx="233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CA97D6-D329-4D01-98A4-15C766C357F3}"/>
              </a:ext>
            </a:extLst>
          </p:cNvPr>
          <p:cNvSpPr>
            <a:spLocks noGrp="1"/>
          </p:cNvSpPr>
          <p:nvPr/>
        </p:nvSpPr>
        <p:spPr>
          <a:xfrm>
            <a:off x="7715250" y="1428750"/>
            <a:ext cx="2190750" cy="4572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111BDB-1DC0-4410-80CE-D93BED6961DC}"/>
              </a:ext>
            </a:extLst>
          </p:cNvPr>
          <p:cNvSpPr>
            <a:spLocks noGrp="1"/>
          </p:cNvSpPr>
          <p:nvPr/>
        </p:nvSpPr>
        <p:spPr>
          <a:xfrm>
            <a:off x="7810500" y="15525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Supported conclusion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BD476F-85D7-467F-B18F-B29266F2FDC4}"/>
              </a:ext>
            </a:extLst>
          </p:cNvPr>
          <p:cNvSpPr>
            <a:spLocks noGrp="1"/>
          </p:cNvSpPr>
          <p:nvPr/>
        </p:nvSpPr>
        <p:spPr>
          <a:xfrm>
            <a:off x="9906000" y="1428750"/>
            <a:ext cx="1619250" cy="4572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0485AA-0079-46AD-8A08-9C0DAEF13A92}"/>
              </a:ext>
            </a:extLst>
          </p:cNvPr>
          <p:cNvSpPr>
            <a:spLocks noGrp="1"/>
          </p:cNvSpPr>
          <p:nvPr/>
        </p:nvSpPr>
        <p:spPr>
          <a:xfrm>
            <a:off x="10001250" y="15525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DDCB41-BD21-4928-B274-F35372A3F949}"/>
              </a:ext>
            </a:extLst>
          </p:cNvPr>
          <p:cNvSpPr>
            <a:spLocks noGrp="1"/>
          </p:cNvSpPr>
          <p:nvPr/>
        </p:nvSpPr>
        <p:spPr>
          <a:xfrm>
            <a:off x="514350" y="18859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1A1CBD7-AD45-412C-B13A-CE4A0B094F73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Ball Cache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159B992-0EA3-44C0-8FC6-7B7FD177997A}"/>
              </a:ext>
            </a:extLst>
          </p:cNvPr>
          <p:cNvSpPr>
            <a:spLocks noGrp="1"/>
          </p:cNvSpPr>
          <p:nvPr/>
        </p:nvSpPr>
        <p:spPr>
          <a:xfrm>
            <a:off x="2705100" y="1885950"/>
            <a:ext cx="24860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163C47-A861-49F0-809B-21A37E2FE2D1}"/>
              </a:ext>
            </a:extLst>
          </p:cNvPr>
          <p:cNvSpPr>
            <a:spLocks noGrp="1"/>
          </p:cNvSpPr>
          <p:nvPr/>
        </p:nvSpPr>
        <p:spPr>
          <a:xfrm>
            <a:off x="2800350" y="200025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07-21_17-29-49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47ACFC-99D6-456E-829D-571314699615}"/>
              </a:ext>
            </a:extLst>
          </p:cNvPr>
          <p:cNvSpPr>
            <a:spLocks noGrp="1"/>
          </p:cNvSpPr>
          <p:nvPr/>
        </p:nvSpPr>
        <p:spPr>
          <a:xfrm>
            <a:off x="5191125" y="1885950"/>
            <a:ext cx="25241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97ED20B-1CD8-453B-9320-D11D26C78575}"/>
              </a:ext>
            </a:extLst>
          </p:cNvPr>
          <p:cNvSpPr>
            <a:spLocks noGrp="1"/>
          </p:cNvSpPr>
          <p:nvPr/>
        </p:nvSpPr>
        <p:spPr>
          <a:xfrm>
            <a:off x="5286375" y="200025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Does cache reset work?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064971-F8A0-41A7-B8AC-EA578F2CEB7A}"/>
              </a:ext>
            </a:extLst>
          </p:cNvPr>
          <p:cNvSpPr>
            <a:spLocks noGrp="1"/>
          </p:cNvSpPr>
          <p:nvPr/>
        </p:nvSpPr>
        <p:spPr>
          <a:xfrm>
            <a:off x="7715250" y="18859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9914C05-7729-4165-BD22-0BE07E4FC25B}"/>
              </a:ext>
            </a:extLst>
          </p:cNvPr>
          <p:cNvSpPr>
            <a:spLocks noGrp="1"/>
          </p:cNvSpPr>
          <p:nvPr/>
        </p:nvSpPr>
        <p:spPr>
          <a:xfrm>
            <a:off x="7810500" y="20002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Integration is executable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C33EA3-A111-4C19-A6BF-424BAAFF5B69}"/>
              </a:ext>
            </a:extLst>
          </p:cNvPr>
          <p:cNvSpPr>
            <a:spLocks noGrp="1"/>
          </p:cNvSpPr>
          <p:nvPr/>
        </p:nvSpPr>
        <p:spPr>
          <a:xfrm>
            <a:off x="9906000" y="1885950"/>
            <a:ext cx="16192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DAC248-6FD4-47CE-ABA8-C890288FDB3D}"/>
              </a:ext>
            </a:extLst>
          </p:cNvPr>
          <p:cNvSpPr>
            <a:spLocks noGrp="1"/>
          </p:cNvSpPr>
          <p:nvPr/>
        </p:nvSpPr>
        <p:spPr>
          <a:xfrm>
            <a:off x="10001250" y="20002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integration only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AAD2484-1A61-439B-9E55-BFCF152D121F}"/>
              </a:ext>
            </a:extLst>
          </p:cNvPr>
          <p:cNvSpPr>
            <a:spLocks noGrp="1"/>
          </p:cNvSpPr>
          <p:nvPr/>
        </p:nvSpPr>
        <p:spPr>
          <a:xfrm>
            <a:off x="514350" y="24384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ED7D930-E77C-4B1F-8AFE-9CBF73F3A1BA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Cache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EC5D54F-9222-4FD8-98B4-201100C5E403}"/>
              </a:ext>
            </a:extLst>
          </p:cNvPr>
          <p:cNvSpPr>
            <a:spLocks noGrp="1"/>
          </p:cNvSpPr>
          <p:nvPr/>
        </p:nvSpPr>
        <p:spPr>
          <a:xfrm>
            <a:off x="2705100" y="2438400"/>
            <a:ext cx="24860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730B333-ECDD-4349-B81F-D89E95DEAA02}"/>
              </a:ext>
            </a:extLst>
          </p:cNvPr>
          <p:cNvSpPr>
            <a:spLocks noGrp="1"/>
          </p:cNvSpPr>
          <p:nvPr/>
        </p:nvSpPr>
        <p:spPr>
          <a:xfrm>
            <a:off x="2800350" y="255270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07-21_18-22-39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2068A6-72AF-4BFA-A6B1-FCCC715B1545}"/>
              </a:ext>
            </a:extLst>
          </p:cNvPr>
          <p:cNvSpPr>
            <a:spLocks noGrp="1"/>
          </p:cNvSpPr>
          <p:nvPr/>
        </p:nvSpPr>
        <p:spPr>
          <a:xfrm>
            <a:off x="5191125" y="2438400"/>
            <a:ext cx="25241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E91AAF4-69B4-488F-8E42-7F31DB1202EB}"/>
              </a:ext>
            </a:extLst>
          </p:cNvPr>
          <p:cNvSpPr>
            <a:spLocks noGrp="1"/>
          </p:cNvSpPr>
          <p:nvPr/>
        </p:nvSpPr>
        <p:spPr>
          <a:xfrm>
            <a:off x="5286375" y="255270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many grasps rotate?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5725593-3612-4817-9BD5-BDDB95646DC9}"/>
              </a:ext>
            </a:extLst>
          </p:cNvPr>
          <p:cNvSpPr>
            <a:spLocks noGrp="1"/>
          </p:cNvSpPr>
          <p:nvPr/>
        </p:nvSpPr>
        <p:spPr>
          <a:xfrm>
            <a:off x="7715250" y="24384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4F1E9AE-CA0C-42EC-B8D4-522359B813B6}"/>
              </a:ext>
            </a:extLst>
          </p:cNvPr>
          <p:cNvSpPr>
            <a:spLocks noGrp="1"/>
          </p:cNvSpPr>
          <p:nvPr/>
        </p:nvSpPr>
        <p:spPr>
          <a:xfrm>
            <a:off x="7810500" y="25527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776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Formal baseline established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31508BC-8B2B-4131-B3A6-B75BAD2D7758}"/>
              </a:ext>
            </a:extLst>
          </p:cNvPr>
          <p:cNvSpPr>
            <a:spLocks noGrp="1"/>
          </p:cNvSpPr>
          <p:nvPr/>
        </p:nvSpPr>
        <p:spPr>
          <a:xfrm>
            <a:off x="9906000" y="24384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BBF53D-897C-4427-BC95-31B653BDF8C1}"/>
              </a:ext>
            </a:extLst>
          </p:cNvPr>
          <p:cNvSpPr>
            <a:spLocks noGrp="1"/>
          </p:cNvSpPr>
          <p:nvPr/>
        </p:nvSpPr>
        <p:spPr>
          <a:xfrm>
            <a:off x="10001250" y="25527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rotation metrics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D55C9C6-E6E1-44BB-8B48-6C289E3B5C62}"/>
              </a:ext>
            </a:extLst>
          </p:cNvPr>
          <p:cNvSpPr>
            <a:spLocks noGrp="1"/>
          </p:cNvSpPr>
          <p:nvPr/>
        </p:nvSpPr>
        <p:spPr>
          <a:xfrm>
            <a:off x="514350" y="29908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C10AC59-6A59-44DF-8D6B-0D9BFCC7D705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Grey-zone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98F3144-C8DD-4BB6-B083-291FBBDD5EC6}"/>
              </a:ext>
            </a:extLst>
          </p:cNvPr>
          <p:cNvSpPr>
            <a:spLocks noGrp="1"/>
          </p:cNvSpPr>
          <p:nvPr/>
        </p:nvSpPr>
        <p:spPr>
          <a:xfrm>
            <a:off x="2705100" y="2990850"/>
            <a:ext cx="24860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8286B5E-0D54-412C-A7B3-7BB5119868AD}"/>
              </a:ext>
            </a:extLst>
          </p:cNvPr>
          <p:cNvSpPr>
            <a:spLocks noGrp="1"/>
          </p:cNvSpPr>
          <p:nvPr/>
        </p:nvSpPr>
        <p:spPr>
          <a:xfrm>
            <a:off x="2800350" y="310515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07-21_22-58-39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98A3542-D82A-4474-838B-3ED00942C6A5}"/>
              </a:ext>
            </a:extLst>
          </p:cNvPr>
          <p:cNvSpPr>
            <a:spLocks noGrp="1"/>
          </p:cNvSpPr>
          <p:nvPr/>
        </p:nvSpPr>
        <p:spPr>
          <a:xfrm>
            <a:off x="5191125" y="2990850"/>
            <a:ext cx="25241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C46189E-5AB2-41AD-B3BE-FEB4C15809D7}"/>
              </a:ext>
            </a:extLst>
          </p:cNvPr>
          <p:cNvSpPr>
            <a:spLocks noGrp="1"/>
          </p:cNvSpPr>
          <p:nvPr/>
        </p:nvSpPr>
        <p:spPr>
          <a:xfrm>
            <a:off x="5286375" y="310515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settle at 15–30 mm?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FF71A58-9DC8-430E-9A0B-DDEAEE6EBD59}"/>
              </a:ext>
            </a:extLst>
          </p:cNvPr>
          <p:cNvSpPr>
            <a:spLocks noGrp="1"/>
          </p:cNvSpPr>
          <p:nvPr/>
        </p:nvSpPr>
        <p:spPr>
          <a:xfrm>
            <a:off x="7715250" y="29908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7B28AF4-B3CB-490C-B67E-A6655ECBFF0C}"/>
              </a:ext>
            </a:extLst>
          </p:cNvPr>
          <p:cNvSpPr>
            <a:spLocks noGrp="1"/>
          </p:cNvSpPr>
          <p:nvPr/>
        </p:nvSpPr>
        <p:spPr>
          <a:xfrm>
            <a:off x="7810500" y="31051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9024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improved, spin did not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F9C1EB1-5403-47F5-BD53-31EF5C503C5F}"/>
              </a:ext>
            </a:extLst>
          </p:cNvPr>
          <p:cNvSpPr>
            <a:spLocks noGrp="1"/>
          </p:cNvSpPr>
          <p:nvPr/>
        </p:nvSpPr>
        <p:spPr>
          <a:xfrm>
            <a:off x="9906000" y="2990850"/>
            <a:ext cx="16192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0FBD9FE-406A-4C59-90B5-9AE9166B7593}"/>
              </a:ext>
            </a:extLst>
          </p:cNvPr>
          <p:cNvSpPr>
            <a:spLocks noGrp="1"/>
          </p:cNvSpPr>
          <p:nvPr/>
        </p:nvSpPr>
        <p:spPr>
          <a:xfrm>
            <a:off x="10001250" y="31051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A/B diagnosis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C28D9D9-4FB5-458C-8B2D-34C9F47BA50E}"/>
              </a:ext>
            </a:extLst>
          </p:cNvPr>
          <p:cNvSpPr>
            <a:spLocks noGrp="1"/>
          </p:cNvSpPr>
          <p:nvPr/>
        </p:nvSpPr>
        <p:spPr>
          <a:xfrm>
            <a:off x="514350" y="35433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9862C8B-5C0C-482C-BA2A-B1689C8E7A9C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 Gaiting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5984E74-B004-4D69-91E5-DF0E4F1456C4}"/>
              </a:ext>
            </a:extLst>
          </p:cNvPr>
          <p:cNvSpPr>
            <a:spLocks noGrp="1"/>
          </p:cNvSpPr>
          <p:nvPr/>
        </p:nvSpPr>
        <p:spPr>
          <a:xfrm>
            <a:off x="2705100" y="3543300"/>
            <a:ext cx="24860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348BC07-EAED-40CB-914B-3B51A4E95B65}"/>
              </a:ext>
            </a:extLst>
          </p:cNvPr>
          <p:cNvSpPr>
            <a:spLocks noGrp="1"/>
          </p:cNvSpPr>
          <p:nvPr/>
        </p:nvSpPr>
        <p:spPr>
          <a:xfrm>
            <a:off x="2800350" y="365760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07-22_15-47-22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2C4B1-208F-438A-BB2D-B1902CFC16F8}"/>
              </a:ext>
            </a:extLst>
          </p:cNvPr>
          <p:cNvSpPr>
            <a:spLocks noGrp="1"/>
          </p:cNvSpPr>
          <p:nvPr/>
        </p:nvSpPr>
        <p:spPr>
          <a:xfrm>
            <a:off x="5191125" y="3543300"/>
            <a:ext cx="25241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7A50E09-89C8-4A12-AA49-31A7DA684B3E}"/>
              </a:ext>
            </a:extLst>
          </p:cNvPr>
          <p:cNvSpPr>
            <a:spLocks noGrp="1"/>
          </p:cNvSpPr>
          <p:nvPr/>
        </p:nvSpPr>
        <p:spPr>
          <a:xfrm>
            <a:off x="5286375" y="365760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Is contact switching missing?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E463F17-682B-465D-B098-CBAAA80525B0}"/>
              </a:ext>
            </a:extLst>
          </p:cNvPr>
          <p:cNvSpPr>
            <a:spLocks noGrp="1"/>
          </p:cNvSpPr>
          <p:nvPr/>
        </p:nvSpPr>
        <p:spPr>
          <a:xfrm>
            <a:off x="7715250" y="35433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A9D3A9C-0444-404D-9167-00DFE32C81DF}"/>
              </a:ext>
            </a:extLst>
          </p:cNvPr>
          <p:cNvSpPr>
            <a:spLocks noGrp="1"/>
          </p:cNvSpPr>
          <p:nvPr/>
        </p:nvSpPr>
        <p:spPr>
          <a:xfrm>
            <a:off x="7810500" y="36576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947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speed is the first bottleneck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E8E6CE1-F283-4E66-A213-C36DCE068789}"/>
              </a:ext>
            </a:extLst>
          </p:cNvPr>
          <p:cNvSpPr>
            <a:spLocks noGrp="1"/>
          </p:cNvSpPr>
          <p:nvPr/>
        </p:nvSpPr>
        <p:spPr>
          <a:xfrm>
            <a:off x="9906000" y="35433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A21FA21-DAF9-4CF1-8C89-F17DED55BD52}"/>
              </a:ext>
            </a:extLst>
          </p:cNvPr>
          <p:cNvSpPr>
            <a:spLocks noGrp="1"/>
          </p:cNvSpPr>
          <p:nvPr/>
        </p:nvSpPr>
        <p:spPr>
          <a:xfrm>
            <a:off x="10001250" y="36576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gate metrics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7ED5165-00ED-48AB-B184-73C0FB58281E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2D5022A-3AB4-4609-B0A0-815929CCCF66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BEC53B6-5018-4828-835A-051DEAC2204D}"/>
              </a:ext>
            </a:extLst>
          </p:cNvPr>
          <p:cNvSpPr>
            <a:spLocks noGrp="1"/>
          </p:cNvSpPr>
          <p:nvPr/>
        </p:nvSpPr>
        <p:spPr>
          <a:xfrm>
            <a:off x="2705100" y="4095750"/>
            <a:ext cx="24860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33DB71E-0543-477E-BA0A-6FACCE09E965}"/>
              </a:ext>
            </a:extLst>
          </p:cNvPr>
          <p:cNvSpPr>
            <a:spLocks noGrp="1"/>
          </p:cNvSpPr>
          <p:nvPr/>
        </p:nvSpPr>
        <p:spPr>
          <a:xfrm>
            <a:off x="2800350" y="421005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07-22_21-27-39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D3CB350-AA59-4938-83B7-7014C8D6D7E2}"/>
              </a:ext>
            </a:extLst>
          </p:cNvPr>
          <p:cNvSpPr>
            <a:spLocks noGrp="1"/>
          </p:cNvSpPr>
          <p:nvPr/>
        </p:nvSpPr>
        <p:spPr>
          <a:xfrm>
            <a:off x="5191125" y="4095750"/>
            <a:ext cx="25241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335312C-1496-4A4D-8979-A514C6AD1E02}"/>
              </a:ext>
            </a:extLst>
          </p:cNvPr>
          <p:cNvSpPr>
            <a:spLocks noGrp="1"/>
          </p:cNvSpPr>
          <p:nvPr/>
        </p:nvSpPr>
        <p:spPr>
          <a:xfrm>
            <a:off x="5286375" y="421005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808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forward spin be acquired?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04809CE-EBED-4628-A6D3-3A5D39F2BC20}"/>
              </a:ext>
            </a:extLst>
          </p:cNvPr>
          <p:cNvSpPr>
            <a:spLocks noGrp="1"/>
          </p:cNvSpPr>
          <p:nvPr/>
        </p:nvSpPr>
        <p:spPr>
          <a:xfrm>
            <a:off x="7715250" y="40957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9833383-E528-479A-98D3-ED8163652B94}"/>
              </a:ext>
            </a:extLst>
          </p:cNvPr>
          <p:cNvSpPr>
            <a:spLocks noGrp="1"/>
          </p:cNvSpPr>
          <p:nvPr/>
        </p:nvSpPr>
        <p:spPr>
          <a:xfrm>
            <a:off x="7810500" y="42100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366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Acquisition is possible but brief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9ACE419-6BF4-4F8E-90A5-02F1857101CD}"/>
              </a:ext>
            </a:extLst>
          </p:cNvPr>
          <p:cNvSpPr>
            <a:spLocks noGrp="1"/>
          </p:cNvSpPr>
          <p:nvPr/>
        </p:nvSpPr>
        <p:spPr>
          <a:xfrm>
            <a:off x="9906000" y="4095750"/>
            <a:ext cx="16192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6975239-1CB8-435B-BBFA-CC4467656260}"/>
              </a:ext>
            </a:extLst>
          </p:cNvPr>
          <p:cNvSpPr>
            <a:spLocks noGrp="1"/>
          </p:cNvSpPr>
          <p:nvPr/>
        </p:nvSpPr>
        <p:spPr>
          <a:xfrm>
            <a:off x="10001250" y="42100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duration metrics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E634C81-6FF1-449A-A939-64B9A4A17965}"/>
              </a:ext>
            </a:extLst>
          </p:cNvPr>
          <p:cNvSpPr>
            <a:spLocks noGrp="1"/>
          </p:cNvSpPr>
          <p:nvPr/>
        </p:nvSpPr>
        <p:spPr>
          <a:xfrm>
            <a:off x="514350" y="46482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158B5AF-9BD6-4145-8D0C-F382F93E2EA9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V3-A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6E3C4456-E9C8-4ADE-A33F-E7FA4A5B34CD}"/>
              </a:ext>
            </a:extLst>
          </p:cNvPr>
          <p:cNvSpPr>
            <a:spLocks noGrp="1"/>
          </p:cNvSpPr>
          <p:nvPr/>
        </p:nvSpPr>
        <p:spPr>
          <a:xfrm>
            <a:off x="2705100" y="4648200"/>
            <a:ext cx="24860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682184D-F706-4089-84CB-B85BB7B011F1}"/>
              </a:ext>
            </a:extLst>
          </p:cNvPr>
          <p:cNvSpPr>
            <a:spLocks noGrp="1"/>
          </p:cNvSpPr>
          <p:nvPr/>
        </p:nvSpPr>
        <p:spPr>
          <a:xfrm>
            <a:off x="2800350" y="476250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07-27_00-36-25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71DCE61-AC31-435A-BC4F-066BC4251C48}"/>
              </a:ext>
            </a:extLst>
          </p:cNvPr>
          <p:cNvSpPr>
            <a:spLocks noGrp="1"/>
          </p:cNvSpPr>
          <p:nvPr/>
        </p:nvSpPr>
        <p:spPr>
          <a:xfrm>
            <a:off x="5191125" y="4648200"/>
            <a:ext cx="252412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664D472-E0B2-41ED-B417-A0868BA96A5B}"/>
              </a:ext>
            </a:extLst>
          </p:cNvPr>
          <p:cNvSpPr>
            <a:spLocks noGrp="1"/>
          </p:cNvSpPr>
          <p:nvPr/>
        </p:nvSpPr>
        <p:spPr>
          <a:xfrm>
            <a:off x="5286375" y="476250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reward be simplified?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29F8F42-357C-4507-937E-F5245E42F7EE}"/>
              </a:ext>
            </a:extLst>
          </p:cNvPr>
          <p:cNvSpPr>
            <a:spLocks noGrp="1"/>
          </p:cNvSpPr>
          <p:nvPr/>
        </p:nvSpPr>
        <p:spPr>
          <a:xfrm>
            <a:off x="7715250" y="4648200"/>
            <a:ext cx="2190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E97EE2C-69B9-4458-89B6-7F1D5BA6F8C7}"/>
              </a:ext>
            </a:extLst>
          </p:cNvPr>
          <p:cNvSpPr>
            <a:spLocks noGrp="1"/>
          </p:cNvSpPr>
          <p:nvPr/>
        </p:nvSpPr>
        <p:spPr>
          <a:xfrm>
            <a:off x="7810500" y="47625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692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task signals retained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DBD96A0-8026-4400-8B61-F13D9F4F747D}"/>
              </a:ext>
            </a:extLst>
          </p:cNvPr>
          <p:cNvSpPr>
            <a:spLocks noGrp="1"/>
          </p:cNvSpPr>
          <p:nvPr/>
        </p:nvSpPr>
        <p:spPr>
          <a:xfrm>
            <a:off x="9906000" y="46482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7E8F8EAC-A51A-4863-BD8E-99A012A43423}"/>
              </a:ext>
            </a:extLst>
          </p:cNvPr>
          <p:cNvSpPr>
            <a:spLocks noGrp="1"/>
          </p:cNvSpPr>
          <p:nvPr/>
        </p:nvSpPr>
        <p:spPr>
          <a:xfrm>
            <a:off x="10001250" y="47625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reward ablation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34D88B5-AF69-452C-8F9D-E9C9F1A5F9D3}"/>
              </a:ext>
            </a:extLst>
          </p:cNvPr>
          <p:cNvSpPr>
            <a:spLocks noGrp="1"/>
          </p:cNvSpPr>
          <p:nvPr/>
        </p:nvSpPr>
        <p:spPr>
          <a:xfrm>
            <a:off x="514350" y="52006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13D182F-8FC7-451E-B6F9-0D436B69ADBC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Gaiting V2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A5CB585-64C7-4D0B-BE63-EFC817E09D42}"/>
              </a:ext>
            </a:extLst>
          </p:cNvPr>
          <p:cNvSpPr>
            <a:spLocks noGrp="1"/>
          </p:cNvSpPr>
          <p:nvPr/>
        </p:nvSpPr>
        <p:spPr>
          <a:xfrm>
            <a:off x="2705100" y="5200650"/>
            <a:ext cx="24860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F0C7BF4-8354-4C9A-B132-FBCE0FB5F3D8}"/>
              </a:ext>
            </a:extLst>
          </p:cNvPr>
          <p:cNvSpPr>
            <a:spLocks noGrp="1"/>
          </p:cNvSpPr>
          <p:nvPr/>
        </p:nvSpPr>
        <p:spPr>
          <a:xfrm>
            <a:off x="2800350" y="5314950"/>
            <a:ext cx="22955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07-27_12-26-57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6BF2127-D0F3-4425-809E-EBA0D0451546}"/>
              </a:ext>
            </a:extLst>
          </p:cNvPr>
          <p:cNvSpPr>
            <a:spLocks noGrp="1"/>
          </p:cNvSpPr>
          <p:nvPr/>
        </p:nvSpPr>
        <p:spPr>
          <a:xfrm>
            <a:off x="5191125" y="5200650"/>
            <a:ext cx="2524125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E0B4F6E-9872-4B68-86B1-82CD45135FD5}"/>
              </a:ext>
            </a:extLst>
          </p:cNvPr>
          <p:cNvSpPr>
            <a:spLocks noGrp="1"/>
          </p:cNvSpPr>
          <p:nvPr/>
        </p:nvSpPr>
        <p:spPr>
          <a:xfrm>
            <a:off x="5286375" y="531495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324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constrained handoff return?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B947B9F-B7D4-4113-BEA2-FFE3EB652B31}"/>
              </a:ext>
            </a:extLst>
          </p:cNvPr>
          <p:cNvSpPr>
            <a:spLocks noGrp="1"/>
          </p:cNvSpPr>
          <p:nvPr/>
        </p:nvSpPr>
        <p:spPr>
          <a:xfrm>
            <a:off x="7715250" y="5200650"/>
            <a:ext cx="21907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24E20C1-7072-4A3A-A109-50F00CD73FCC}"/>
              </a:ext>
            </a:extLst>
          </p:cNvPr>
          <p:cNvSpPr>
            <a:spLocks noGrp="1"/>
          </p:cNvSpPr>
          <p:nvPr/>
        </p:nvSpPr>
        <p:spPr>
          <a:xfrm>
            <a:off x="7810500" y="53149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947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works; rotation remains absent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C97DA1D-98FF-4D35-9504-532A4B21BF48}"/>
              </a:ext>
            </a:extLst>
          </p:cNvPr>
          <p:cNvSpPr>
            <a:spLocks noGrp="1"/>
          </p:cNvSpPr>
          <p:nvPr/>
        </p:nvSpPr>
        <p:spPr>
          <a:xfrm>
            <a:off x="9906000" y="5200650"/>
            <a:ext cx="1619250" cy="55245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6E5C88C-0BA7-410C-A396-36C02E48341C}"/>
              </a:ext>
            </a:extLst>
          </p:cNvPr>
          <p:cNvSpPr>
            <a:spLocks noGrp="1"/>
          </p:cNvSpPr>
          <p:nvPr/>
        </p:nvSpPr>
        <p:spPr>
          <a:xfrm>
            <a:off x="10001250" y="531495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metrics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659EA69-65ED-44D2-88BA-980D6475AA26}"/>
              </a:ext>
            </a:extLst>
          </p:cNvPr>
          <p:cNvSpPr>
            <a:spLocks noGrp="1"/>
          </p:cNvSpPr>
          <p:nvPr/>
        </p:nvSpPr>
        <p:spPr>
          <a:xfrm>
            <a:off x="514350" y="5953125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Historical checkpoints must be interpreted with their saved run_config.json, not the current parent YAML.</a:t>
            </a:r>
          </a:p>
        </p:txBody>
      </p:sp>
    </p:spTree>
    <p:extLst>
      <p:ext uri="{BB962C8B-B14F-4D97-AF65-F5344CB8AC3E}">
        <p14:creationId xmlns:p14="http://schemas.microsoft.com/office/powerpoint/2010/main" val="1179378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903B71D-9154-47DE-8683-94A724F211DE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D758F1-6879-44BE-BB2C-862837AC73F2}"/>
              </a:ext>
            </a:extLst>
          </p:cNvPr>
          <p:cNvSpPr>
            <a:spLocks noGrp="1"/>
          </p:cNvSpPr>
          <p:nvPr/>
        </p:nvSpPr>
        <p:spPr>
          <a:xfrm>
            <a:off x="514350" y="552450"/>
            <a:ext cx="1081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Prove Sustained Rotation Before Reintroducing Handoff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9A5CFD-1F9D-4C82-BF0A-AE8553350AA3}"/>
              </a:ext>
            </a:extLst>
          </p:cNvPr>
          <p:cNvSpPr>
            <a:spLocks noGrp="1"/>
          </p:cNvSpPr>
          <p:nvPr/>
        </p:nvSpPr>
        <p:spPr>
          <a:xfrm>
            <a:off x="9753600" y="6324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6AA6C9-9B4A-496F-9A14-8FD49CEFF68A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Three defensible conclusions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8817CC-FA28-4B24-874B-0662299CA2FD}"/>
              </a:ext>
            </a:extLst>
          </p:cNvPr>
          <p:cNvSpPr>
            <a:spLocks noGrp="1"/>
          </p:cNvSpPr>
          <p:nvPr/>
        </p:nvSpPr>
        <p:spPr>
          <a:xfrm>
            <a:off x="514350" y="1981200"/>
            <a:ext cx="5334000" cy="2619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  A ball-specific reset cache and physically valid collision model are prerequisites.</a:t>
            </a:r>
          </a:p>
          <a:p>
            <a:endParaRPr sz="15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  Better retention does not imply sustained rotation; signed axis speed and net angle must be measured.</a:t>
            </a:r>
          </a:p>
          <a:p>
            <a:endParaRPr sz="1500" b="0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 Handoff is eventually necessary, but forcing it before rotation acquisition increases exploration sparsity.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949D2575-E6F4-470B-BF20-DDF101AF6961}"/>
              </a:ext>
            </a:extLst>
          </p:cNvPr>
          <p:cNvSpPr>
            <a:spLocks noGrp="1"/>
          </p:cNvSpPr>
          <p:nvPr/>
        </p:nvSpPr>
        <p:spPr>
          <a:xfrm>
            <a:off x="6572250" y="1381125"/>
            <a:ext cx="4333875" cy="3619500"/>
          </a:xfrm>
          <a:prstGeom prst="roundRect">
            <a:avLst>
              <a:gd name="adj" fmla="val 2105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84D570-ECF6-44E5-BAD0-63F7A4BA3593}"/>
              </a:ext>
            </a:extLst>
          </p:cNvPr>
          <p:cNvSpPr>
            <a:spLocks noGrp="1"/>
          </p:cNvSpPr>
          <p:nvPr/>
        </p:nvSpPr>
        <p:spPr>
          <a:xfrm>
            <a:off x="6858000" y="16764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Validation order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DD788F-6F03-4D02-B990-3ED702BEF95D}"/>
              </a:ext>
            </a:extLst>
          </p:cNvPr>
          <p:cNvSpPr>
            <a:spLocks noGrp="1"/>
          </p:cNvSpPr>
          <p:nvPr/>
        </p:nvSpPr>
        <p:spPr>
          <a:xfrm>
            <a:off x="6858000" y="2324100"/>
            <a:ext cx="3524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29"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01  Reward ablation with fixed cache and seed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02  Report axis-speed duration and net turns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03  Use the viewer to reject palm support or penetration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04  Add handoff only after acquisition is stable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05  Compare success rate across at least three seeds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06  Add domain randomization last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C92EF9-28E0-472A-A26F-334CE0D63211}"/>
              </a:ext>
            </a:extLst>
          </p:cNvPr>
          <p:cNvSpPr>
            <a:spLocks noGrp="1"/>
          </p:cNvSpPr>
          <p:nvPr/>
        </p:nvSpPr>
        <p:spPr>
          <a:xfrm>
            <a:off x="514350" y="4953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Success criteria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2E2F5C-F3AA-454F-B836-140EB6CDCA98}"/>
              </a:ext>
            </a:extLst>
          </p:cNvPr>
          <p:cNvSpPr>
            <a:spLocks noGrp="1"/>
          </p:cNvSpPr>
          <p:nvPr/>
        </p:nvSpPr>
        <p:spPr>
          <a:xfrm>
            <a:off x="514350" y="5391150"/>
            <a:ext cx="1038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positive rotation · multiple net turns · low orthogonal speed · no drop · qualified handoff · cross-seed stability</a:t>
            </a:r>
          </a:p>
        </p:txBody>
      </p:sp>
    </p:spTree>
    <p:extLst>
      <p:ext uri="{BB962C8B-B14F-4D97-AF65-F5344CB8AC3E}">
        <p14:creationId xmlns:p14="http://schemas.microsoft.com/office/powerpoint/2010/main" val="13003533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3165</Words>
  <Application>Microsoft Office PowerPoint</Application>
  <DocSecurity>0</DocSecurity>
  <PresentationFormat>寬螢幕</PresentationFormat>
  <Paragraphs>468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9" baseType="lpstr">
      <vt:lpstr>Aptos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沅霆 林</cp:lastModifiedBy>
  <cp:revision>5</cp:revision>
  <dcterms:created xsi:type="dcterms:W3CDTF">2026-07-29T01:11:33Z</dcterms:created>
  <dcterms:modified xsi:type="dcterms:W3CDTF">2026-07-29T01:40:23Z</dcterms:modified>
</cp:coreProperties>
</file>